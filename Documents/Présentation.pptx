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30"/>
  </p:notesMasterIdLst>
  <p:sldIdLst>
    <p:sldId id="256" r:id="rId2"/>
    <p:sldId id="284" r:id="rId3"/>
    <p:sldId id="285" r:id="rId4"/>
    <p:sldId id="286" r:id="rId5"/>
    <p:sldId id="287" r:id="rId6"/>
    <p:sldId id="289" r:id="rId7"/>
    <p:sldId id="290" r:id="rId8"/>
    <p:sldId id="291" r:id="rId9"/>
    <p:sldId id="295" r:id="rId10"/>
    <p:sldId id="292" r:id="rId11"/>
    <p:sldId id="294" r:id="rId12"/>
    <p:sldId id="296" r:id="rId13"/>
    <p:sldId id="299" r:id="rId14"/>
    <p:sldId id="301" r:id="rId15"/>
    <p:sldId id="302" r:id="rId16"/>
    <p:sldId id="304" r:id="rId17"/>
    <p:sldId id="305" r:id="rId18"/>
    <p:sldId id="306" r:id="rId19"/>
    <p:sldId id="307" r:id="rId20"/>
    <p:sldId id="308" r:id="rId21"/>
    <p:sldId id="309" r:id="rId22"/>
    <p:sldId id="310" r:id="rId23"/>
    <p:sldId id="312" r:id="rId24"/>
    <p:sldId id="313" r:id="rId25"/>
    <p:sldId id="314" r:id="rId26"/>
    <p:sldId id="315" r:id="rId27"/>
    <p:sldId id="317" r:id="rId28"/>
    <p:sldId id="318" r:id="rId29"/>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E0000"/>
    <a:srgbClr val="00A249"/>
    <a:srgbClr val="003CB4"/>
    <a:srgbClr val="000000"/>
    <a:srgbClr val="1AFA35"/>
    <a:srgbClr val="4EF8AB"/>
    <a:srgbClr val="00FA41"/>
    <a:srgbClr val="F95207"/>
    <a:srgbClr val="830C03"/>
    <a:srgbClr val="DF45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61" autoAdjust="0"/>
    <p:restoredTop sz="27807" autoAdjust="0"/>
  </p:normalViewPr>
  <p:slideViewPr>
    <p:cSldViewPr snapToGrid="0">
      <p:cViewPr varScale="1">
        <p:scale>
          <a:sx n="54" d="100"/>
          <a:sy n="54" d="100"/>
        </p:scale>
        <p:origin x="1122" y="60"/>
      </p:cViewPr>
      <p:guideLst/>
    </p:cSldViewPr>
  </p:slideViewPr>
  <p:notesTextViewPr>
    <p:cViewPr>
      <p:scale>
        <a:sx n="202" d="100"/>
        <a:sy n="202" d="100"/>
      </p:scale>
      <p:origin x="0" y="-234"/>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NC"/>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CAEA62-AE83-473F-9B7C-687921E6C7A1}" type="datetimeFigureOut">
              <a:rPr lang="fr-NC" smtClean="0"/>
              <a:t>08/10/2025</a:t>
            </a:fld>
            <a:endParaRPr lang="fr-NC"/>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NC"/>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NC"/>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NC"/>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8B353-5F71-4331-931F-E40C380B9D7F}" type="slidenum">
              <a:rPr lang="fr-NC" smtClean="0"/>
              <a:t>‹N°›</a:t>
            </a:fld>
            <a:endParaRPr lang="fr-NC"/>
          </a:p>
        </p:txBody>
      </p:sp>
    </p:spTree>
    <p:extLst>
      <p:ext uri="{BB962C8B-B14F-4D97-AF65-F5344CB8AC3E}">
        <p14:creationId xmlns:p14="http://schemas.microsoft.com/office/powerpoint/2010/main" val="2778408916"/>
      </p:ext>
    </p:extLst>
  </p:cSld>
  <p:clrMap bg1="lt1" tx1="dk1" bg2="lt2" tx2="dk2" accent1="accent1" accent2="accent2" accent3="accent3" accent4="accent4" accent5="accent5" accent6="accent6" hlink="hlink" folHlink="folHlink"/>
  <p:notesStyle>
    <a:lvl1pPr marL="0" algn="l" defTabSz="1075334" rtl="0" eaLnBrk="1" latinLnBrk="0" hangingPunct="1">
      <a:defRPr sz="1411" kern="1200">
        <a:solidFill>
          <a:schemeClr val="tx1"/>
        </a:solidFill>
        <a:latin typeface="+mn-lt"/>
        <a:ea typeface="+mn-ea"/>
        <a:cs typeface="+mn-cs"/>
      </a:defRPr>
    </a:lvl1pPr>
    <a:lvl2pPr marL="537667" algn="l" defTabSz="1075334" rtl="0" eaLnBrk="1" latinLnBrk="0" hangingPunct="1">
      <a:defRPr sz="1411" kern="1200">
        <a:solidFill>
          <a:schemeClr val="tx1"/>
        </a:solidFill>
        <a:latin typeface="+mn-lt"/>
        <a:ea typeface="+mn-ea"/>
        <a:cs typeface="+mn-cs"/>
      </a:defRPr>
    </a:lvl2pPr>
    <a:lvl3pPr marL="1075334" algn="l" defTabSz="1075334" rtl="0" eaLnBrk="1" latinLnBrk="0" hangingPunct="1">
      <a:defRPr sz="1411" kern="1200">
        <a:solidFill>
          <a:schemeClr val="tx1"/>
        </a:solidFill>
        <a:latin typeface="+mn-lt"/>
        <a:ea typeface="+mn-ea"/>
        <a:cs typeface="+mn-cs"/>
      </a:defRPr>
    </a:lvl3pPr>
    <a:lvl4pPr marL="1613002" algn="l" defTabSz="1075334" rtl="0" eaLnBrk="1" latinLnBrk="0" hangingPunct="1">
      <a:defRPr sz="1411" kern="1200">
        <a:solidFill>
          <a:schemeClr val="tx1"/>
        </a:solidFill>
        <a:latin typeface="+mn-lt"/>
        <a:ea typeface="+mn-ea"/>
        <a:cs typeface="+mn-cs"/>
      </a:defRPr>
    </a:lvl4pPr>
    <a:lvl5pPr marL="2150669" algn="l" defTabSz="1075334" rtl="0" eaLnBrk="1" latinLnBrk="0" hangingPunct="1">
      <a:defRPr sz="1411" kern="1200">
        <a:solidFill>
          <a:schemeClr val="tx1"/>
        </a:solidFill>
        <a:latin typeface="+mn-lt"/>
        <a:ea typeface="+mn-ea"/>
        <a:cs typeface="+mn-cs"/>
      </a:defRPr>
    </a:lvl5pPr>
    <a:lvl6pPr marL="2688336" algn="l" defTabSz="1075334" rtl="0" eaLnBrk="1" latinLnBrk="0" hangingPunct="1">
      <a:defRPr sz="1411" kern="1200">
        <a:solidFill>
          <a:schemeClr val="tx1"/>
        </a:solidFill>
        <a:latin typeface="+mn-lt"/>
        <a:ea typeface="+mn-ea"/>
        <a:cs typeface="+mn-cs"/>
      </a:defRPr>
    </a:lvl6pPr>
    <a:lvl7pPr marL="3226003" algn="l" defTabSz="1075334" rtl="0" eaLnBrk="1" latinLnBrk="0" hangingPunct="1">
      <a:defRPr sz="1411" kern="1200">
        <a:solidFill>
          <a:schemeClr val="tx1"/>
        </a:solidFill>
        <a:latin typeface="+mn-lt"/>
        <a:ea typeface="+mn-ea"/>
        <a:cs typeface="+mn-cs"/>
      </a:defRPr>
    </a:lvl7pPr>
    <a:lvl8pPr marL="3763670" algn="l" defTabSz="1075334" rtl="0" eaLnBrk="1" latinLnBrk="0" hangingPunct="1">
      <a:defRPr sz="1411" kern="1200">
        <a:solidFill>
          <a:schemeClr val="tx1"/>
        </a:solidFill>
        <a:latin typeface="+mn-lt"/>
        <a:ea typeface="+mn-ea"/>
        <a:cs typeface="+mn-cs"/>
      </a:defRPr>
    </a:lvl8pPr>
    <a:lvl9pPr marL="4301338" algn="l" defTabSz="1075334" rtl="0" eaLnBrk="1" latinLnBrk="0" hangingPunct="1">
      <a:defRPr sz="14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sz="2000"/>
              <a:t>Bonjour à tous, je m’appelle </a:t>
            </a:r>
            <a:r>
              <a:rPr lang="fr-FR" sz="2000" b="1"/>
              <a:t>Laurent Agourou</a:t>
            </a:r>
            <a:r>
              <a:rPr lang="fr-FR" sz="2000" b="0"/>
              <a:t>, je suis </a:t>
            </a:r>
            <a:r>
              <a:rPr lang="fr-FR" sz="2000" b="1"/>
              <a:t>développeur débutant </a:t>
            </a:r>
            <a:r>
              <a:rPr lang="fr-FR" sz="2000" b="0"/>
              <a:t>en formation au sein du </a:t>
            </a:r>
            <a:r>
              <a:rPr lang="fr-FR" sz="2000" b="1"/>
              <a:t>GRETA </a:t>
            </a:r>
            <a:r>
              <a:rPr lang="fr-FR" sz="2000" b="0"/>
              <a:t>afin de concevoir et développer des applications. </a:t>
            </a:r>
          </a:p>
          <a:p>
            <a:r>
              <a:rPr lang="fr-FR" sz="2000" b="0"/>
              <a:t>Aujourd’hui </a:t>
            </a:r>
            <a:r>
              <a:rPr lang="fr-FR" sz="1600" b="0">
                <a:solidFill>
                  <a:schemeClr val="tx1"/>
                </a:solidFill>
              </a:rPr>
              <a:t>je vais vous présentez mon projet perso, qui est une </a:t>
            </a:r>
            <a:r>
              <a:rPr lang="fr-FR" sz="1600" b="1">
                <a:solidFill>
                  <a:schemeClr val="tx1"/>
                </a:solidFill>
              </a:rPr>
              <a:t>application Web </a:t>
            </a:r>
            <a:r>
              <a:rPr lang="fr-FR" sz="1600" b="0">
                <a:solidFill>
                  <a:schemeClr val="tx1"/>
                </a:solidFill>
              </a:rPr>
              <a:t>appelée </a:t>
            </a:r>
            <a:endParaRPr lang="fr-FR" sz="1600" b="0"/>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a:t>
            </a:fld>
            <a:endParaRPr lang="fr-NC"/>
          </a:p>
        </p:txBody>
      </p:sp>
    </p:spTree>
    <p:extLst>
      <p:ext uri="{BB962C8B-B14F-4D97-AF65-F5344CB8AC3E}">
        <p14:creationId xmlns:p14="http://schemas.microsoft.com/office/powerpoint/2010/main" val="106699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sz="1600" b="1">
                <a:solidFill>
                  <a:schemeClr val="tx1"/>
                </a:solidFill>
              </a:rPr>
              <a:t>StockMeat Solutions </a:t>
            </a:r>
            <a:r>
              <a:rPr lang="fr-FR" sz="2000"/>
              <a:t>pensée pour la gestion de stock dans le secteur du découpage de viande et inspirée directement de mon expérience professionnelle</a:t>
            </a:r>
            <a:endParaRPr lang="fr-FR" sz="1600" b="1">
              <a:solidFill>
                <a:schemeClr val="tx1"/>
              </a:solidFill>
            </a:endParaRP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a:t>
            </a:fld>
            <a:endParaRPr lang="fr-NC"/>
          </a:p>
        </p:txBody>
      </p:sp>
    </p:spTree>
    <p:extLst>
      <p:ext uri="{BB962C8B-B14F-4D97-AF65-F5344CB8AC3E}">
        <p14:creationId xmlns:p14="http://schemas.microsoft.com/office/powerpoint/2010/main" val="53024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sz="2000" b="0"/>
              <a:t>L’an dernier, j’ai travaillé de nuit dans une entreprise de découpe de viande. Chaque fin de semaine, les employés pouvaient acheter des paquets de viande invendus en les notant sur une feuille et en payant en espèces avec le chef de service. Tout était fait à la main. Cette expérience m’a donné l’idée de créer </a:t>
            </a:r>
            <a:r>
              <a:rPr lang="fr-FR" sz="2000" b="1"/>
              <a:t>StockMeat Solutions </a:t>
            </a:r>
            <a:r>
              <a:rPr lang="fr-FR" sz="2000" b="0"/>
              <a:t>: une application qui automatise ce système, évite le gaspillage, et rend la gestion plus simple pour tout le monde.</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3</a:t>
            </a:fld>
            <a:endParaRPr lang="fr-NC"/>
          </a:p>
        </p:txBody>
      </p:sp>
    </p:spTree>
    <p:extLst>
      <p:ext uri="{BB962C8B-B14F-4D97-AF65-F5344CB8AC3E}">
        <p14:creationId xmlns:p14="http://schemas.microsoft.com/office/powerpoint/2010/main" val="2240633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a:t>L’application </a:t>
            </a:r>
            <a:r>
              <a:rPr lang="fr-FR" b="1"/>
              <a:t>StockMeat Solutions</a:t>
            </a:r>
            <a:r>
              <a:rPr lang="fr-FR"/>
              <a:t> a été conçue pour la gestion des viandes qu’ils soient transformés ou non, directement sur le lieu de travail</a:t>
            </a:r>
          </a:p>
          <a:p>
            <a:r>
              <a:rPr lang="fr-FR"/>
              <a:t>Les </a:t>
            </a:r>
            <a:r>
              <a:rPr lang="fr-FR" b="1"/>
              <a:t>trois objectifs principaux</a:t>
            </a:r>
            <a:r>
              <a:rPr lang="fr-FR"/>
              <a:t> sont les suivants :</a:t>
            </a:r>
          </a:p>
          <a:p>
            <a:r>
              <a:rPr lang="fr-FR" b="1"/>
              <a:t>Gestion claire des produits</a:t>
            </a:r>
          </a:p>
          <a:p>
            <a:r>
              <a:rPr lang="fr-FR"/>
              <a:t>L’application permet d’enregistrer les produits rapidement, de suivre les stocks, et de scanner les codes-barres avec un lecteur filaire.</a:t>
            </a:r>
          </a:p>
          <a:p>
            <a:r>
              <a:rPr lang="fr-FR" b="1"/>
              <a:t>Traçabilité par utilisateur</a:t>
            </a:r>
          </a:p>
          <a:p>
            <a:r>
              <a:rPr lang="fr-FR"/>
              <a:t>Chaque scan est associé à un utilisateur identifié, ce qui garantit un suivi précis des produits scannés et vendus.</a:t>
            </a:r>
          </a:p>
          <a:p>
            <a:r>
              <a:rPr lang="fr-FR" b="1"/>
              <a:t>Paiement sécurisé et facturation</a:t>
            </a:r>
          </a:p>
          <a:p>
            <a:r>
              <a:rPr lang="fr-FR"/>
              <a:t>Les accès sont protégés par authentification, et les paiements sont gérés avec génération et envoi automatique de factures en format PDF.</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4</a:t>
            </a:fld>
            <a:endParaRPr lang="fr-NC"/>
          </a:p>
        </p:txBody>
      </p:sp>
    </p:spTree>
    <p:extLst>
      <p:ext uri="{BB962C8B-B14F-4D97-AF65-F5344CB8AC3E}">
        <p14:creationId xmlns:p14="http://schemas.microsoft.com/office/powerpoint/2010/main" val="2830645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b="1"/>
              <a:t>Utilisateurs</a:t>
            </a:r>
            <a:r>
              <a:rPr lang="fr-FR"/>
              <a:t> : Les employés peuvent créer un compte, se connecter, modifier leur profil ou réinitialiser leur mot de passe en cas d’oubli.</a:t>
            </a:r>
          </a:p>
          <a:p>
            <a:endParaRPr lang="fr-FR"/>
          </a:p>
          <a:p>
            <a:r>
              <a:rPr lang="fr-FR" b="1"/>
              <a:t>Produits</a:t>
            </a:r>
            <a:r>
              <a:rPr lang="fr-FR"/>
              <a:t> : On peut ajouter de nouveaux produits, consulter le stock, modifier les informations ou supprimer un produit.</a:t>
            </a:r>
          </a:p>
          <a:p>
            <a:endParaRPr lang="fr-FR"/>
          </a:p>
          <a:p>
            <a:r>
              <a:rPr lang="fr-FR" b="1"/>
              <a:t>Scan</a:t>
            </a:r>
            <a:r>
              <a:rPr lang="fr-FR"/>
              <a:t> : Chaque produit peut être scanné avec un lecteur ou saisi manuellement, et ces scans sont enregistrés et liés à l’utilisateur.</a:t>
            </a:r>
          </a:p>
          <a:p>
            <a:endParaRPr lang="fr-FR"/>
          </a:p>
          <a:p>
            <a:r>
              <a:rPr lang="fr-FR" b="1"/>
              <a:t>Paiement</a:t>
            </a:r>
            <a:r>
              <a:rPr lang="fr-FR"/>
              <a:t> : Une fois les produits scannés, le paiement peut être enregistré, en espèces ou par carte, et une facture PDF est envoyée automatiquement à l’employé.</a:t>
            </a:r>
          </a:p>
          <a:p>
            <a:endParaRPr lang="fr-FR"/>
          </a:p>
          <a:p>
            <a:r>
              <a:rPr lang="fr-FR" b="1"/>
              <a:t>Interface web</a:t>
            </a:r>
            <a:r>
              <a:rPr lang="fr-FR"/>
              <a:t> : Toutes ces actions se font via des pages web simples et claires, accessibles depuis un navigateur.</a:t>
            </a:r>
          </a:p>
          <a:p>
            <a:endParaRPr lang="fr-FR"/>
          </a:p>
          <a:p>
            <a:r>
              <a:rPr lang="fr-FR" b="1"/>
              <a:t>Sécurité</a:t>
            </a:r>
            <a:r>
              <a:rPr lang="fr-FR"/>
              <a:t> : L’accès est protégé par un système d’authentification pour garantir la sécurité des données.</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5</a:t>
            </a:fld>
            <a:endParaRPr lang="fr-NC"/>
          </a:p>
        </p:txBody>
      </p:sp>
    </p:spTree>
    <p:extLst>
      <p:ext uri="{BB962C8B-B14F-4D97-AF65-F5344CB8AC3E}">
        <p14:creationId xmlns:p14="http://schemas.microsoft.com/office/powerpoint/2010/main" val="1370669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b="1"/>
              <a:t>Backend</a:t>
            </a:r>
            <a:r>
              <a:rPr lang="fr-FR"/>
              <a:t> : Java 17 avec Spring Boot pour la logique métier</a:t>
            </a:r>
          </a:p>
          <a:p>
            <a:endParaRPr lang="fr-FR"/>
          </a:p>
          <a:p>
            <a:r>
              <a:rPr lang="fr-FR" b="1"/>
              <a:t>Sécurité</a:t>
            </a:r>
            <a:r>
              <a:rPr lang="fr-FR"/>
              <a:t> : Spring Security pour l’authentification</a:t>
            </a:r>
          </a:p>
          <a:p>
            <a:endParaRPr lang="fr-FR"/>
          </a:p>
          <a:p>
            <a:r>
              <a:rPr lang="fr-FR" b="1"/>
              <a:t>Base de données</a:t>
            </a:r>
            <a:r>
              <a:rPr lang="fr-FR"/>
              <a:t> : MySQL pour stocker les produits, utilisateurs et paiements</a:t>
            </a:r>
          </a:p>
          <a:p>
            <a:endParaRPr lang="fr-FR"/>
          </a:p>
          <a:p>
            <a:r>
              <a:rPr lang="fr-FR" b="1"/>
              <a:t>Frontend</a:t>
            </a:r>
            <a:r>
              <a:rPr lang="fr-FR"/>
              <a:t> : Thymeleaf, HTML, CSS, et JavaScript pour les pages web</a:t>
            </a:r>
          </a:p>
          <a:p>
            <a:endParaRPr lang="fr-FR"/>
          </a:p>
          <a:p>
            <a:r>
              <a:rPr lang="fr-FR" b="1"/>
              <a:t>Tests</a:t>
            </a:r>
            <a:r>
              <a:rPr lang="fr-FR"/>
              <a:t> : JUnit, Mockito et MockMvc pour vérifier les fonctionnalités</a:t>
            </a:r>
          </a:p>
          <a:p>
            <a:endParaRPr lang="fr-FR"/>
          </a:p>
          <a:p>
            <a:r>
              <a:rPr lang="fr-FR" b="1"/>
              <a:t>Documentation</a:t>
            </a:r>
            <a:r>
              <a:rPr lang="fr-FR"/>
              <a:t> : JavaDoc et Github pour suivre le code et les tests</a:t>
            </a:r>
          </a:p>
          <a:p>
            <a:endParaRPr lang="fr-FR"/>
          </a:p>
          <a:p>
            <a:r>
              <a:rPr lang="fr-FR" b="1"/>
              <a:t>CI/CD</a:t>
            </a:r>
            <a:r>
              <a:rPr lang="fr-FR"/>
              <a:t> : GitHub Actions pour automatiser les mises à jour et les déploiements</a:t>
            </a:r>
          </a:p>
          <a:p>
            <a:endParaRPr lang="fr-FR"/>
          </a:p>
          <a:p>
            <a:r>
              <a:rPr lang="fr-FR" b="1"/>
              <a:t>Conteneurs</a:t>
            </a:r>
            <a:r>
              <a:rPr lang="fr-FR"/>
              <a:t> : Docker et Docker Compose pour faciliter l’installation</a:t>
            </a:r>
          </a:p>
          <a:p>
            <a:endParaRPr lang="fr-FR"/>
          </a:p>
          <a:p>
            <a:r>
              <a:rPr lang="fr-FR" b="1"/>
              <a:t>Déploiement</a:t>
            </a:r>
            <a:r>
              <a:rPr lang="fr-FR"/>
              <a:t> : sur un VPS sécurisé avec clé SSH et nom de domaine</a:t>
            </a:r>
          </a:p>
          <a:p>
            <a:endParaRPr lang="fr-FR"/>
          </a:p>
          <a:p>
            <a:r>
              <a:rPr lang="fr-FR" b="1"/>
              <a:t>Mails</a:t>
            </a:r>
            <a:r>
              <a:rPr lang="fr-FR"/>
              <a:t> : Brevo pour réinitialiser les mots de passe et envoyer les factures</a:t>
            </a:r>
          </a:p>
          <a:p>
            <a:endParaRPr lang="fr-FR"/>
          </a:p>
          <a:p>
            <a:r>
              <a:rPr lang="fr-FR" b="1"/>
              <a:t>PDF</a:t>
            </a:r>
            <a:r>
              <a:rPr lang="fr-FR"/>
              <a:t> : OpenPDF pour générer les factures</a:t>
            </a:r>
          </a:p>
          <a:p>
            <a:endParaRPr lang="fr-FR"/>
          </a:p>
          <a:p>
            <a:r>
              <a:rPr lang="fr-FR" b="1"/>
              <a:t>Scanner</a:t>
            </a:r>
            <a:r>
              <a:rPr lang="fr-FR"/>
              <a:t> : Datalogic Touch TD1100 pour lire les codes-barres</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6</a:t>
            </a:fld>
            <a:endParaRPr lang="fr-NC"/>
          </a:p>
        </p:txBody>
      </p:sp>
    </p:spTree>
    <p:extLst>
      <p:ext uri="{BB962C8B-B14F-4D97-AF65-F5344CB8AC3E}">
        <p14:creationId xmlns:p14="http://schemas.microsoft.com/office/powerpoint/2010/main" val="3144065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a:t>Pour suivre l’avancement du projet, j’ai utilisé un tableau </a:t>
            </a:r>
            <a:r>
              <a:rPr lang="fr-FR" b="1"/>
              <a:t>Kanban</a:t>
            </a:r>
            <a:r>
              <a:rPr lang="fr-FR"/>
              <a:t> créer avec site appelé </a:t>
            </a:r>
            <a:r>
              <a:rPr lang="fr-FR" b="1"/>
              <a:t>Notion</a:t>
            </a:r>
            <a:r>
              <a:rPr lang="fr-FR"/>
              <a:t>.</a:t>
            </a:r>
          </a:p>
          <a:p>
            <a:r>
              <a:rPr lang="fr-FR"/>
              <a:t>Chaque ligne représente une </a:t>
            </a:r>
            <a:r>
              <a:rPr lang="fr-FR" b="1"/>
              <a:t>tâche </a:t>
            </a:r>
            <a:r>
              <a:rPr lang="fr-FR"/>
              <a:t>précise, avec son statut, son rôle, sa description et un critère d’acceptation clair. </a:t>
            </a:r>
          </a:p>
          <a:p>
            <a:r>
              <a:rPr lang="fr-FR"/>
              <a:t>Les </a:t>
            </a:r>
            <a:r>
              <a:rPr lang="fr-FR" b="1"/>
              <a:t>rôles </a:t>
            </a:r>
            <a:r>
              <a:rPr lang="fr-FR"/>
              <a:t>sont répartis entre </a:t>
            </a:r>
            <a:r>
              <a:rPr lang="fr-FR" b="1"/>
              <a:t>utilisateur</a:t>
            </a:r>
            <a:r>
              <a:rPr lang="fr-FR"/>
              <a:t> et </a:t>
            </a:r>
            <a:r>
              <a:rPr lang="fr-FR" b="1"/>
              <a:t>développeur</a:t>
            </a:r>
            <a:r>
              <a:rPr lang="fr-FR"/>
              <a:t>, les priorités sont indiquées pour mieux cibler les tâches critiques, </a:t>
            </a:r>
          </a:p>
          <a:p>
            <a:r>
              <a:rPr lang="fr-FR"/>
              <a:t>et les besoins sont exprimés sous forme de </a:t>
            </a:r>
            <a:r>
              <a:rPr lang="fr-FR" b="1"/>
              <a:t>user stories</a:t>
            </a:r>
            <a:r>
              <a:rPr lang="fr-FR"/>
              <a:t>, comme "En tant qu’utilisateur, je souhaite…". </a:t>
            </a:r>
          </a:p>
          <a:p>
            <a:r>
              <a:rPr lang="fr-FR"/>
              <a:t>Après la gestion du projet on passe à la mise en place de la </a:t>
            </a:r>
            <a:r>
              <a:rPr lang="fr-FR" b="1"/>
              <a:t>BDD</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7</a:t>
            </a:fld>
            <a:endParaRPr lang="fr-NC"/>
          </a:p>
        </p:txBody>
      </p:sp>
    </p:spTree>
    <p:extLst>
      <p:ext uri="{BB962C8B-B14F-4D97-AF65-F5344CB8AC3E}">
        <p14:creationId xmlns:p14="http://schemas.microsoft.com/office/powerpoint/2010/main" val="1373294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b="0"/>
              <a:t>On définit d’abord les </a:t>
            </a:r>
            <a:r>
              <a:rPr lang="fr-FR" b="1"/>
              <a:t>Entités :</a:t>
            </a:r>
          </a:p>
          <a:p>
            <a:r>
              <a:rPr lang="fr-FR" b="1"/>
              <a:t>User</a:t>
            </a:r>
            <a:r>
              <a:rPr lang="fr-FR"/>
              <a:t> : représente un employé qui peut se connecter, scanner des produits et gérer ses paiements.</a:t>
            </a:r>
          </a:p>
          <a:p>
            <a:r>
              <a:rPr lang="fr-FR" b="1"/>
              <a:t>Product</a:t>
            </a:r>
            <a:r>
              <a:rPr lang="fr-FR"/>
              <a:t> : correspond à un article en stock, scanné ou vendu, avec toutes ses informations.</a:t>
            </a:r>
          </a:p>
          <a:p>
            <a:r>
              <a:rPr lang="fr-FR" b="1"/>
              <a:t>Scan</a:t>
            </a:r>
            <a:r>
              <a:rPr lang="fr-FR"/>
              <a:t> : désigne l’action de scanner un produit, en lien avec l’utilisateur et le paiement.</a:t>
            </a:r>
          </a:p>
          <a:p>
            <a:r>
              <a:rPr lang="fr-FR" b="1"/>
              <a:t>Payment</a:t>
            </a:r>
            <a:r>
              <a:rPr lang="fr-FR"/>
              <a:t> : représente une transaction liée à un ou plusieurs scans, validée par un employé.</a:t>
            </a:r>
          </a:p>
          <a:p>
            <a:r>
              <a:rPr lang="fr-FR"/>
              <a:t>Les entités sont reliées par des </a:t>
            </a:r>
            <a:r>
              <a:rPr lang="fr-FR" b="1"/>
              <a:t>relations</a:t>
            </a:r>
            <a:r>
              <a:rPr lang="fr-FR"/>
              <a:t> </a:t>
            </a:r>
            <a:r>
              <a:rPr lang="fr-FR" b="1"/>
              <a:t>1-to-many</a:t>
            </a:r>
            <a:r>
              <a:rPr lang="fr-FR"/>
              <a:t>. Un utilisateur peut effectuer plusieurs scans, chaque produit peut être scanné plusieurs fois, et un paiement peut regrouper plusieurs opérations. Enfin, chaque paiement est validé par un utilisateur. </a:t>
            </a:r>
          </a:p>
          <a:p>
            <a:r>
              <a:rPr lang="fr-FR"/>
              <a:t>On peut visualiser ces relations grâce au </a:t>
            </a:r>
            <a:r>
              <a:rPr lang="fr-FR" b="1"/>
              <a:t>Diagramme de Classe</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8</a:t>
            </a:fld>
            <a:endParaRPr lang="fr-NC"/>
          </a:p>
        </p:txBody>
      </p:sp>
    </p:spTree>
    <p:extLst>
      <p:ext uri="{BB962C8B-B14F-4D97-AF65-F5344CB8AC3E}">
        <p14:creationId xmlns:p14="http://schemas.microsoft.com/office/powerpoint/2010/main" val="2857101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a:t>Ces relations entre entités ont ensuite été traduites dans le modèle physique de données, le </a:t>
            </a:r>
            <a:r>
              <a:rPr lang="fr-FR" b="1"/>
              <a:t>MPD</a:t>
            </a:r>
            <a:r>
              <a:rPr lang="fr-FR"/>
              <a:t> qui représente les </a:t>
            </a:r>
            <a:r>
              <a:rPr lang="fr-FR" b="1"/>
              <a:t>tables SQL</a:t>
            </a:r>
            <a:r>
              <a:rPr lang="fr-FR"/>
              <a:t>, leurs attributs et les clés </a:t>
            </a:r>
            <a:r>
              <a:rPr lang="fr-FR" b="1"/>
              <a:t>primaires</a:t>
            </a:r>
            <a:r>
              <a:rPr lang="fr-FR"/>
              <a:t> et </a:t>
            </a:r>
            <a:r>
              <a:rPr lang="fr-FR" b="1"/>
              <a:t>étrangères</a:t>
            </a:r>
            <a:r>
              <a:rPr lang="fr-FR"/>
              <a:t>. Chaque table possède une clé primaire qui permet d’identifier chaque table de façon unique, et les clés étrangères permettent de relier les entités entre elles. </a:t>
            </a:r>
          </a:p>
          <a:p>
            <a:r>
              <a:rPr lang="fr-FR"/>
              <a:t>Par exemple, un scan est lié à un utilisateur c-a-d que la </a:t>
            </a:r>
            <a:r>
              <a:rPr lang="fr-FR" b="1"/>
              <a:t>clé étrangère </a:t>
            </a:r>
            <a:r>
              <a:rPr lang="fr-FR"/>
              <a:t>de la </a:t>
            </a:r>
            <a:r>
              <a:rPr lang="fr-FR" b="1"/>
              <a:t>table</a:t>
            </a:r>
            <a:r>
              <a:rPr lang="fr-FR"/>
              <a:t> </a:t>
            </a:r>
            <a:r>
              <a:rPr lang="fr-FR" b="1"/>
              <a:t>Scan</a:t>
            </a:r>
            <a:r>
              <a:rPr lang="fr-FR"/>
              <a:t> fait référence à la </a:t>
            </a:r>
            <a:r>
              <a:rPr lang="fr-FR" b="1"/>
              <a:t>clé primaire</a:t>
            </a:r>
            <a:r>
              <a:rPr lang="fr-FR"/>
              <a:t> de la </a:t>
            </a:r>
            <a:r>
              <a:rPr lang="fr-FR" b="1" i="0"/>
              <a:t>table</a:t>
            </a:r>
            <a:r>
              <a:rPr lang="fr-FR"/>
              <a:t> </a:t>
            </a:r>
            <a:r>
              <a:rPr lang="fr-FR" b="1" i="0"/>
              <a:t>User</a:t>
            </a:r>
            <a:r>
              <a:rPr lang="fr-FR"/>
              <a:t> , et c’est le même principe pour les autres entités</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9</a:t>
            </a:fld>
            <a:endParaRPr lang="fr-NC"/>
          </a:p>
        </p:txBody>
      </p:sp>
    </p:spTree>
    <p:extLst>
      <p:ext uri="{BB962C8B-B14F-4D97-AF65-F5344CB8AC3E}">
        <p14:creationId xmlns:p14="http://schemas.microsoft.com/office/powerpoint/2010/main" val="2378155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71600" y="1143000"/>
            <a:ext cx="4114800" cy="3086100"/>
          </a:xfrm>
        </p:spPr>
      </p:sp>
      <p:sp>
        <p:nvSpPr>
          <p:cNvPr id="3" name="Espace réservé des notes 2"/>
          <p:cNvSpPr>
            <a:spLocks noGrp="1"/>
          </p:cNvSpPr>
          <p:nvPr>
            <p:ph type="body" idx="1"/>
          </p:nvPr>
        </p:nvSpPr>
        <p:spPr/>
        <p:txBody>
          <a:bodyPr/>
          <a:lstStyle/>
          <a:p>
            <a:r>
              <a:rPr lang="fr-FR"/>
              <a:t>J’ai utilisé </a:t>
            </a:r>
            <a:r>
              <a:rPr lang="fr-FR" b="1"/>
              <a:t>MySQL</a:t>
            </a:r>
            <a:r>
              <a:rPr lang="fr-FR"/>
              <a:t> pour créer les tables de la base</a:t>
            </a:r>
          </a:p>
          <a:p>
            <a:r>
              <a:rPr lang="fr-FR"/>
              <a:t>La configuration se fait dans plusieurs fichiers </a:t>
            </a:r>
            <a:r>
              <a:rPr lang="fr-FR" b="1"/>
              <a:t>.properties</a:t>
            </a:r>
            <a:r>
              <a:rPr lang="fr-FR"/>
              <a:t>, selon l’environnement : Le fichier </a:t>
            </a:r>
            <a:r>
              <a:rPr lang="fr-FR" b="1"/>
              <a:t>principal</a:t>
            </a:r>
            <a:r>
              <a:rPr lang="fr-FR"/>
              <a:t> contient les réglages communs, comme l’URL, les identifiants et le driver MySQL. </a:t>
            </a:r>
          </a:p>
          <a:p>
            <a:r>
              <a:rPr lang="fr-FR"/>
              <a:t>En </a:t>
            </a:r>
            <a:r>
              <a:rPr lang="fr-FR" b="1"/>
              <a:t>développement</a:t>
            </a:r>
            <a:r>
              <a:rPr lang="fr-FR"/>
              <a:t>, l’application utilise une base MySQL via Docker. </a:t>
            </a:r>
          </a:p>
          <a:p>
            <a:r>
              <a:rPr lang="fr-FR" b="1"/>
              <a:t>En production</a:t>
            </a:r>
            <a:r>
              <a:rPr lang="fr-FR"/>
              <a:t>, elle utilise une base locale sur le serveur VPS, ce qui est plus rapide et sécurisé.</a:t>
            </a:r>
          </a:p>
          <a:p>
            <a:r>
              <a:rPr lang="fr-FR"/>
              <a:t>Chaque entité du projet est représentée par une </a:t>
            </a:r>
            <a:r>
              <a:rPr lang="fr-FR" b="1"/>
              <a:t>classe Java </a:t>
            </a:r>
            <a:r>
              <a:rPr lang="fr-FR"/>
              <a:t>annotée avec </a:t>
            </a:r>
            <a:r>
              <a:rPr lang="fr-FR" b="1"/>
              <a:t>@Entity</a:t>
            </a:r>
            <a:r>
              <a:rPr lang="fr-FR"/>
              <a:t>. Les champs de la classe correspondent aux colonnes SQL, grâce à l’annotation </a:t>
            </a:r>
            <a:r>
              <a:rPr lang="fr-FR" b="1"/>
              <a:t>@Column</a:t>
            </a:r>
            <a:r>
              <a:rPr lang="fr-FR"/>
              <a:t>. La clé primaire est définie avec </a:t>
            </a:r>
            <a:r>
              <a:rPr lang="fr-FR" b="1"/>
              <a:t>@Id</a:t>
            </a:r>
            <a:r>
              <a:rPr lang="fr-FR"/>
              <a:t>, et l’auto-incrément avec </a:t>
            </a:r>
            <a:r>
              <a:rPr lang="fr-FR" b="1"/>
              <a:t>@GeneratedValue</a:t>
            </a:r>
            <a:r>
              <a:rPr lang="fr-FR"/>
              <a:t>. Les relations entre entités sont gérées avec </a:t>
            </a:r>
            <a:r>
              <a:rPr lang="fr-FR" b="1"/>
              <a:t>@OneToMany </a:t>
            </a:r>
            <a:r>
              <a:rPr lang="fr-FR"/>
              <a:t>et </a:t>
            </a:r>
            <a:r>
              <a:rPr lang="fr-FR" b="1"/>
              <a:t>@ManyToOne</a:t>
            </a:r>
            <a:r>
              <a:rPr lang="fr-FR"/>
              <a:t>, ce qui permet de relier les tables automatiquement. Ces entités sont ensuite connectées à des interfaces </a:t>
            </a:r>
            <a:r>
              <a:rPr lang="fr-FR" b="1"/>
              <a:t>Repository</a:t>
            </a:r>
            <a:r>
              <a:rPr lang="fr-FR"/>
              <a:t>, qui permettent d’intérargir avec la BDD</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10</a:t>
            </a:fld>
            <a:endParaRPr lang="fr-NC"/>
          </a:p>
        </p:txBody>
      </p:sp>
    </p:spTree>
    <p:extLst>
      <p:ext uri="{BB962C8B-B14F-4D97-AF65-F5344CB8AC3E}">
        <p14:creationId xmlns:p14="http://schemas.microsoft.com/office/powerpoint/2010/main" val="464647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Afin d’organiser le code pour concevoir l’application, j’ai choisi l’architecture </a:t>
            </a:r>
            <a:r>
              <a:rPr lang="fr-FR" b="1"/>
              <a:t>MVC</a:t>
            </a:r>
            <a:r>
              <a:rPr lang="fr-FR"/>
              <a:t> Model View Controller organisée en </a:t>
            </a:r>
            <a:r>
              <a:rPr lang="fr-FR" b="1"/>
              <a:t>plusieurs couches </a:t>
            </a:r>
            <a:r>
              <a:rPr lang="fr-FR"/>
              <a:t>:</a:t>
            </a:r>
          </a:p>
          <a:p>
            <a:pPr marL="0" indent="0">
              <a:buFont typeface="Arial" panose="020B0604020202020204" pitchFamily="34" charset="0"/>
              <a:buNone/>
            </a:pPr>
            <a:r>
              <a:rPr lang="fr-FR"/>
              <a:t>•</a:t>
            </a:r>
            <a:r>
              <a:rPr lang="fr-FR" b="1"/>
              <a:t>Model</a:t>
            </a:r>
            <a:r>
              <a:rPr lang="fr-FR"/>
              <a:t> : Entités JPA (User, Product, Scan, Payment) qui permet de gérer les données</a:t>
            </a:r>
          </a:p>
          <a:p>
            <a:pPr marL="0" indent="0">
              <a:buFont typeface="Arial" panose="020B0604020202020204" pitchFamily="34" charset="0"/>
              <a:buNone/>
            </a:pPr>
            <a:endParaRPr lang="fr-FR"/>
          </a:p>
          <a:p>
            <a:r>
              <a:rPr lang="fr-FR"/>
              <a:t>•</a:t>
            </a:r>
            <a:r>
              <a:rPr lang="fr-FR" b="1"/>
              <a:t>Repository</a:t>
            </a:r>
            <a:r>
              <a:rPr lang="fr-FR"/>
              <a:t> : Interfaces utilisant Spring Data JPA ce qui permet d’interagir avec la BDD</a:t>
            </a:r>
          </a:p>
          <a:p>
            <a:endParaRPr lang="fr-FR"/>
          </a:p>
          <a:p>
            <a:r>
              <a:rPr lang="fr-FR"/>
              <a:t>•</a:t>
            </a:r>
            <a:r>
              <a:rPr lang="fr-FR" b="1"/>
              <a:t>Service </a:t>
            </a:r>
            <a:r>
              <a:rPr lang="fr-FR"/>
              <a:t>: Représente la logique métier</a:t>
            </a:r>
          </a:p>
          <a:p>
            <a:endParaRPr lang="fr-FR"/>
          </a:p>
          <a:p>
            <a:r>
              <a:rPr lang="fr-FR"/>
              <a:t>•</a:t>
            </a:r>
            <a:r>
              <a:rPr lang="fr-FR" b="1"/>
              <a:t>Controller</a:t>
            </a:r>
            <a:r>
              <a:rPr lang="fr-FR"/>
              <a:t> : Reçoit les requêtes des utilisateurs et transmet les actions à exécuter aux services</a:t>
            </a:r>
          </a:p>
          <a:p>
            <a:endParaRPr lang="fr-FR"/>
          </a:p>
          <a:p>
            <a:r>
              <a:rPr lang="fr-FR"/>
              <a:t>•</a:t>
            </a:r>
            <a:r>
              <a:rPr lang="fr-FR" b="1"/>
              <a:t>DTO </a:t>
            </a:r>
            <a:r>
              <a:rPr lang="fr-FR"/>
              <a:t>: Représente un objet utilisé pour envoyer ou recevoir des données via l’API, sans exposer directement des données internes de l’application</a:t>
            </a:r>
          </a:p>
          <a:p>
            <a:endParaRPr lang="fr-FR"/>
          </a:p>
          <a:p>
            <a:r>
              <a:rPr lang="fr-FR"/>
              <a:t>•</a:t>
            </a:r>
            <a:r>
              <a:rPr lang="fr-FR" b="1"/>
              <a:t>Mapper</a:t>
            </a:r>
            <a:r>
              <a:rPr lang="fr-FR"/>
              <a:t> : Sert à convertir les Entités en DTO et inversement pour éviter d’envoyer trop d’informations sensibles ou inutiles au navigateur.</a:t>
            </a:r>
          </a:p>
          <a:p>
            <a:endParaRPr lang="fr-FR"/>
          </a:p>
          <a:p>
            <a:r>
              <a:rPr lang="fr-FR"/>
              <a:t>•</a:t>
            </a:r>
            <a:r>
              <a:rPr lang="fr-FR" b="1"/>
              <a:t>View </a:t>
            </a:r>
            <a:r>
              <a:rPr lang="fr-FR"/>
              <a:t>: Représente l’interface utilisateur, composée des pages Web</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11</a:t>
            </a:fld>
            <a:endParaRPr lang="fr-NC"/>
          </a:p>
        </p:txBody>
      </p:sp>
    </p:spTree>
    <p:extLst>
      <p:ext uri="{BB962C8B-B14F-4D97-AF65-F5344CB8AC3E}">
        <p14:creationId xmlns:p14="http://schemas.microsoft.com/office/powerpoint/2010/main" val="612163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sécuriser l’accès à l’application, j’ai utilisé </a:t>
            </a:r>
            <a:r>
              <a:rPr lang="fr-FR" b="1"/>
              <a:t>Spring Security </a:t>
            </a:r>
            <a:r>
              <a:rPr lang="fr-FR"/>
              <a:t>intégré dans la couche </a:t>
            </a:r>
            <a:r>
              <a:rPr lang="fr-FR" b="1"/>
              <a:t>Configuration</a:t>
            </a:r>
            <a:r>
              <a:rPr lang="fr-FR"/>
              <a:t> pour sécuriser les accès(réglages technisues). </a:t>
            </a:r>
          </a:p>
          <a:p>
            <a:r>
              <a:rPr lang="fr-FR"/>
              <a:t>L’utilisateur se connecte avec son email et son mot de passe, et une session est créée automatiquement pour garder sa session ouverte pendant la navigation. </a:t>
            </a:r>
          </a:p>
          <a:p>
            <a:r>
              <a:rPr lang="fr-FR"/>
              <a:t>Les mots de passe sont chiffrés avec </a:t>
            </a:r>
            <a:r>
              <a:rPr lang="fr-FR" b="1"/>
              <a:t>BCrypt </a:t>
            </a:r>
            <a:r>
              <a:rPr lang="fr-FR"/>
              <a:t>pour éviter les risques. </a:t>
            </a:r>
          </a:p>
          <a:p>
            <a:r>
              <a:rPr lang="fr-FR"/>
              <a:t>J’ai développé </a:t>
            </a:r>
            <a:r>
              <a:rPr lang="fr-FR" b="1"/>
              <a:t>3 classes </a:t>
            </a:r>
            <a:r>
              <a:rPr lang="fr-FR"/>
              <a:t>pour gérer l’authentification : </a:t>
            </a:r>
          </a:p>
          <a:p>
            <a:r>
              <a:rPr lang="fr-FR" b="1"/>
              <a:t>SecurityConfig</a:t>
            </a:r>
            <a:r>
              <a:rPr lang="fr-FR"/>
              <a:t> définit les pages accessibles comme </a:t>
            </a:r>
            <a:r>
              <a:rPr lang="fr-FR" b="1"/>
              <a:t>/login </a:t>
            </a:r>
            <a:r>
              <a:rPr lang="fr-FR"/>
              <a:t>pour se connecter, </a:t>
            </a:r>
            <a:r>
              <a:rPr lang="fr-FR" b="1"/>
              <a:t>/register </a:t>
            </a:r>
            <a:r>
              <a:rPr lang="fr-FR"/>
              <a:t>pour s’inscrire et </a:t>
            </a:r>
            <a:r>
              <a:rPr lang="fr-FR" b="1"/>
              <a:t>/forget-password </a:t>
            </a:r>
            <a:r>
              <a:rPr lang="fr-FR"/>
              <a:t>pour réinitialiser son mot de passe. </a:t>
            </a:r>
          </a:p>
          <a:p>
            <a:r>
              <a:rPr lang="fr-FR" b="1"/>
              <a:t>CustomUserDetailsService </a:t>
            </a:r>
            <a:r>
              <a:rPr lang="fr-FR"/>
              <a:t>retrouve l’utilisateur en base à partir de son email. </a:t>
            </a:r>
            <a:r>
              <a:rPr lang="fr-FR" b="1"/>
              <a:t>UserDetailsImplements</a:t>
            </a:r>
            <a:r>
              <a:rPr lang="fr-FR"/>
              <a:t> transforme l’utilisateur en format sécurisé pour Spring Security, sans exposer ses données sensibles.</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12</a:t>
            </a:fld>
            <a:endParaRPr lang="fr-NC"/>
          </a:p>
        </p:txBody>
      </p:sp>
    </p:spTree>
    <p:extLst>
      <p:ext uri="{BB962C8B-B14F-4D97-AF65-F5344CB8AC3E}">
        <p14:creationId xmlns:p14="http://schemas.microsoft.com/office/powerpoint/2010/main" val="1816583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que l’utilisateur puisse réinitialiser son mot de passe, j’ai mis en place un système d’envoi d’email avec </a:t>
            </a:r>
            <a:r>
              <a:rPr lang="fr-FR" b="1"/>
              <a:t>Brevo</a:t>
            </a:r>
            <a:r>
              <a:rPr lang="fr-FR"/>
              <a:t>, un service en ligne français. J’ai configuré l’application avec le fichier </a:t>
            </a:r>
            <a:r>
              <a:rPr lang="fr-FR" b="1"/>
              <a:t>application. properties</a:t>
            </a:r>
            <a:r>
              <a:rPr lang="fr-FR"/>
              <a:t> pour qu’elle sache quel serveur utiliser : on définit l’adresse du serveur </a:t>
            </a:r>
            <a:r>
              <a:rPr lang="fr-FR" b="1"/>
              <a:t>SMTP, </a:t>
            </a:r>
            <a:r>
              <a:rPr lang="fr-FR"/>
              <a:t>le port, l’identifiant et le mot de passe dans le fichier application.properties. Ces paramètres permettent à l’application de se connecter à Brevo et d’envoyer les mails. </a:t>
            </a:r>
          </a:p>
          <a:p>
            <a:r>
              <a:rPr lang="fr-FR"/>
              <a:t>Ensuite, j’ai développé un service appelé </a:t>
            </a:r>
            <a:r>
              <a:rPr lang="fr-FR" b="1"/>
              <a:t>MailServiceImplements</a:t>
            </a:r>
            <a:r>
              <a:rPr lang="fr-FR"/>
              <a:t> qui utilise </a:t>
            </a:r>
            <a:r>
              <a:rPr lang="fr-FR" b="1"/>
              <a:t>JavaMailSender</a:t>
            </a:r>
            <a:r>
              <a:rPr lang="fr-FR"/>
              <a:t> une dépendence </a:t>
            </a:r>
            <a:r>
              <a:rPr lang="fr-FR" b="1"/>
              <a:t>Spring Boot </a:t>
            </a:r>
            <a:r>
              <a:rPr lang="fr-FR"/>
              <a:t>pour envoyer des mails</a:t>
            </a:r>
          </a:p>
          <a:p>
            <a:r>
              <a:rPr lang="fr-FR"/>
              <a:t>Quand l’utilisateur fait une demande, il reçoit un lien sécurisé valable </a:t>
            </a:r>
            <a:r>
              <a:rPr lang="fr-FR" b="1"/>
              <a:t>24h</a:t>
            </a:r>
            <a:r>
              <a:rPr lang="fr-FR"/>
              <a:t> pour choisir un nouveau mot de passe.</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13</a:t>
            </a:fld>
            <a:endParaRPr lang="fr-NC"/>
          </a:p>
        </p:txBody>
      </p:sp>
    </p:spTree>
    <p:extLst>
      <p:ext uri="{BB962C8B-B14F-4D97-AF65-F5344CB8AC3E}">
        <p14:creationId xmlns:p14="http://schemas.microsoft.com/office/powerpoint/2010/main" val="2308861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gérer les produits en stock, j’ai mis en place une fonctionnalité complète : création, modification, suppression.</a:t>
            </a:r>
          </a:p>
          <a:p>
            <a:r>
              <a:rPr lang="fr-FR"/>
              <a:t>Le </a:t>
            </a:r>
            <a:r>
              <a:rPr lang="fr-FR" b="1"/>
              <a:t>modèle Product </a:t>
            </a:r>
            <a:r>
              <a:rPr lang="fr-FR"/>
              <a:t>contient toutes les informations essentielles liées à un produit en stock : </a:t>
            </a:r>
            <a:r>
              <a:rPr lang="fr-FR" b="1" i="1"/>
              <a:t>nom, code-barres, poids, prix, quantité, statut et catégorie</a:t>
            </a:r>
            <a:r>
              <a:rPr lang="fr-FR"/>
              <a:t>. </a:t>
            </a:r>
          </a:p>
          <a:p>
            <a:r>
              <a:rPr lang="fr-FR"/>
              <a:t>Chaque </a:t>
            </a:r>
            <a:r>
              <a:rPr lang="fr-FR" b="1"/>
              <a:t>produit</a:t>
            </a:r>
            <a:r>
              <a:rPr lang="fr-FR"/>
              <a:t> est lié à un scan pour assurer la traçabilité. </a:t>
            </a:r>
          </a:p>
          <a:p>
            <a:r>
              <a:rPr lang="fr-FR"/>
              <a:t>Le </a:t>
            </a:r>
            <a:r>
              <a:rPr lang="fr-FR" b="1"/>
              <a:t>service </a:t>
            </a:r>
            <a:r>
              <a:rPr lang="fr-FR"/>
              <a:t>gère la logique métier, le </a:t>
            </a:r>
            <a:r>
              <a:rPr lang="fr-FR" b="1"/>
              <a:t>contrôleur</a:t>
            </a:r>
            <a:r>
              <a:rPr lang="fr-FR"/>
              <a:t> affiche les produits, supprime un produit quand il est scanné et met à jour les statuts du stock </a:t>
            </a:r>
          </a:p>
          <a:p>
            <a:r>
              <a:rPr lang="fr-FR"/>
              <a:t>L’interface </a:t>
            </a:r>
            <a:r>
              <a:rPr lang="fr-FR" b="1"/>
              <a:t>Thymeleaf</a:t>
            </a:r>
            <a:r>
              <a:rPr lang="fr-FR"/>
              <a:t> montre un tableau clair avec les détails de chaque produit, les indicateurs de stock et permet de visualiser le </a:t>
            </a:r>
            <a:r>
              <a:rPr lang="fr-FR" b="1"/>
              <a:t>stock total </a:t>
            </a:r>
            <a:r>
              <a:rPr lang="fr-FR"/>
              <a:t>et le </a:t>
            </a:r>
            <a:r>
              <a:rPr lang="fr-FR" b="1"/>
              <a:t>nombre</a:t>
            </a:r>
            <a:r>
              <a:rPr lang="fr-FR"/>
              <a:t> de </a:t>
            </a:r>
            <a:r>
              <a:rPr lang="fr-FR" b="1"/>
              <a:t>produits scannés</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14</a:t>
            </a:fld>
            <a:endParaRPr lang="fr-NC"/>
          </a:p>
        </p:txBody>
      </p:sp>
    </p:spTree>
    <p:extLst>
      <p:ext uri="{BB962C8B-B14F-4D97-AF65-F5344CB8AC3E}">
        <p14:creationId xmlns:p14="http://schemas.microsoft.com/office/powerpoint/2010/main" val="1493994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Cette fonctionnalité permet à l’employé de scanner un produit pour le retirer du stock. Chaque scan est enregistré avec la date et le produit concerné, ce qui permet de garder une traçabilité. </a:t>
            </a:r>
          </a:p>
          <a:p>
            <a:r>
              <a:rPr lang="fr-FR"/>
              <a:t>Le contrôleur gère les routes </a:t>
            </a:r>
            <a:r>
              <a:rPr lang="fr-FR" b="1"/>
              <a:t>/scans</a:t>
            </a:r>
            <a:r>
              <a:rPr lang="fr-FR" b="0"/>
              <a:t>,</a:t>
            </a:r>
            <a:r>
              <a:rPr lang="fr-FR" b="1"/>
              <a:t> </a:t>
            </a:r>
            <a:r>
              <a:rPr lang="fr-FR"/>
              <a:t>récupère l’utilisateur connecté et ajoute les produits scannés dans un panier temporaire visible à l’écran. Le montant total est calculé automatiquement, et l’utilisateur peut choisir de valider le paiement ou de vider le panier. </a:t>
            </a:r>
          </a:p>
          <a:p>
            <a:r>
              <a:rPr lang="fr-FR"/>
              <a:t>L’interface permet de scanner avec une douchette ou de saisir le code-barres à la main. Les informations du produit scannés s’affichent, ainsi que le panier et les boutons d’action.</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15</a:t>
            </a:fld>
            <a:endParaRPr lang="fr-NC"/>
          </a:p>
        </p:txBody>
      </p:sp>
    </p:spTree>
    <p:extLst>
      <p:ext uri="{BB962C8B-B14F-4D97-AF65-F5344CB8AC3E}">
        <p14:creationId xmlns:p14="http://schemas.microsoft.com/office/powerpoint/2010/main" val="3364803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scanner les produits, j’ai utilisé une douchette </a:t>
            </a:r>
            <a:r>
              <a:rPr lang="fr-FR" b="1"/>
              <a:t>Datalogic Touch TD1100 </a:t>
            </a:r>
            <a:r>
              <a:rPr lang="fr-FR"/>
              <a:t>qui m’a été préter par le formateur. </a:t>
            </a:r>
          </a:p>
          <a:p>
            <a:pPr marL="0" indent="0">
              <a:buFont typeface="Arial" panose="020B0604020202020204" pitchFamily="34" charset="0"/>
              <a:buNone/>
            </a:pPr>
            <a:r>
              <a:rPr lang="fr-FR"/>
              <a:t>C’est un petit appareil léger, relié à l’ordinateur par un câble. </a:t>
            </a:r>
          </a:p>
          <a:p>
            <a:r>
              <a:rPr lang="fr-FR"/>
              <a:t>Il lit les codes-barres en approchant le produit de la tête du scanner.</a:t>
            </a:r>
          </a:p>
          <a:p>
            <a:pPr marL="0" indent="0">
              <a:buFont typeface="Arial" panose="020B0604020202020204" pitchFamily="34" charset="0"/>
              <a:buNone/>
            </a:pPr>
            <a:r>
              <a:rPr lang="fr-FR"/>
              <a:t>Ce modèle est très simple à utiliser, rapide et fiable, ce qui le rend parfait pour des environnements comme les boucheries. </a:t>
            </a:r>
          </a:p>
          <a:p>
            <a:pPr marL="0" indent="0">
              <a:buFont typeface="Arial" panose="020B0604020202020204" pitchFamily="34" charset="0"/>
              <a:buNone/>
            </a:pPr>
            <a:r>
              <a:rPr lang="fr-FR"/>
              <a:t>Il fonctionne sans configuration compliquée, ce qui permet de le brancher et de l’utiliser directement </a:t>
            </a:r>
          </a:p>
          <a:p>
            <a:r>
              <a:rPr lang="fr-FR"/>
              <a:t>Une fois le scanner en place, il faut bien sûr un format de code-barres adapté à notre environnement métier.</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16</a:t>
            </a:fld>
            <a:endParaRPr lang="fr-NC"/>
          </a:p>
        </p:txBody>
      </p:sp>
    </p:spTree>
    <p:extLst>
      <p:ext uri="{BB962C8B-B14F-4D97-AF65-F5344CB8AC3E}">
        <p14:creationId xmlns:p14="http://schemas.microsoft.com/office/powerpoint/2010/main" val="3213734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identifier les produits rapidement et de façon fiable, j’ai choisi d’utiliser le format </a:t>
            </a:r>
            <a:r>
              <a:rPr lang="fr-FR" b="1"/>
              <a:t>EAN-13</a:t>
            </a:r>
            <a:r>
              <a:rPr lang="fr-FR"/>
              <a:t>. </a:t>
            </a:r>
          </a:p>
          <a:p>
            <a:r>
              <a:rPr lang="fr-FR"/>
              <a:t>C’est un code-barres composé de </a:t>
            </a:r>
            <a:r>
              <a:rPr lang="fr-FR" b="1"/>
              <a:t>13 chiffres</a:t>
            </a:r>
            <a:r>
              <a:rPr lang="fr-FR"/>
              <a:t>, très utilisé dans le secteur agroalimentaire. </a:t>
            </a:r>
          </a:p>
          <a:p>
            <a:r>
              <a:rPr lang="fr-FR"/>
              <a:t>Ce format est parfaitement adapté aux produits emballés, comme ceux qu’on retrouve en boucherie.</a:t>
            </a:r>
          </a:p>
          <a:p>
            <a:r>
              <a:rPr lang="fr-FR"/>
              <a:t>Une fois le format EAN-13 choisi, il faut que le scanner soit bien configuré pour communiquer avec l’application.</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17</a:t>
            </a:fld>
            <a:endParaRPr lang="fr-NC"/>
          </a:p>
        </p:txBody>
      </p:sp>
    </p:spTree>
    <p:extLst>
      <p:ext uri="{BB962C8B-B14F-4D97-AF65-F5344CB8AC3E}">
        <p14:creationId xmlns:p14="http://schemas.microsoft.com/office/powerpoint/2010/main" val="1673404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que le scanner fonctionne automatiquement, j’ai utilisé un petit programme appelé </a:t>
            </a:r>
            <a:r>
              <a:rPr lang="fr-FR" b="1"/>
              <a:t>AutoHotKey. </a:t>
            </a:r>
          </a:p>
          <a:p>
            <a:r>
              <a:rPr lang="fr-FR"/>
              <a:t>C’est un outil gratuit qui permet de créer des scripts pour automatiser des actions. </a:t>
            </a:r>
          </a:p>
          <a:p>
            <a:r>
              <a:rPr lang="fr-FR"/>
              <a:t>Le script que j’ai créé ouvre le port série </a:t>
            </a:r>
            <a:r>
              <a:rPr lang="fr-FR" b="1"/>
              <a:t>COM 6 </a:t>
            </a:r>
            <a:r>
              <a:rPr lang="fr-FR"/>
              <a:t>là où le scanner est branché, règle la vitesse de communication qui est de </a:t>
            </a:r>
            <a:r>
              <a:rPr lang="fr-FR" b="1"/>
              <a:t>9600 bauds </a:t>
            </a:r>
            <a:r>
              <a:rPr lang="fr-FR"/>
              <a:t>soit un débit de 9600 </a:t>
            </a:r>
            <a:r>
              <a:rPr lang="fr-FR" b="1"/>
              <a:t>bits</a:t>
            </a:r>
            <a:r>
              <a:rPr lang="fr-FR"/>
              <a:t> </a:t>
            </a:r>
            <a:r>
              <a:rPr lang="fr-FR" b="1"/>
              <a:t>par seconde</a:t>
            </a:r>
            <a:r>
              <a:rPr lang="fr-FR"/>
              <a:t>, ce qui permet aux scanner et l’ordinateur de se comprendre.</a:t>
            </a:r>
          </a:p>
          <a:p>
            <a:r>
              <a:rPr lang="fr-FR"/>
              <a:t>Lit les données envoyées par le scanner, et les convertit en texte lisible. </a:t>
            </a:r>
          </a:p>
          <a:p>
            <a:r>
              <a:rPr lang="fr-FR"/>
              <a:t>Ensuite, il envoie le code scanné directement dans le champ de saisie, comme si l’utilisateur l’avait tapé au clavier. </a:t>
            </a:r>
          </a:p>
          <a:p>
            <a:r>
              <a:rPr lang="fr-FR"/>
              <a:t>Ce système rend le scanner compatible avec n’importe quelle zone de saisie dans l’application.</a:t>
            </a:r>
          </a:p>
          <a:p>
            <a:r>
              <a:rPr lang="fr-FR"/>
              <a:t>Une fois le programme prêt, il faut aussi que le scanner soit bien réglé physiquement pour que tout fonctionne</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18</a:t>
            </a:fld>
            <a:endParaRPr lang="fr-NC"/>
          </a:p>
        </p:txBody>
      </p:sp>
    </p:spTree>
    <p:extLst>
      <p:ext uri="{BB962C8B-B14F-4D97-AF65-F5344CB8AC3E}">
        <p14:creationId xmlns:p14="http://schemas.microsoft.com/office/powerpoint/2010/main" val="2483171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Après avoir configuré le logiciel, il faut aussi régler le scanner physiquement </a:t>
            </a:r>
          </a:p>
          <a:p>
            <a:r>
              <a:rPr lang="fr-FR"/>
              <a:t>Pour ça, on scanne </a:t>
            </a:r>
            <a:r>
              <a:rPr lang="fr-FR" b="1"/>
              <a:t>deux codes-barres </a:t>
            </a:r>
            <a:r>
              <a:rPr lang="fr-FR"/>
              <a:t>fournis dans le </a:t>
            </a:r>
            <a:r>
              <a:rPr lang="fr-FR" b="1"/>
              <a:t>guide du fabricant</a:t>
            </a:r>
            <a:r>
              <a:rPr lang="fr-FR"/>
              <a:t>. </a:t>
            </a:r>
          </a:p>
          <a:p>
            <a:r>
              <a:rPr lang="fr-FR"/>
              <a:t>Le premier, “</a:t>
            </a:r>
            <a:r>
              <a:rPr lang="fr-FR" b="1"/>
              <a:t>Configuration par défaut</a:t>
            </a:r>
            <a:r>
              <a:rPr lang="fr-FR"/>
              <a:t>”, remet le scanner à zéro avec des réglages standards. </a:t>
            </a:r>
          </a:p>
          <a:p>
            <a:r>
              <a:rPr lang="fr-FR"/>
              <a:t>Le second, “</a:t>
            </a:r>
            <a:r>
              <a:rPr lang="fr-FR" b="1"/>
              <a:t>RS232 Standard</a:t>
            </a:r>
            <a:r>
              <a:rPr lang="fr-FR"/>
              <a:t>”, active le mode série, qui permet au scanner de communiquer correctement avec le script AutoHotKey. Ce mode envoie les données bit par bit, ce qui rend la communication stable et compatible avec le port </a:t>
            </a:r>
            <a:r>
              <a:rPr lang="fr-FR" b="1"/>
              <a:t>COM</a:t>
            </a:r>
            <a:r>
              <a:rPr lang="fr-FR"/>
              <a:t> utilisé dans le script.</a:t>
            </a:r>
          </a:p>
          <a:p>
            <a:r>
              <a:rPr lang="fr-FR"/>
              <a:t>Une fois le scanner bien configuré, il faut aussi que l’interface web sache reconnaître un scan automatique.</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19</a:t>
            </a:fld>
            <a:endParaRPr lang="fr-NC"/>
          </a:p>
        </p:txBody>
      </p:sp>
    </p:spTree>
    <p:extLst>
      <p:ext uri="{BB962C8B-B14F-4D97-AF65-F5344CB8AC3E}">
        <p14:creationId xmlns:p14="http://schemas.microsoft.com/office/powerpoint/2010/main" val="1016920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que le scanner fonctionne avec l’application web, j’ai intégré un petit script </a:t>
            </a:r>
            <a:r>
              <a:rPr lang="fr-FR" b="1"/>
              <a:t>JavaScript</a:t>
            </a:r>
            <a:r>
              <a:rPr lang="fr-FR"/>
              <a:t> dans la page </a:t>
            </a:r>
            <a:r>
              <a:rPr lang="fr-FR" b="1"/>
              <a:t>HTML</a:t>
            </a:r>
            <a:r>
              <a:rPr lang="fr-FR"/>
              <a:t>. </a:t>
            </a:r>
          </a:p>
          <a:p>
            <a:r>
              <a:rPr lang="fr-FR"/>
              <a:t>Ce script mesure le temps entre chaque caractère saisi dans le champ du code-barres. </a:t>
            </a:r>
          </a:p>
          <a:p>
            <a:r>
              <a:rPr lang="fr-FR" b="1"/>
              <a:t>Si</a:t>
            </a:r>
            <a:r>
              <a:rPr lang="fr-FR"/>
              <a:t> ce temps est très court — moins de </a:t>
            </a:r>
            <a:r>
              <a:rPr lang="fr-FR" b="1"/>
              <a:t>50 millisecondes </a:t>
            </a:r>
            <a:r>
              <a:rPr lang="fr-FR"/>
              <a:t>— comme le ferait un scanner, alors le formulaire est envoyé automatiquement. </a:t>
            </a:r>
          </a:p>
          <a:p>
            <a:r>
              <a:rPr lang="fr-FR" b="1"/>
              <a:t>Sinon</a:t>
            </a:r>
            <a:r>
              <a:rPr lang="fr-FR"/>
              <a:t>, l’utilisateur peut entrer le code manuellement et valider avec la touche Entrée. Le script vérifie aussi que le </a:t>
            </a:r>
            <a:r>
              <a:rPr lang="fr-FR" b="1"/>
              <a:t>code-barres</a:t>
            </a:r>
            <a:r>
              <a:rPr lang="fr-FR"/>
              <a:t> contient bien </a:t>
            </a:r>
            <a:r>
              <a:rPr lang="fr-FR" b="1"/>
              <a:t>13 chiffres</a:t>
            </a:r>
            <a:r>
              <a:rPr lang="fr-FR"/>
              <a:t>. </a:t>
            </a:r>
          </a:p>
          <a:p>
            <a:r>
              <a:rPr lang="fr-FR"/>
              <a:t>Si ce n’est pas le cas, un message d’erreur s’affiche. </a:t>
            </a:r>
          </a:p>
          <a:p>
            <a:pPr marL="0" marR="0" lvl="0" indent="0" algn="l" defTabSz="1075334" rtl="0" eaLnBrk="1" fontAlgn="auto" latinLnBrk="0" hangingPunct="1">
              <a:lnSpc>
                <a:spcPct val="100000"/>
              </a:lnSpc>
              <a:spcBef>
                <a:spcPts val="0"/>
              </a:spcBef>
              <a:spcAft>
                <a:spcPts val="0"/>
              </a:spcAft>
              <a:buClrTx/>
              <a:buSzTx/>
              <a:buFontTx/>
              <a:buNone/>
              <a:tabLst/>
              <a:defRPr/>
            </a:pPr>
            <a:r>
              <a:rPr lang="fr-FR"/>
              <a:t>Ce système permet de gérer à la fois les scans automatiques et les saisies manuelles, selon les situations. </a:t>
            </a:r>
            <a:r>
              <a:rPr lang="fr-FR" sz="1600" b="1"/>
              <a:t>Voici la logique principale du script :</a:t>
            </a:r>
          </a:p>
          <a:p>
            <a:r>
              <a:rPr lang="fr-FR"/>
              <a:t>Cette condition permet de détecter un vrai scan et de lancer l’envoi du formulaire sans intervention de l’utilisateur.</a:t>
            </a:r>
          </a:p>
          <a:p>
            <a:r>
              <a:rPr lang="fr-FR"/>
              <a:t>Une fois les produits scannés, l’utilisateur peut passer au paiement.</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20</a:t>
            </a:fld>
            <a:endParaRPr lang="fr-NC"/>
          </a:p>
        </p:txBody>
      </p:sp>
    </p:spTree>
    <p:extLst>
      <p:ext uri="{BB962C8B-B14F-4D97-AF65-F5344CB8AC3E}">
        <p14:creationId xmlns:p14="http://schemas.microsoft.com/office/powerpoint/2010/main" val="4098848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le paiement, j’ai choisi un système simple et local, sans carte ni service externe. L’utilisateur clique sur </a:t>
            </a:r>
            <a:r>
              <a:rPr lang="fr-FR" b="1"/>
              <a:t>“Passer au paiement” </a:t>
            </a:r>
            <a:r>
              <a:rPr lang="fr-FR"/>
              <a:t>: l’application vérifie les produits, calcule le total, contrôle le stock, enregistre le paiement, et envoie une facture PDF par mail. </a:t>
            </a:r>
          </a:p>
          <a:p>
            <a:r>
              <a:rPr lang="fr-FR"/>
              <a:t>L’interface affiche le panier, le total, le mode de paiement, et désactive le bouton si le panier est vide. Toute la logique est gérée par le </a:t>
            </a:r>
            <a:r>
              <a:rPr lang="fr-FR" b="1"/>
              <a:t>PaymentService</a:t>
            </a:r>
            <a:r>
              <a:rPr lang="fr-FR"/>
              <a:t>, et les échanges par le </a:t>
            </a:r>
            <a:r>
              <a:rPr lang="fr-FR" b="1"/>
              <a:t>PaymentController</a:t>
            </a:r>
            <a:r>
              <a:rPr lang="fr-FR"/>
              <a:t>.</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21</a:t>
            </a:fld>
            <a:endParaRPr lang="fr-NC"/>
          </a:p>
        </p:txBody>
      </p:sp>
    </p:spTree>
    <p:extLst>
      <p:ext uri="{BB962C8B-B14F-4D97-AF65-F5344CB8AC3E}">
        <p14:creationId xmlns:p14="http://schemas.microsoft.com/office/powerpoint/2010/main" val="2192776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Une fois le paiement validé, l’application génère automatiquement une facture PDF grâce au service </a:t>
            </a:r>
            <a:r>
              <a:rPr lang="fr-FR" b="1"/>
              <a:t>InvoiceService</a:t>
            </a:r>
            <a:r>
              <a:rPr lang="fr-FR"/>
              <a:t> qui permet de définir le contenu du pdf et sa mise en page . </a:t>
            </a:r>
          </a:p>
          <a:p>
            <a:r>
              <a:rPr lang="fr-FR"/>
              <a:t>Elle est créée en mémoire avec la bibliothèque </a:t>
            </a:r>
            <a:r>
              <a:rPr lang="fr-FR" b="1"/>
              <a:t>OpenPDF</a:t>
            </a:r>
          </a:p>
          <a:p>
            <a:r>
              <a:rPr lang="fr-FR"/>
              <a:t>Chaque facture possède un numéro unique, comme </a:t>
            </a:r>
            <a:r>
              <a:rPr lang="fr-FR" b="1"/>
              <a:t>F2025-000017</a:t>
            </a:r>
            <a:r>
              <a:rPr lang="fr-FR"/>
              <a:t>, qui permet une traçabilité simple. </a:t>
            </a:r>
          </a:p>
          <a:p>
            <a:r>
              <a:rPr lang="fr-FR"/>
              <a:t>Le tout est converti en </a:t>
            </a:r>
            <a:r>
              <a:rPr lang="fr-FR" b="1"/>
              <a:t>tableau de bytes </a:t>
            </a:r>
            <a:r>
              <a:rPr lang="fr-FR"/>
              <a:t>afin de transmettre automatiquement le PDF par mail à l’employé sans le sauvegarder sur le disque.</a:t>
            </a:r>
          </a:p>
          <a:p>
            <a:pPr marL="0" marR="0" lvl="0" indent="0" algn="l" defTabSz="1075334" rtl="0" eaLnBrk="1" fontAlgn="auto" latinLnBrk="0" hangingPunct="1">
              <a:lnSpc>
                <a:spcPct val="100000"/>
              </a:lnSpc>
              <a:spcBef>
                <a:spcPts val="0"/>
              </a:spcBef>
              <a:spcAft>
                <a:spcPts val="0"/>
              </a:spcAft>
              <a:buClrTx/>
              <a:buSzTx/>
              <a:buFontTx/>
              <a:buNone/>
              <a:tabLst/>
              <a:defRPr/>
            </a:pPr>
            <a:r>
              <a:rPr lang="fr-FR"/>
              <a:t>Une fois la facture PDF générée, elle est envoyée automatiquement par email à l’employé via le service </a:t>
            </a:r>
            <a:r>
              <a:rPr lang="fr-FR" b="1"/>
              <a:t>MailService</a:t>
            </a:r>
            <a:r>
              <a:rPr lang="fr-FR"/>
              <a:t>. Et </a:t>
            </a:r>
            <a:r>
              <a:rPr lang="fr-FR" b="1"/>
              <a:t>Brevo</a:t>
            </a:r>
            <a:r>
              <a:rPr lang="fr-FR"/>
              <a:t> vérifie que tout est bien configuré pour que les mails soient acceptés par des services comme </a:t>
            </a:r>
            <a:r>
              <a:rPr lang="fr-FR" b="1"/>
              <a:t>Gmail</a:t>
            </a:r>
            <a:r>
              <a:rPr lang="fr-FR"/>
              <a:t> ou </a:t>
            </a:r>
            <a:r>
              <a:rPr lang="fr-FR" b="1"/>
              <a:t>Outlook</a:t>
            </a:r>
            <a:r>
              <a:rPr lang="fr-FR"/>
              <a:t>, sans être bloqués ni envoyés en spam.</a:t>
            </a:r>
          </a:p>
          <a:p>
            <a:pPr marL="0" marR="0" lvl="0" indent="0" algn="l" defTabSz="1075334" rtl="0" eaLnBrk="1" fontAlgn="auto" latinLnBrk="0" hangingPunct="1">
              <a:lnSpc>
                <a:spcPct val="100000"/>
              </a:lnSpc>
              <a:spcBef>
                <a:spcPts val="0"/>
              </a:spcBef>
              <a:spcAft>
                <a:spcPts val="0"/>
              </a:spcAft>
              <a:buClrTx/>
              <a:buSzTx/>
              <a:buFontTx/>
              <a:buNone/>
              <a:tabLst/>
              <a:defRPr/>
            </a:pPr>
            <a:endParaRPr lang="fr-FR"/>
          </a:p>
          <a:p>
            <a:endParaRPr lang="fr-FR" b="1"/>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22</a:t>
            </a:fld>
            <a:endParaRPr lang="fr-NC"/>
          </a:p>
        </p:txBody>
      </p:sp>
    </p:spTree>
    <p:extLst>
      <p:ext uri="{BB962C8B-B14F-4D97-AF65-F5344CB8AC3E}">
        <p14:creationId xmlns:p14="http://schemas.microsoft.com/office/powerpoint/2010/main" val="1174025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que l’application fonctionne partout de la même façon, j’ai utilisé Docker.</a:t>
            </a:r>
          </a:p>
          <a:p>
            <a:r>
              <a:rPr lang="fr-FR"/>
              <a:t> Le fichier </a:t>
            </a:r>
            <a:r>
              <a:rPr lang="fr-FR" b="1"/>
              <a:t>Dockerfile</a:t>
            </a:r>
            <a:r>
              <a:rPr lang="fr-FR"/>
              <a:t> permet de créer une </a:t>
            </a:r>
            <a:r>
              <a:rPr lang="fr-FR" b="1"/>
              <a:t>image Docker </a:t>
            </a:r>
            <a:r>
              <a:rPr lang="fr-FR"/>
              <a:t>contenant tout ce qu’il faut : le code, les outils, les réglages. </a:t>
            </a:r>
          </a:p>
          <a:p>
            <a:r>
              <a:rPr lang="fr-FR"/>
              <a:t>Ensuite, avec </a:t>
            </a:r>
            <a:r>
              <a:rPr lang="fr-FR" b="1"/>
              <a:t>Docker Compose</a:t>
            </a:r>
            <a:r>
              <a:rPr lang="fr-FR"/>
              <a:t>, je lance l’application et sa base de données dans deux conteneurs distincts, en une seule commande.</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23</a:t>
            </a:fld>
            <a:endParaRPr lang="fr-NC"/>
          </a:p>
        </p:txBody>
      </p:sp>
    </p:spTree>
    <p:extLst>
      <p:ext uri="{BB962C8B-B14F-4D97-AF65-F5344CB8AC3E}">
        <p14:creationId xmlns:p14="http://schemas.microsoft.com/office/powerpoint/2010/main" val="1424128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aller plus loin dans l’automatisation, j’ai mis en place une </a:t>
            </a:r>
            <a:r>
              <a:rPr lang="fr-FR" b="1"/>
              <a:t>pipeline CI/CD </a:t>
            </a:r>
            <a:r>
              <a:rPr lang="fr-FR"/>
              <a:t>avec </a:t>
            </a:r>
            <a:r>
              <a:rPr lang="fr-FR" b="1"/>
              <a:t>GitHub Actions </a:t>
            </a:r>
            <a:r>
              <a:rPr lang="fr-FR"/>
              <a:t>afin d'automatiser les tests et le déploiement de l'application. </a:t>
            </a:r>
          </a:p>
          <a:p>
            <a:r>
              <a:rPr lang="fr-FR"/>
              <a:t>Le pipeline se lance automatiquement lorsqu’on </a:t>
            </a:r>
            <a:r>
              <a:rPr lang="fr-FR" b="1"/>
              <a:t>push </a:t>
            </a:r>
            <a:r>
              <a:rPr lang="fr-FR"/>
              <a:t>sur la branche </a:t>
            </a:r>
            <a:r>
              <a:rPr lang="fr-FR" b="1"/>
              <a:t>Main</a:t>
            </a:r>
            <a:r>
              <a:rPr lang="fr-FR"/>
              <a:t> de </a:t>
            </a:r>
            <a:r>
              <a:rPr lang="fr-FR" b="1"/>
              <a:t>Github </a:t>
            </a:r>
          </a:p>
          <a:p>
            <a:r>
              <a:rPr lang="fr-FR"/>
              <a:t>Le  </a:t>
            </a:r>
            <a:r>
              <a:rPr lang="fr-FR" b="1"/>
              <a:t>CI/CD </a:t>
            </a:r>
            <a:r>
              <a:rPr lang="fr-FR"/>
              <a:t>prépare un environnement propre, vérifie que le code fonctionne avec génération du fichier </a:t>
            </a:r>
            <a:r>
              <a:rPr lang="fr-FR" b="1"/>
              <a:t>.jar</a:t>
            </a:r>
            <a:r>
              <a:rPr lang="fr-FR"/>
              <a:t>, construit l’application, et la déploie sur le serveur </a:t>
            </a:r>
            <a:r>
              <a:rPr lang="fr-FR" b="1"/>
              <a:t>VPS</a:t>
            </a:r>
            <a:r>
              <a:rPr lang="fr-FR"/>
              <a:t> dans le conteneur </a:t>
            </a:r>
            <a:r>
              <a:rPr lang="fr-FR" b="1"/>
              <a:t>Docker</a:t>
            </a:r>
            <a:r>
              <a:rPr lang="fr-FR"/>
              <a:t>. </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24</a:t>
            </a:fld>
            <a:endParaRPr lang="fr-NC"/>
          </a:p>
        </p:txBody>
      </p:sp>
    </p:spTree>
    <p:extLst>
      <p:ext uri="{BB962C8B-B14F-4D97-AF65-F5344CB8AC3E}">
        <p14:creationId xmlns:p14="http://schemas.microsoft.com/office/powerpoint/2010/main" val="3470036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héberger l’application, j’ai utilisé un </a:t>
            </a:r>
            <a:r>
              <a:rPr lang="fr-FR" b="1"/>
              <a:t>VPS </a:t>
            </a:r>
            <a:r>
              <a:rPr lang="fr-FR"/>
              <a:t>chez </a:t>
            </a:r>
            <a:r>
              <a:rPr lang="fr-FR" b="1"/>
              <a:t>LWS</a:t>
            </a:r>
            <a:r>
              <a:rPr lang="fr-FR"/>
              <a:t>, un hébergeur français. </a:t>
            </a:r>
          </a:p>
          <a:p>
            <a:r>
              <a:rPr lang="fr-FR"/>
              <a:t>J’y ai installé </a:t>
            </a:r>
            <a:r>
              <a:rPr lang="fr-FR" b="1"/>
              <a:t>Docker</a:t>
            </a:r>
            <a:r>
              <a:rPr lang="fr-FR"/>
              <a:t>, </a:t>
            </a:r>
            <a:r>
              <a:rPr lang="fr-FR" b="1"/>
              <a:t>Java</a:t>
            </a:r>
            <a:r>
              <a:rPr lang="fr-FR"/>
              <a:t> et </a:t>
            </a:r>
            <a:r>
              <a:rPr lang="fr-FR" b="1"/>
              <a:t>Maven</a:t>
            </a:r>
            <a:r>
              <a:rPr lang="fr-FR"/>
              <a:t>, puis sécurisé l’accès avec une </a:t>
            </a:r>
            <a:r>
              <a:rPr lang="fr-FR" b="1"/>
              <a:t>clé SSH </a:t>
            </a:r>
            <a:r>
              <a:rPr lang="fr-FR"/>
              <a:t>qui est un moyen sécurisé de se connecter à un serveur sans mot de passe, </a:t>
            </a:r>
          </a:p>
          <a:p>
            <a:r>
              <a:rPr lang="fr-FR"/>
              <a:t>grâce à une </a:t>
            </a:r>
            <a:r>
              <a:rPr lang="fr-FR" b="1"/>
              <a:t>paire de clés</a:t>
            </a:r>
            <a:r>
              <a:rPr lang="fr-FR"/>
              <a:t>, publique sur le serveur et privée sur ta machine qui s’authentifient automatiquement.</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25</a:t>
            </a:fld>
            <a:endParaRPr lang="fr-NC"/>
          </a:p>
        </p:txBody>
      </p:sp>
    </p:spTree>
    <p:extLst>
      <p:ext uri="{BB962C8B-B14F-4D97-AF65-F5344CB8AC3E}">
        <p14:creationId xmlns:p14="http://schemas.microsoft.com/office/powerpoint/2010/main" val="27565808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Une fois le serveur prêt, j’ai relié</a:t>
            </a:r>
            <a:r>
              <a:rPr lang="fr-FR" b="0"/>
              <a:t> un </a:t>
            </a:r>
            <a:r>
              <a:rPr lang="fr-FR" b="1"/>
              <a:t>nom de domaine </a:t>
            </a:r>
            <a:r>
              <a:rPr lang="fr-FR"/>
              <a:t>personnalisé pour rendre l’application accessible publiquement. </a:t>
            </a:r>
          </a:p>
          <a:p>
            <a:r>
              <a:rPr lang="fr-FR"/>
              <a:t>J’ai configuré les enregistrements </a:t>
            </a:r>
            <a:r>
              <a:rPr lang="fr-FR" b="1"/>
              <a:t>DNS</a:t>
            </a:r>
            <a:r>
              <a:rPr lang="fr-FR"/>
              <a:t>, qui traduisent le nom de domaine en </a:t>
            </a:r>
            <a:r>
              <a:rPr lang="fr-FR" b="1"/>
              <a:t>adresse IP</a:t>
            </a:r>
            <a:r>
              <a:rPr lang="fr-FR"/>
              <a:t>, pour pointer vers le </a:t>
            </a:r>
            <a:r>
              <a:rPr lang="fr-FR" b="1"/>
              <a:t>VPS</a:t>
            </a:r>
            <a:r>
              <a:rPr lang="fr-FR"/>
              <a:t>. </a:t>
            </a:r>
          </a:p>
          <a:p>
            <a:r>
              <a:rPr lang="fr-FR"/>
              <a:t>Pour sécuriser les échanges, j’ai activé le protocole </a:t>
            </a:r>
            <a:r>
              <a:rPr lang="fr-FR" b="1"/>
              <a:t>HTTPS</a:t>
            </a:r>
            <a:r>
              <a:rPr lang="fr-FR"/>
              <a:t>, qui chiffre les données entre le navigateur et le serveur grâce à un système de sécurité </a:t>
            </a:r>
            <a:r>
              <a:rPr lang="fr-FR" b="1"/>
              <a:t>SSL </a:t>
            </a:r>
            <a:r>
              <a:rPr lang="fr-FR"/>
              <a:t>qui garantit que les informations sensibles</a:t>
            </a:r>
            <a:r>
              <a:rPr lang="fr-FR" b="1"/>
              <a:t>(mails, factures) </a:t>
            </a:r>
            <a:r>
              <a:rPr lang="fr-FR"/>
              <a:t>ne peuvent pas être interceptées. </a:t>
            </a: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26</a:t>
            </a:fld>
            <a:endParaRPr lang="fr-NC"/>
          </a:p>
        </p:txBody>
      </p:sp>
    </p:spTree>
    <p:extLst>
      <p:ext uri="{BB962C8B-B14F-4D97-AF65-F5344CB8AC3E}">
        <p14:creationId xmlns:p14="http://schemas.microsoft.com/office/powerpoint/2010/main" val="1538297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tests sont essentiels pour garantir que chaque partie du code fonctionne correctement. </a:t>
            </a:r>
          </a:p>
          <a:p>
            <a:r>
              <a:rPr lang="fr-FR"/>
              <a:t>Les </a:t>
            </a:r>
            <a:r>
              <a:rPr lang="fr-FR" b="1"/>
              <a:t>tests unitaires</a:t>
            </a:r>
            <a:r>
              <a:rPr lang="fr-FR"/>
              <a:t> vérifient une méthode ou un service isolé, avec </a:t>
            </a:r>
            <a:r>
              <a:rPr lang="fr-FR" b="1"/>
              <a:t>Mockito</a:t>
            </a:r>
            <a:r>
              <a:rPr lang="fr-FR"/>
              <a:t> pour simuler les dépendances. </a:t>
            </a:r>
          </a:p>
          <a:p>
            <a:r>
              <a:rPr lang="fr-FR"/>
              <a:t>Les </a:t>
            </a:r>
            <a:r>
              <a:rPr lang="fr-FR" b="1"/>
              <a:t>tests d’intégration</a:t>
            </a:r>
            <a:r>
              <a:rPr lang="fr-FR"/>
              <a:t> valident le fonctionnement global, comme les contrôleurs ou la sécurité, avec </a:t>
            </a:r>
            <a:r>
              <a:rPr lang="fr-FR" b="1"/>
              <a:t>MockMvc</a:t>
            </a:r>
            <a:r>
              <a:rPr lang="fr-FR"/>
              <a:t> et une base </a:t>
            </a:r>
            <a:r>
              <a:rPr lang="fr-FR" b="1"/>
              <a:t>H2</a:t>
            </a:r>
            <a:r>
              <a:rPr lang="fr-FR"/>
              <a:t> en mémoire. </a:t>
            </a:r>
          </a:p>
          <a:p>
            <a:r>
              <a:rPr lang="fr-FR"/>
              <a:t>Pour cela, j’ai créé un fichier de config </a:t>
            </a:r>
            <a:r>
              <a:rPr lang="fr-FR" b="1"/>
              <a:t>application-test.properties </a:t>
            </a:r>
            <a:r>
              <a:rPr lang="fr-FR"/>
              <a:t>qui configure l’environnement de test sans toucher à la vraie base. </a:t>
            </a:r>
          </a:p>
          <a:p>
            <a:r>
              <a:rPr lang="fr-FR"/>
              <a:t>Enfin, les outils </a:t>
            </a:r>
            <a:r>
              <a:rPr lang="fr-FR" b="1"/>
              <a:t>JaCoCo</a:t>
            </a:r>
            <a:r>
              <a:rPr lang="fr-FR"/>
              <a:t> qui calcule le taux de couverture et </a:t>
            </a:r>
            <a:r>
              <a:rPr lang="fr-FR" b="1"/>
              <a:t>Surefire</a:t>
            </a:r>
            <a:r>
              <a:rPr lang="fr-FR"/>
              <a:t> qui affiche la performance des test nous donne: </a:t>
            </a:r>
            <a:r>
              <a:rPr lang="fr-FR" b="1"/>
              <a:t>100% </a:t>
            </a:r>
            <a:r>
              <a:rPr lang="fr-FR"/>
              <a:t>de réussite et </a:t>
            </a:r>
            <a:r>
              <a:rPr lang="fr-FR" b="1"/>
              <a:t>plus </a:t>
            </a:r>
            <a:r>
              <a:rPr lang="fr-FR" b="0"/>
              <a:t>de</a:t>
            </a:r>
            <a:r>
              <a:rPr lang="fr-FR" b="1"/>
              <a:t> 80% </a:t>
            </a:r>
            <a:r>
              <a:rPr lang="fr-FR"/>
              <a:t>de couverture, ce qui est un bon niveau en milieu professionnel.</a:t>
            </a:r>
          </a:p>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27</a:t>
            </a:fld>
            <a:endParaRPr lang="fr-NC"/>
          </a:p>
        </p:txBody>
      </p:sp>
    </p:spTree>
    <p:extLst>
      <p:ext uri="{BB962C8B-B14F-4D97-AF65-F5344CB8AC3E}">
        <p14:creationId xmlns:p14="http://schemas.microsoft.com/office/powerpoint/2010/main" val="3114138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6AA8B353-5F71-4331-931F-E40C380B9D7F}" type="slidenum">
              <a:rPr lang="fr-NC" smtClean="0"/>
              <a:t>28</a:t>
            </a:fld>
            <a:endParaRPr lang="fr-NC"/>
          </a:p>
        </p:txBody>
      </p:sp>
    </p:spTree>
    <p:extLst>
      <p:ext uri="{BB962C8B-B14F-4D97-AF65-F5344CB8AC3E}">
        <p14:creationId xmlns:p14="http://schemas.microsoft.com/office/powerpoint/2010/main" val="1014284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1853" y="-11855"/>
            <a:ext cx="12837726" cy="9624909"/>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82837" y="3366354"/>
            <a:ext cx="8157407" cy="2304823"/>
          </a:xfrm>
        </p:spPr>
        <p:txBody>
          <a:bodyPr anchor="b">
            <a:noAutofit/>
          </a:bodyPr>
          <a:lstStyle>
            <a:lvl1pPr algn="r">
              <a:defRPr sz="756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82837" y="5671174"/>
            <a:ext cx="8157407" cy="1535659"/>
          </a:xfrm>
        </p:spPr>
        <p:txBody>
          <a:bodyPr anchor="t"/>
          <a:lstStyle>
            <a:lvl1pPr marL="0" indent="0" algn="r">
              <a:buNone/>
              <a:defRPr>
                <a:solidFill>
                  <a:schemeClr val="tx1">
                    <a:lumMod val="50000"/>
                    <a:lumOff val="50000"/>
                  </a:schemeClr>
                </a:solidFill>
              </a:defRPr>
            </a:lvl1pPr>
            <a:lvl2pPr marL="640110" indent="0" algn="ctr">
              <a:buNone/>
              <a:defRPr>
                <a:solidFill>
                  <a:schemeClr val="tx1">
                    <a:tint val="75000"/>
                  </a:schemeClr>
                </a:solidFill>
              </a:defRPr>
            </a:lvl2pPr>
            <a:lvl3pPr marL="1280220" indent="0" algn="ctr">
              <a:buNone/>
              <a:defRPr>
                <a:solidFill>
                  <a:schemeClr val="tx1">
                    <a:tint val="75000"/>
                  </a:schemeClr>
                </a:solidFill>
              </a:defRPr>
            </a:lvl3pPr>
            <a:lvl4pPr marL="1920331" indent="0" algn="ctr">
              <a:buNone/>
              <a:defRPr>
                <a:solidFill>
                  <a:schemeClr val="tx1">
                    <a:tint val="75000"/>
                  </a:schemeClr>
                </a:solidFill>
              </a:defRPr>
            </a:lvl4pPr>
            <a:lvl5pPr marL="2560440" indent="0" algn="ctr">
              <a:buNone/>
              <a:defRPr>
                <a:solidFill>
                  <a:schemeClr val="tx1">
                    <a:tint val="75000"/>
                  </a:schemeClr>
                </a:solidFill>
              </a:defRPr>
            </a:lvl5pPr>
            <a:lvl6pPr marL="3200551" indent="0" algn="ctr">
              <a:buNone/>
              <a:defRPr>
                <a:solidFill>
                  <a:schemeClr val="tx1">
                    <a:tint val="75000"/>
                  </a:schemeClr>
                </a:solidFill>
              </a:defRPr>
            </a:lvl6pPr>
            <a:lvl7pPr marL="3840661" indent="0" algn="ctr">
              <a:buNone/>
              <a:defRPr>
                <a:solidFill>
                  <a:schemeClr val="tx1">
                    <a:tint val="75000"/>
                  </a:schemeClr>
                </a:solidFill>
              </a:defRPr>
            </a:lvl7pPr>
            <a:lvl8pPr marL="4480772" indent="0" algn="ctr">
              <a:buNone/>
              <a:defRPr>
                <a:solidFill>
                  <a:schemeClr val="tx1">
                    <a:tint val="75000"/>
                  </a:schemeClr>
                </a:solidFill>
              </a:defRPr>
            </a:lvl8pPr>
            <a:lvl9pPr marL="5120882"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C562558-1A53-4817-BEA1-4EE84B51B8BC}"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382749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C035548-58D2-4E9C-95FE-1CB204800A58}"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3955258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53441" y="3781222"/>
            <a:ext cx="8886801" cy="2557213"/>
          </a:xfrm>
        </p:spPr>
        <p:txBody>
          <a:bodyPr anchor="b"/>
          <a:lstStyle>
            <a:lvl1pPr algn="l">
              <a:defRPr sz="5600" b="0" cap="none"/>
            </a:lvl1pPr>
          </a:lstStyle>
          <a:p>
            <a:r>
              <a:rPr lang="fr-FR"/>
              <a:t>Modifiez le style du titre</a:t>
            </a:r>
            <a:endParaRPr lang="en-US" dirty="0"/>
          </a:p>
        </p:txBody>
      </p:sp>
      <p:sp>
        <p:nvSpPr>
          <p:cNvPr id="3" name="Text Placeholder 2"/>
          <p:cNvSpPr>
            <a:spLocks noGrp="1"/>
          </p:cNvSpPr>
          <p:nvPr>
            <p:ph type="body" idx="1"/>
          </p:nvPr>
        </p:nvSpPr>
        <p:spPr>
          <a:xfrm>
            <a:off x="853441" y="6338427"/>
            <a:ext cx="8886801" cy="1204560"/>
          </a:xfrm>
        </p:spPr>
        <p:txBody>
          <a:bodyPr anchor="t"/>
          <a:lstStyle>
            <a:lvl1pPr marL="0" indent="0" algn="l">
              <a:buNone/>
              <a:defRPr sz="2800">
                <a:solidFill>
                  <a:schemeClr val="tx1">
                    <a:lumMod val="50000"/>
                    <a:lumOff val="50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F7548CF-5013-4681-8948-6A36878E068A}"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4251228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853441" y="853440"/>
            <a:ext cx="8886800" cy="1849120"/>
          </a:xfrm>
        </p:spPr>
        <p:txBody>
          <a:bodyPr/>
          <a:lstStyle/>
          <a:p>
            <a:r>
              <a:rPr lang="fr-FR"/>
              <a:t>Modifiez le style du titre</a:t>
            </a:r>
            <a:endParaRPr lang="en-US" dirty="0"/>
          </a:p>
        </p:txBody>
      </p:sp>
      <p:sp>
        <p:nvSpPr>
          <p:cNvPr id="3" name="Content Placeholder 2"/>
          <p:cNvSpPr>
            <a:spLocks noGrp="1"/>
          </p:cNvSpPr>
          <p:nvPr>
            <p:ph sz="half" idx="1"/>
          </p:nvPr>
        </p:nvSpPr>
        <p:spPr>
          <a:xfrm>
            <a:off x="853442" y="3024827"/>
            <a:ext cx="4323353" cy="5433081"/>
          </a:xfrm>
        </p:spPr>
        <p:txBody>
          <a:bodyPr>
            <a:normAutofit/>
          </a:bodyPr>
          <a:lstStyle>
            <a:lvl1pPr>
              <a:defRPr sz="2520"/>
            </a:lvl1pPr>
            <a:lvl2pPr>
              <a:defRPr sz="2240"/>
            </a:lvl2pPr>
            <a:lvl3pPr>
              <a:defRPr sz="1960"/>
            </a:lvl3pPr>
            <a:lvl4pPr>
              <a:defRPr sz="1680"/>
            </a:lvl4pPr>
            <a:lvl5pPr>
              <a:defRPr sz="1680"/>
            </a:lvl5pPr>
            <a:lvl6pPr>
              <a:defRPr sz="1680"/>
            </a:lvl6pPr>
            <a:lvl7pPr>
              <a:defRPr sz="1680"/>
            </a:lvl7pPr>
            <a:lvl8pPr>
              <a:defRPr sz="1680"/>
            </a:lvl8pPr>
            <a:lvl9pPr>
              <a:defRPr sz="168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6886" y="3024827"/>
            <a:ext cx="4323354" cy="5433082"/>
          </a:xfrm>
        </p:spPr>
        <p:txBody>
          <a:bodyPr>
            <a:normAutofit/>
          </a:bodyPr>
          <a:lstStyle>
            <a:lvl1pPr>
              <a:defRPr sz="2520"/>
            </a:lvl1pPr>
            <a:lvl2pPr>
              <a:defRPr sz="2240"/>
            </a:lvl2pPr>
            <a:lvl3pPr>
              <a:defRPr sz="1960"/>
            </a:lvl3pPr>
            <a:lvl4pPr>
              <a:defRPr sz="1680"/>
            </a:lvl4pPr>
            <a:lvl5pPr>
              <a:defRPr sz="1680"/>
            </a:lvl5pPr>
            <a:lvl6pPr>
              <a:defRPr sz="1680"/>
            </a:lvl6pPr>
            <a:lvl7pPr>
              <a:defRPr sz="1680"/>
            </a:lvl7pPr>
            <a:lvl8pPr>
              <a:defRPr sz="1680"/>
            </a:lvl8pPr>
            <a:lvl9pPr>
              <a:defRPr sz="168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47D6EAD-4FA7-47CE-BFA8-E1274BD28EF5}" type="datetime1">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301593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53439" y="853440"/>
            <a:ext cx="8886798" cy="1849120"/>
          </a:xfrm>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853442" y="3025380"/>
            <a:ext cx="4326941" cy="806767"/>
          </a:xfrm>
        </p:spPr>
        <p:txBody>
          <a:bodyPr anchor="b">
            <a:noAutofit/>
          </a:bodyPr>
          <a:lstStyle>
            <a:lvl1pPr marL="0" indent="0">
              <a:buNone/>
              <a:defRPr sz="3360" b="0"/>
            </a:lvl1pPr>
            <a:lvl2pPr marL="640110" indent="0">
              <a:buNone/>
              <a:defRPr sz="2800" b="1"/>
            </a:lvl2pPr>
            <a:lvl3pPr marL="1280220" indent="0">
              <a:buNone/>
              <a:defRPr sz="2520" b="1"/>
            </a:lvl3pPr>
            <a:lvl4pPr marL="1920331" indent="0">
              <a:buNone/>
              <a:defRPr sz="2240" b="1"/>
            </a:lvl4pPr>
            <a:lvl5pPr marL="2560440" indent="0">
              <a:buNone/>
              <a:defRPr sz="2240" b="1"/>
            </a:lvl5pPr>
            <a:lvl6pPr marL="3200551" indent="0">
              <a:buNone/>
              <a:defRPr sz="2240" b="1"/>
            </a:lvl6pPr>
            <a:lvl7pPr marL="3840661" indent="0">
              <a:buNone/>
              <a:defRPr sz="2240" b="1"/>
            </a:lvl7pPr>
            <a:lvl8pPr marL="4480772" indent="0">
              <a:buNone/>
              <a:defRPr sz="2240" b="1"/>
            </a:lvl8pPr>
            <a:lvl9pPr marL="5120882" indent="0">
              <a:buNone/>
              <a:defRPr sz="2240" b="1"/>
            </a:lvl9pPr>
          </a:lstStyle>
          <a:p>
            <a:pPr lvl="0"/>
            <a:r>
              <a:rPr lang="fr-FR"/>
              <a:t>Cliquez pour modifier les styles du texte du masque</a:t>
            </a:r>
          </a:p>
        </p:txBody>
      </p:sp>
      <p:sp>
        <p:nvSpPr>
          <p:cNvPr id="4" name="Content Placeholder 3"/>
          <p:cNvSpPr>
            <a:spLocks noGrp="1"/>
          </p:cNvSpPr>
          <p:nvPr>
            <p:ph sz="half" idx="2"/>
          </p:nvPr>
        </p:nvSpPr>
        <p:spPr>
          <a:xfrm>
            <a:off x="853442" y="3832145"/>
            <a:ext cx="4326941" cy="462576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3299" y="3025380"/>
            <a:ext cx="4326941" cy="806767"/>
          </a:xfrm>
        </p:spPr>
        <p:txBody>
          <a:bodyPr anchor="b">
            <a:noAutofit/>
          </a:bodyPr>
          <a:lstStyle>
            <a:lvl1pPr marL="0" indent="0">
              <a:buNone/>
              <a:defRPr sz="3360" b="0"/>
            </a:lvl1pPr>
            <a:lvl2pPr marL="640110" indent="0">
              <a:buNone/>
              <a:defRPr sz="2800" b="1"/>
            </a:lvl2pPr>
            <a:lvl3pPr marL="1280220" indent="0">
              <a:buNone/>
              <a:defRPr sz="2520" b="1"/>
            </a:lvl3pPr>
            <a:lvl4pPr marL="1920331" indent="0">
              <a:buNone/>
              <a:defRPr sz="2240" b="1"/>
            </a:lvl4pPr>
            <a:lvl5pPr marL="2560440" indent="0">
              <a:buNone/>
              <a:defRPr sz="2240" b="1"/>
            </a:lvl5pPr>
            <a:lvl6pPr marL="3200551" indent="0">
              <a:buNone/>
              <a:defRPr sz="2240" b="1"/>
            </a:lvl6pPr>
            <a:lvl7pPr marL="3840661" indent="0">
              <a:buNone/>
              <a:defRPr sz="2240" b="1"/>
            </a:lvl7pPr>
            <a:lvl8pPr marL="4480772" indent="0">
              <a:buNone/>
              <a:defRPr sz="2240" b="1"/>
            </a:lvl8pPr>
            <a:lvl9pPr marL="5120882" indent="0">
              <a:buNone/>
              <a:defRPr sz="2240" b="1"/>
            </a:lvl9pPr>
          </a:lstStyle>
          <a:p>
            <a:pPr lvl="0"/>
            <a:r>
              <a:rPr lang="fr-FR"/>
              <a:t>Cliquez pour modifier les styles du texte du masque</a:t>
            </a:r>
          </a:p>
        </p:txBody>
      </p:sp>
      <p:sp>
        <p:nvSpPr>
          <p:cNvPr id="6" name="Content Placeholder 5"/>
          <p:cNvSpPr>
            <a:spLocks noGrp="1"/>
          </p:cNvSpPr>
          <p:nvPr>
            <p:ph sz="quarter" idx="4"/>
          </p:nvPr>
        </p:nvSpPr>
        <p:spPr>
          <a:xfrm>
            <a:off x="5413299" y="3832145"/>
            <a:ext cx="4326941" cy="462576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C665FEB-73B6-4268-9B74-E04CB64C3B0F}" type="datetime1">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1272646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853438" y="853440"/>
            <a:ext cx="8886800" cy="184912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BA751C9-70A5-4F5B-B887-120F144C7820}" type="datetime1">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1518956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56BE1-8C36-46BC-A34A-F039EDBC8467}" type="datetime1">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378177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53441" y="2098046"/>
            <a:ext cx="3906255" cy="1789852"/>
          </a:xfrm>
        </p:spPr>
        <p:txBody>
          <a:bodyPr anchor="b">
            <a:normAutofit/>
          </a:bodyPr>
          <a:lstStyle>
            <a:lvl1pPr>
              <a:defRPr sz="2800"/>
            </a:lvl1pPr>
          </a:lstStyle>
          <a:p>
            <a:r>
              <a:rPr lang="fr-FR"/>
              <a:t>Modifiez le style du titre</a:t>
            </a:r>
            <a:endParaRPr lang="en-US" dirty="0"/>
          </a:p>
        </p:txBody>
      </p:sp>
      <p:sp>
        <p:nvSpPr>
          <p:cNvPr id="3" name="Content Placeholder 2"/>
          <p:cNvSpPr>
            <a:spLocks noGrp="1"/>
          </p:cNvSpPr>
          <p:nvPr>
            <p:ph idx="1"/>
          </p:nvPr>
        </p:nvSpPr>
        <p:spPr>
          <a:xfrm>
            <a:off x="4999786" y="720896"/>
            <a:ext cx="4740452" cy="773701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3441" y="3887898"/>
            <a:ext cx="3906255" cy="3618229"/>
          </a:xfrm>
        </p:spPr>
        <p:txBody>
          <a:bodyPr>
            <a:normAutofit/>
          </a:bodyPr>
          <a:lstStyle>
            <a:lvl1pPr marL="0" indent="0">
              <a:buNone/>
              <a:defRPr sz="1960"/>
            </a:lvl1pPr>
            <a:lvl2pPr marL="480082" indent="0">
              <a:buNone/>
              <a:defRPr sz="1470"/>
            </a:lvl2pPr>
            <a:lvl3pPr marL="960165" indent="0">
              <a:buNone/>
              <a:defRPr sz="1260"/>
            </a:lvl3pPr>
            <a:lvl4pPr marL="1440248" indent="0">
              <a:buNone/>
              <a:defRPr sz="1050"/>
            </a:lvl4pPr>
            <a:lvl5pPr marL="1920331" indent="0">
              <a:buNone/>
              <a:defRPr sz="1050"/>
            </a:lvl5pPr>
            <a:lvl6pPr marL="2400414" indent="0">
              <a:buNone/>
              <a:defRPr sz="1050"/>
            </a:lvl6pPr>
            <a:lvl7pPr marL="2880496" indent="0">
              <a:buNone/>
              <a:defRPr sz="1050"/>
            </a:lvl7pPr>
            <a:lvl8pPr marL="3360578" indent="0">
              <a:buNone/>
              <a:defRPr sz="1050"/>
            </a:lvl8pPr>
            <a:lvl9pPr marL="3840661" indent="0">
              <a:buNone/>
              <a:defRPr sz="10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44CBC2B-F4CC-4526-ABAD-B97A6F36B5E4}" type="datetime1">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2197474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53438" y="6720846"/>
            <a:ext cx="8886800" cy="793433"/>
          </a:xfrm>
        </p:spPr>
        <p:txBody>
          <a:bodyPr anchor="b">
            <a:normAutofit/>
          </a:bodyPr>
          <a:lstStyle>
            <a:lvl1pPr algn="l">
              <a:defRPr sz="3360" b="0"/>
            </a:lvl1pPr>
          </a:lstStyle>
          <a:p>
            <a:r>
              <a:rPr lang="fr-FR"/>
              <a:t>Modifiez le style du titre</a:t>
            </a:r>
            <a:endParaRPr lang="en-US" dirty="0"/>
          </a:p>
        </p:txBody>
      </p:sp>
      <p:sp>
        <p:nvSpPr>
          <p:cNvPr id="3" name="Picture Placeholder 2"/>
          <p:cNvSpPr>
            <a:spLocks noGrp="1" noChangeAspect="1"/>
          </p:cNvSpPr>
          <p:nvPr>
            <p:ph type="pic" idx="1"/>
          </p:nvPr>
        </p:nvSpPr>
        <p:spPr>
          <a:xfrm>
            <a:off x="853438" y="853444"/>
            <a:ext cx="8886800" cy="5384005"/>
          </a:xfrm>
        </p:spPr>
        <p:txBody>
          <a:bodyPr anchor="t">
            <a:normAutofit/>
          </a:bodyPr>
          <a:lstStyle>
            <a:lvl1pPr marL="0" indent="0" algn="ctr">
              <a:buNone/>
              <a:defRPr sz="2240"/>
            </a:lvl1pPr>
            <a:lvl2pPr marL="640110" indent="0">
              <a:buNone/>
              <a:defRPr sz="2240"/>
            </a:lvl2pPr>
            <a:lvl3pPr marL="1280220" indent="0">
              <a:buNone/>
              <a:defRPr sz="2240"/>
            </a:lvl3pPr>
            <a:lvl4pPr marL="1920331" indent="0">
              <a:buNone/>
              <a:defRPr sz="2240"/>
            </a:lvl4pPr>
            <a:lvl5pPr marL="2560440" indent="0">
              <a:buNone/>
              <a:defRPr sz="2240"/>
            </a:lvl5pPr>
            <a:lvl6pPr marL="3200551" indent="0">
              <a:buNone/>
              <a:defRPr sz="2240"/>
            </a:lvl6pPr>
            <a:lvl7pPr marL="3840661" indent="0">
              <a:buNone/>
              <a:defRPr sz="2240"/>
            </a:lvl7pPr>
            <a:lvl8pPr marL="4480772" indent="0">
              <a:buNone/>
              <a:defRPr sz="2240"/>
            </a:lvl8pPr>
            <a:lvl9pPr marL="5120882" indent="0">
              <a:buNone/>
              <a:defRPr sz="2240"/>
            </a:lvl9pPr>
          </a:lstStyle>
          <a:p>
            <a:r>
              <a:rPr lang="fr-FR"/>
              <a:t>Cliquez sur l'icône pour ajouter une image</a:t>
            </a:r>
            <a:endParaRPr lang="en-US" dirty="0"/>
          </a:p>
        </p:txBody>
      </p:sp>
      <p:sp>
        <p:nvSpPr>
          <p:cNvPr id="4" name="Text Placeholder 3"/>
          <p:cNvSpPr>
            <a:spLocks noGrp="1"/>
          </p:cNvSpPr>
          <p:nvPr>
            <p:ph type="body" sz="half" idx="2"/>
          </p:nvPr>
        </p:nvSpPr>
        <p:spPr>
          <a:xfrm>
            <a:off x="853438" y="7514273"/>
            <a:ext cx="8886800" cy="943634"/>
          </a:xfrm>
        </p:spPr>
        <p:txBody>
          <a:bodyPr>
            <a:normAutofit/>
          </a:bodyPr>
          <a:lstStyle>
            <a:lvl1pPr marL="0" indent="0">
              <a:buNone/>
              <a:defRPr sz="1680"/>
            </a:lvl1pPr>
            <a:lvl2pPr marL="640110" indent="0">
              <a:buNone/>
              <a:defRPr sz="1680"/>
            </a:lvl2pPr>
            <a:lvl3pPr marL="1280220" indent="0">
              <a:buNone/>
              <a:defRPr sz="1400"/>
            </a:lvl3pPr>
            <a:lvl4pPr marL="1920331" indent="0">
              <a:buNone/>
              <a:defRPr sz="1260"/>
            </a:lvl4pPr>
            <a:lvl5pPr marL="2560440" indent="0">
              <a:buNone/>
              <a:defRPr sz="1260"/>
            </a:lvl5pPr>
            <a:lvl6pPr marL="3200551" indent="0">
              <a:buNone/>
              <a:defRPr sz="1260"/>
            </a:lvl6pPr>
            <a:lvl7pPr marL="3840661" indent="0">
              <a:buNone/>
              <a:defRPr sz="1260"/>
            </a:lvl7pPr>
            <a:lvl8pPr marL="4480772" indent="0">
              <a:buNone/>
              <a:defRPr sz="1260"/>
            </a:lvl8pPr>
            <a:lvl9pPr marL="5120882" indent="0">
              <a:buNone/>
              <a:defRPr sz="126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99030DE-44DB-48B6-A746-BB9584EBC866}" type="datetime1">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331479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853441" y="853440"/>
            <a:ext cx="8886800" cy="4765040"/>
          </a:xfrm>
        </p:spPr>
        <p:txBody>
          <a:bodyPr anchor="ctr">
            <a:normAutofit/>
          </a:bodyPr>
          <a:lstStyle>
            <a:lvl1pPr algn="l">
              <a:defRPr sz="6160" b="0" cap="none"/>
            </a:lvl1pPr>
          </a:lstStyle>
          <a:p>
            <a:r>
              <a:rPr lang="fr-FR"/>
              <a:t>Modifiez le style du titre</a:t>
            </a:r>
            <a:endParaRPr lang="en-US" dirty="0"/>
          </a:p>
        </p:txBody>
      </p:sp>
      <p:sp>
        <p:nvSpPr>
          <p:cNvPr id="3" name="Text Placeholder 2"/>
          <p:cNvSpPr>
            <a:spLocks noGrp="1"/>
          </p:cNvSpPr>
          <p:nvPr>
            <p:ph type="body" idx="1"/>
          </p:nvPr>
        </p:nvSpPr>
        <p:spPr>
          <a:xfrm>
            <a:off x="853441" y="6258566"/>
            <a:ext cx="8886800" cy="2199347"/>
          </a:xfrm>
        </p:spPr>
        <p:txBody>
          <a:bodyPr anchor="ctr">
            <a:normAutofit/>
          </a:bodyPr>
          <a:lstStyle>
            <a:lvl1pPr marL="0" indent="0" algn="l">
              <a:buNone/>
              <a:defRPr sz="2520">
                <a:solidFill>
                  <a:schemeClr val="tx1">
                    <a:lumMod val="75000"/>
                    <a:lumOff val="25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24860D6-EEA9-4C3F-A28F-DBC9DD46FAC9}"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331970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084842" y="853440"/>
            <a:ext cx="8501055" cy="4231640"/>
          </a:xfrm>
        </p:spPr>
        <p:txBody>
          <a:bodyPr anchor="ctr">
            <a:normAutofit/>
          </a:bodyPr>
          <a:lstStyle>
            <a:lvl1pPr algn="l">
              <a:defRPr sz="6160" b="0" cap="none"/>
            </a:lvl1pPr>
          </a:lstStyle>
          <a:p>
            <a:r>
              <a:rPr lang="fr-FR"/>
              <a:t>Modifiez le style du titre</a:t>
            </a:r>
            <a:endParaRPr lang="en-US" dirty="0"/>
          </a:p>
        </p:txBody>
      </p:sp>
      <p:sp>
        <p:nvSpPr>
          <p:cNvPr id="23" name="Text Placeholder 9"/>
          <p:cNvSpPr>
            <a:spLocks noGrp="1"/>
          </p:cNvSpPr>
          <p:nvPr>
            <p:ph type="body" sz="quarter" idx="13"/>
          </p:nvPr>
        </p:nvSpPr>
        <p:spPr>
          <a:xfrm>
            <a:off x="1541504" y="5085080"/>
            <a:ext cx="7587726" cy="533400"/>
          </a:xfrm>
        </p:spPr>
        <p:txBody>
          <a:bodyPr anchor="ctr">
            <a:noAutofit/>
          </a:bodyPr>
          <a:lstStyle>
            <a:lvl1pPr marL="0" indent="0">
              <a:buFontTx/>
              <a:buNone/>
              <a:defRPr sz="2240">
                <a:solidFill>
                  <a:schemeClr val="tx1">
                    <a:lumMod val="50000"/>
                    <a:lumOff val="50000"/>
                  </a:schemeClr>
                </a:solidFill>
              </a:defRPr>
            </a:lvl1pPr>
            <a:lvl2pPr marL="640110" indent="0">
              <a:buFontTx/>
              <a:buNone/>
              <a:defRPr/>
            </a:lvl2pPr>
            <a:lvl3pPr marL="1280220" indent="0">
              <a:buFontTx/>
              <a:buNone/>
              <a:defRPr/>
            </a:lvl3pPr>
            <a:lvl4pPr marL="1920331" indent="0">
              <a:buFontTx/>
              <a:buNone/>
              <a:defRPr/>
            </a:lvl4pPr>
            <a:lvl5pPr marL="256044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853441" y="6258566"/>
            <a:ext cx="8886801" cy="2199347"/>
          </a:xfrm>
        </p:spPr>
        <p:txBody>
          <a:bodyPr anchor="ctr">
            <a:normAutofit/>
          </a:bodyPr>
          <a:lstStyle>
            <a:lvl1pPr marL="0" indent="0" algn="l">
              <a:buNone/>
              <a:defRPr sz="2520">
                <a:solidFill>
                  <a:schemeClr val="tx1">
                    <a:lumMod val="75000"/>
                    <a:lumOff val="25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67859A-BA1C-4B2E-9349-08008DEC4F28}"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
        <p:nvSpPr>
          <p:cNvPr id="24" name="TextBox 23"/>
          <p:cNvSpPr txBox="1"/>
          <p:nvPr/>
        </p:nvSpPr>
        <p:spPr>
          <a:xfrm>
            <a:off x="675799" y="1106529"/>
            <a:ext cx="640247" cy="818686"/>
          </a:xfrm>
          <a:prstGeom prst="rect">
            <a:avLst/>
          </a:prstGeom>
        </p:spPr>
        <p:txBody>
          <a:bodyPr vert="horz" lIns="128016" tIns="64008" rIns="128016" bIns="64008" rtlCol="0" anchor="ctr">
            <a:noAutofit/>
          </a:bodyPr>
          <a:lstStyle/>
          <a:p>
            <a:pPr lvl="0"/>
            <a:r>
              <a:rPr lang="en-US" sz="11201"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9446782" y="4041179"/>
            <a:ext cx="640247" cy="818686"/>
          </a:xfrm>
          <a:prstGeom prst="rect">
            <a:avLst/>
          </a:prstGeom>
        </p:spPr>
        <p:txBody>
          <a:bodyPr vert="horz" lIns="128016" tIns="64008" rIns="128016" bIns="64008" rtlCol="0" anchor="ctr">
            <a:noAutofit/>
          </a:bodyPr>
          <a:lstStyle/>
          <a:p>
            <a:pPr lvl="0"/>
            <a:r>
              <a:rPr lang="en-US" sz="11201"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8508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853441" y="2704783"/>
            <a:ext cx="8886801" cy="3633644"/>
          </a:xfrm>
        </p:spPr>
        <p:txBody>
          <a:bodyPr anchor="b">
            <a:normAutofit/>
          </a:bodyPr>
          <a:lstStyle>
            <a:lvl1pPr algn="l">
              <a:defRPr sz="6160" b="0" cap="none"/>
            </a:lvl1pPr>
          </a:lstStyle>
          <a:p>
            <a:r>
              <a:rPr lang="fr-FR"/>
              <a:t>Modifiez le style du titre</a:t>
            </a:r>
            <a:endParaRPr lang="en-US" dirty="0"/>
          </a:p>
        </p:txBody>
      </p:sp>
      <p:sp>
        <p:nvSpPr>
          <p:cNvPr id="3" name="Text Placeholder 2"/>
          <p:cNvSpPr>
            <a:spLocks noGrp="1"/>
          </p:cNvSpPr>
          <p:nvPr>
            <p:ph type="body" idx="1"/>
          </p:nvPr>
        </p:nvSpPr>
        <p:spPr>
          <a:xfrm>
            <a:off x="853441" y="6338427"/>
            <a:ext cx="8886801" cy="2119480"/>
          </a:xfrm>
        </p:spPr>
        <p:txBody>
          <a:bodyPr anchor="t">
            <a:normAutofit/>
          </a:bodyPr>
          <a:lstStyle>
            <a:lvl1pPr marL="0" indent="0" algn="l">
              <a:buNone/>
              <a:defRPr sz="2520">
                <a:solidFill>
                  <a:schemeClr val="tx1">
                    <a:lumMod val="75000"/>
                    <a:lumOff val="25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454D4A2-7F4B-4BAB-A0F8-AC03053B533E}"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266883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084842" y="853440"/>
            <a:ext cx="8501055" cy="4231640"/>
          </a:xfrm>
        </p:spPr>
        <p:txBody>
          <a:bodyPr anchor="ctr">
            <a:normAutofit/>
          </a:bodyPr>
          <a:lstStyle>
            <a:lvl1pPr algn="l">
              <a:defRPr sz="6160" b="0" cap="none"/>
            </a:lvl1pPr>
          </a:lstStyle>
          <a:p>
            <a:r>
              <a:rPr lang="fr-FR"/>
              <a:t>Modifiez le style du titre</a:t>
            </a:r>
            <a:endParaRPr lang="en-US" dirty="0"/>
          </a:p>
        </p:txBody>
      </p:sp>
      <p:sp>
        <p:nvSpPr>
          <p:cNvPr id="23" name="Text Placeholder 9"/>
          <p:cNvSpPr>
            <a:spLocks noGrp="1"/>
          </p:cNvSpPr>
          <p:nvPr>
            <p:ph type="body" sz="quarter" idx="13"/>
          </p:nvPr>
        </p:nvSpPr>
        <p:spPr>
          <a:xfrm>
            <a:off x="853439" y="5618486"/>
            <a:ext cx="8886802" cy="719947"/>
          </a:xfrm>
        </p:spPr>
        <p:txBody>
          <a:bodyPr anchor="b">
            <a:noAutofit/>
          </a:bodyPr>
          <a:lstStyle>
            <a:lvl1pPr marL="0" indent="0">
              <a:buFontTx/>
              <a:buNone/>
              <a:defRPr sz="3360">
                <a:solidFill>
                  <a:schemeClr val="tx1">
                    <a:lumMod val="75000"/>
                    <a:lumOff val="25000"/>
                  </a:schemeClr>
                </a:solidFill>
              </a:defRPr>
            </a:lvl1pPr>
            <a:lvl2pPr marL="640110" indent="0">
              <a:buFontTx/>
              <a:buNone/>
              <a:defRPr/>
            </a:lvl2pPr>
            <a:lvl3pPr marL="1280220" indent="0">
              <a:buFontTx/>
              <a:buNone/>
              <a:defRPr/>
            </a:lvl3pPr>
            <a:lvl4pPr marL="1920331" indent="0">
              <a:buFontTx/>
              <a:buNone/>
              <a:defRPr/>
            </a:lvl4pPr>
            <a:lvl5pPr marL="256044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853441" y="6338427"/>
            <a:ext cx="8886801" cy="2119480"/>
          </a:xfrm>
        </p:spPr>
        <p:txBody>
          <a:bodyPr anchor="t">
            <a:normAutofit/>
          </a:bodyPr>
          <a:lstStyle>
            <a:lvl1pPr marL="0" indent="0" algn="l">
              <a:buNone/>
              <a:defRPr sz="2520">
                <a:solidFill>
                  <a:schemeClr val="tx1">
                    <a:lumMod val="50000"/>
                    <a:lumOff val="50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EE40D71-EEC2-4406-9BB7-890ACD41648F}"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
        <p:nvSpPr>
          <p:cNvPr id="24" name="TextBox 23"/>
          <p:cNvSpPr txBox="1"/>
          <p:nvPr/>
        </p:nvSpPr>
        <p:spPr>
          <a:xfrm>
            <a:off x="675799" y="1106529"/>
            <a:ext cx="640247" cy="818686"/>
          </a:xfrm>
          <a:prstGeom prst="rect">
            <a:avLst/>
          </a:prstGeom>
        </p:spPr>
        <p:txBody>
          <a:bodyPr vert="horz" lIns="128016" tIns="64008" rIns="128016" bIns="64008" rtlCol="0" anchor="ctr">
            <a:noAutofit/>
          </a:bodyPr>
          <a:lstStyle/>
          <a:p>
            <a:pPr lvl="0"/>
            <a:r>
              <a:rPr lang="en-US" sz="11201"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9446782" y="4041179"/>
            <a:ext cx="640247" cy="818686"/>
          </a:xfrm>
          <a:prstGeom prst="rect">
            <a:avLst/>
          </a:prstGeom>
        </p:spPr>
        <p:txBody>
          <a:bodyPr vert="horz" lIns="128016" tIns="64008" rIns="128016" bIns="64008" rtlCol="0" anchor="ctr">
            <a:noAutofit/>
          </a:bodyPr>
          <a:lstStyle/>
          <a:p>
            <a:pPr lvl="0"/>
            <a:r>
              <a:rPr lang="en-US" sz="11201"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90157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862191" y="853440"/>
            <a:ext cx="8878051" cy="4231640"/>
          </a:xfrm>
        </p:spPr>
        <p:txBody>
          <a:bodyPr anchor="ctr">
            <a:normAutofit/>
          </a:bodyPr>
          <a:lstStyle>
            <a:lvl1pPr algn="l">
              <a:defRPr sz="6160" b="0" cap="none"/>
            </a:lvl1pPr>
          </a:lstStyle>
          <a:p>
            <a:r>
              <a:rPr lang="fr-FR"/>
              <a:t>Modifiez le style du titre</a:t>
            </a:r>
            <a:endParaRPr lang="en-US" dirty="0"/>
          </a:p>
        </p:txBody>
      </p:sp>
      <p:sp>
        <p:nvSpPr>
          <p:cNvPr id="23" name="Text Placeholder 9"/>
          <p:cNvSpPr>
            <a:spLocks noGrp="1"/>
          </p:cNvSpPr>
          <p:nvPr>
            <p:ph type="body" sz="quarter" idx="13"/>
          </p:nvPr>
        </p:nvSpPr>
        <p:spPr>
          <a:xfrm>
            <a:off x="853439" y="5618486"/>
            <a:ext cx="8886802" cy="719947"/>
          </a:xfrm>
        </p:spPr>
        <p:txBody>
          <a:bodyPr anchor="b">
            <a:noAutofit/>
          </a:bodyPr>
          <a:lstStyle>
            <a:lvl1pPr marL="0" indent="0">
              <a:buFontTx/>
              <a:buNone/>
              <a:defRPr sz="3360">
                <a:solidFill>
                  <a:schemeClr val="accent1"/>
                </a:solidFill>
              </a:defRPr>
            </a:lvl1pPr>
            <a:lvl2pPr marL="640110" indent="0">
              <a:buFontTx/>
              <a:buNone/>
              <a:defRPr/>
            </a:lvl2pPr>
            <a:lvl3pPr marL="1280220" indent="0">
              <a:buFontTx/>
              <a:buNone/>
              <a:defRPr/>
            </a:lvl3pPr>
            <a:lvl4pPr marL="1920331" indent="0">
              <a:buFontTx/>
              <a:buNone/>
              <a:defRPr/>
            </a:lvl4pPr>
            <a:lvl5pPr marL="256044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853441" y="6338427"/>
            <a:ext cx="8886801" cy="2119480"/>
          </a:xfrm>
        </p:spPr>
        <p:txBody>
          <a:bodyPr anchor="t">
            <a:normAutofit/>
          </a:bodyPr>
          <a:lstStyle>
            <a:lvl1pPr marL="0" indent="0" algn="l">
              <a:buNone/>
              <a:defRPr sz="2520">
                <a:solidFill>
                  <a:schemeClr val="tx1">
                    <a:lumMod val="50000"/>
                    <a:lumOff val="50000"/>
                  </a:schemeClr>
                </a:solidFill>
              </a:defRPr>
            </a:lvl1pPr>
            <a:lvl2pPr marL="640110" indent="0">
              <a:buNone/>
              <a:defRPr sz="2520">
                <a:solidFill>
                  <a:schemeClr val="tx1">
                    <a:tint val="75000"/>
                  </a:schemeClr>
                </a:solidFill>
              </a:defRPr>
            </a:lvl2pPr>
            <a:lvl3pPr marL="1280220" indent="0">
              <a:buNone/>
              <a:defRPr sz="2240">
                <a:solidFill>
                  <a:schemeClr val="tx1">
                    <a:tint val="75000"/>
                  </a:schemeClr>
                </a:solidFill>
              </a:defRPr>
            </a:lvl3pPr>
            <a:lvl4pPr marL="1920331" indent="0">
              <a:buNone/>
              <a:defRPr sz="1960">
                <a:solidFill>
                  <a:schemeClr val="tx1">
                    <a:tint val="75000"/>
                  </a:schemeClr>
                </a:solidFill>
              </a:defRPr>
            </a:lvl4pPr>
            <a:lvl5pPr marL="2560440" indent="0">
              <a:buNone/>
              <a:defRPr sz="1960">
                <a:solidFill>
                  <a:schemeClr val="tx1">
                    <a:tint val="75000"/>
                  </a:schemeClr>
                </a:solidFill>
              </a:defRPr>
            </a:lvl5pPr>
            <a:lvl6pPr marL="3200551" indent="0">
              <a:buNone/>
              <a:defRPr sz="1960">
                <a:solidFill>
                  <a:schemeClr val="tx1">
                    <a:tint val="75000"/>
                  </a:schemeClr>
                </a:solidFill>
              </a:defRPr>
            </a:lvl6pPr>
            <a:lvl7pPr marL="3840661" indent="0">
              <a:buNone/>
              <a:defRPr sz="1960">
                <a:solidFill>
                  <a:schemeClr val="tx1">
                    <a:tint val="75000"/>
                  </a:schemeClr>
                </a:solidFill>
              </a:defRPr>
            </a:lvl7pPr>
            <a:lvl8pPr marL="4480772" indent="0">
              <a:buNone/>
              <a:defRPr sz="1960">
                <a:solidFill>
                  <a:schemeClr val="tx1">
                    <a:tint val="75000"/>
                  </a:schemeClr>
                </a:solidFill>
              </a:defRPr>
            </a:lvl8pPr>
            <a:lvl9pPr marL="5120882" indent="0">
              <a:buNone/>
              <a:defRPr sz="196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D9D871B-BA99-4722-8D16-E82D9CEA0508}"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pPr/>
              <a:t>‹N°›</a:t>
            </a:fld>
            <a:endParaRPr lang="en-US"/>
          </a:p>
        </p:txBody>
      </p:sp>
    </p:spTree>
    <p:extLst>
      <p:ext uri="{BB962C8B-B14F-4D97-AF65-F5344CB8AC3E}">
        <p14:creationId xmlns:p14="http://schemas.microsoft.com/office/powerpoint/2010/main" val="3293407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4162042-C367-4793-8DF2-7E9D1605B180}"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2326279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68240" y="853447"/>
            <a:ext cx="1370337" cy="735203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853440" y="853447"/>
            <a:ext cx="7273036" cy="735203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1A46DCC-BD2D-4B36-8843-678C6E7825C2}" type="datetime1">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smtClean="0"/>
              <a:t>‹N°›</a:t>
            </a:fld>
            <a:endParaRPr lang="en-US"/>
          </a:p>
        </p:txBody>
      </p:sp>
    </p:spTree>
    <p:extLst>
      <p:ext uri="{BB962C8B-B14F-4D97-AF65-F5344CB8AC3E}">
        <p14:creationId xmlns:p14="http://schemas.microsoft.com/office/powerpoint/2010/main" val="3847182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alpha val="0"/>
          </a:schemeClr>
        </a:solidFill>
        <a:effectLst/>
      </p:bgPr>
    </p:bg>
    <p:spTree>
      <p:nvGrpSpPr>
        <p:cNvPr id="1" name=""/>
        <p:cNvGrpSpPr/>
        <p:nvPr/>
      </p:nvGrpSpPr>
      <p:grpSpPr>
        <a:xfrm>
          <a:off x="0" y="0"/>
          <a:ext cx="0" cy="0"/>
          <a:chOff x="0" y="0"/>
          <a:chExt cx="0" cy="0"/>
        </a:xfrm>
      </p:grpSpPr>
      <p:grpSp>
        <p:nvGrpSpPr>
          <p:cNvPr id="17" name="Group 16"/>
          <p:cNvGrpSpPr/>
          <p:nvPr/>
        </p:nvGrpSpPr>
        <p:grpSpPr>
          <a:xfrm>
            <a:off x="-11850" y="-11855"/>
            <a:ext cx="12837727" cy="9624909"/>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53439" y="853440"/>
            <a:ext cx="8886798" cy="184912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853438" y="3024827"/>
            <a:ext cx="8886800" cy="543308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67364" y="8457915"/>
            <a:ext cx="957785" cy="511175"/>
          </a:xfrm>
          <a:prstGeom prst="rect">
            <a:avLst/>
          </a:prstGeom>
        </p:spPr>
        <p:txBody>
          <a:bodyPr vert="horz" lIns="91440" tIns="45720" rIns="91440" bIns="45720" rtlCol="0" anchor="ctr"/>
          <a:lstStyle>
            <a:lvl1pPr algn="r">
              <a:defRPr sz="1260">
                <a:solidFill>
                  <a:schemeClr val="tx1">
                    <a:tint val="75000"/>
                  </a:schemeClr>
                </a:solidFill>
              </a:defRPr>
            </a:lvl1pPr>
          </a:lstStyle>
          <a:p>
            <a:fld id="{FD320A1F-CB73-490A-B93C-583967D3C556}" type="datetime1">
              <a:rPr lang="en-US" smtClean="0"/>
              <a:t>10/8/2025</a:t>
            </a:fld>
            <a:endParaRPr lang="en-US"/>
          </a:p>
        </p:txBody>
      </p:sp>
      <p:sp>
        <p:nvSpPr>
          <p:cNvPr id="5" name="Footer Placeholder 4"/>
          <p:cNvSpPr>
            <a:spLocks noGrp="1"/>
          </p:cNvSpPr>
          <p:nvPr>
            <p:ph type="ftr" sz="quarter" idx="3"/>
          </p:nvPr>
        </p:nvSpPr>
        <p:spPr>
          <a:xfrm>
            <a:off x="853440" y="8457915"/>
            <a:ext cx="6472162" cy="511175"/>
          </a:xfrm>
          <a:prstGeom prst="rect">
            <a:avLst/>
          </a:prstGeom>
        </p:spPr>
        <p:txBody>
          <a:bodyPr vert="horz" lIns="91440" tIns="45720" rIns="91440" bIns="45720" rtlCol="0" anchor="ctr"/>
          <a:lstStyle>
            <a:lvl1pPr algn="l">
              <a:defRPr sz="12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022547" y="8457915"/>
            <a:ext cx="717693" cy="511175"/>
          </a:xfrm>
          <a:prstGeom prst="rect">
            <a:avLst/>
          </a:prstGeom>
        </p:spPr>
        <p:txBody>
          <a:bodyPr vert="horz" lIns="91440" tIns="45720" rIns="91440" bIns="45720" rtlCol="0" anchor="ctr"/>
          <a:lstStyle>
            <a:lvl1pPr algn="r">
              <a:defRPr sz="1260">
                <a:solidFill>
                  <a:schemeClr val="accent1"/>
                </a:solidFill>
              </a:defRPr>
            </a:lvl1pPr>
          </a:lstStyle>
          <a:p>
            <a:fld id="{69E57DC2-970A-4B3E-BB1C-7A09969E49DF}" type="slidenum">
              <a:rPr lang="en-US" smtClean="0"/>
              <a:pPr/>
              <a:t>‹N°›</a:t>
            </a:fld>
            <a:endParaRPr lang="en-US"/>
          </a:p>
        </p:txBody>
      </p:sp>
    </p:spTree>
    <p:extLst>
      <p:ext uri="{BB962C8B-B14F-4D97-AF65-F5344CB8AC3E}">
        <p14:creationId xmlns:p14="http://schemas.microsoft.com/office/powerpoint/2010/main" val="41782737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hf hdr="0" ftr="0" dt="0"/>
  <p:txStyles>
    <p:titleStyle>
      <a:lvl1pPr algn="l" defTabSz="640110" rtl="0" eaLnBrk="1" latinLnBrk="0" hangingPunct="1">
        <a:spcBef>
          <a:spcPct val="0"/>
        </a:spcBef>
        <a:buNone/>
        <a:defRPr sz="504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0082" indent="-480082" algn="l" defTabSz="640110" rtl="0" eaLnBrk="1" latinLnBrk="0" hangingPunct="1">
        <a:spcBef>
          <a:spcPts val="1400"/>
        </a:spcBef>
        <a:spcAft>
          <a:spcPts val="0"/>
        </a:spcAft>
        <a:buClr>
          <a:schemeClr val="accent1"/>
        </a:buClr>
        <a:buSzPct val="80000"/>
        <a:buFont typeface="Wingdings 3" charset="2"/>
        <a:buChar char=""/>
        <a:defRPr sz="2520" kern="1200">
          <a:solidFill>
            <a:schemeClr val="tx1">
              <a:lumMod val="75000"/>
              <a:lumOff val="25000"/>
            </a:schemeClr>
          </a:solidFill>
          <a:latin typeface="+mn-lt"/>
          <a:ea typeface="+mn-ea"/>
          <a:cs typeface="+mn-cs"/>
        </a:defRPr>
      </a:lvl1pPr>
      <a:lvl2pPr marL="1040180" indent="-400069" algn="l" defTabSz="640110" rtl="0" eaLnBrk="1" latinLnBrk="0" hangingPunct="1">
        <a:spcBef>
          <a:spcPts val="1400"/>
        </a:spcBef>
        <a:spcAft>
          <a:spcPts val="0"/>
        </a:spcAft>
        <a:buClr>
          <a:schemeClr val="accent1"/>
        </a:buClr>
        <a:buSzPct val="80000"/>
        <a:buFont typeface="Wingdings 3" charset="2"/>
        <a:buChar char=""/>
        <a:defRPr sz="2240" kern="1200">
          <a:solidFill>
            <a:schemeClr val="tx1">
              <a:lumMod val="75000"/>
              <a:lumOff val="25000"/>
            </a:schemeClr>
          </a:solidFill>
          <a:latin typeface="+mn-lt"/>
          <a:ea typeface="+mn-ea"/>
          <a:cs typeface="+mn-cs"/>
        </a:defRPr>
      </a:lvl2pPr>
      <a:lvl3pPr marL="1600276" indent="-320055" algn="l" defTabSz="640110" rtl="0" eaLnBrk="1" latinLnBrk="0" hangingPunct="1">
        <a:spcBef>
          <a:spcPts val="1400"/>
        </a:spcBef>
        <a:spcAft>
          <a:spcPts val="0"/>
        </a:spcAft>
        <a:buClr>
          <a:schemeClr val="accent1"/>
        </a:buClr>
        <a:buSzPct val="80000"/>
        <a:buFont typeface="Wingdings 3" charset="2"/>
        <a:buChar char=""/>
        <a:defRPr sz="1960" kern="1200">
          <a:solidFill>
            <a:schemeClr val="tx1">
              <a:lumMod val="75000"/>
              <a:lumOff val="25000"/>
            </a:schemeClr>
          </a:solidFill>
          <a:latin typeface="+mn-lt"/>
          <a:ea typeface="+mn-ea"/>
          <a:cs typeface="+mn-cs"/>
        </a:defRPr>
      </a:lvl3pPr>
      <a:lvl4pPr marL="2240386"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4pPr>
      <a:lvl5pPr marL="2880496"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5pPr>
      <a:lvl6pPr marL="3520606"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6pPr>
      <a:lvl7pPr marL="4160716"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7pPr>
      <a:lvl8pPr marL="4800827"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8pPr>
      <a:lvl9pPr marL="5440936" indent="-320055" algn="l" defTabSz="640110" rtl="0" eaLnBrk="1" latinLnBrk="0" hangingPunct="1">
        <a:spcBef>
          <a:spcPts val="14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9pPr>
    </p:bodyStyle>
    <p:otherStyle>
      <a:defPPr>
        <a:defRPr lang="en-US"/>
      </a:defPPr>
      <a:lvl1pPr marL="0" algn="l" defTabSz="640110" rtl="0" eaLnBrk="1" latinLnBrk="0" hangingPunct="1">
        <a:defRPr sz="2520" kern="1200">
          <a:solidFill>
            <a:schemeClr val="tx1"/>
          </a:solidFill>
          <a:latin typeface="+mn-lt"/>
          <a:ea typeface="+mn-ea"/>
          <a:cs typeface="+mn-cs"/>
        </a:defRPr>
      </a:lvl1pPr>
      <a:lvl2pPr marL="640110" algn="l" defTabSz="640110" rtl="0" eaLnBrk="1" latinLnBrk="0" hangingPunct="1">
        <a:defRPr sz="2520" kern="1200">
          <a:solidFill>
            <a:schemeClr val="tx1"/>
          </a:solidFill>
          <a:latin typeface="+mn-lt"/>
          <a:ea typeface="+mn-ea"/>
          <a:cs typeface="+mn-cs"/>
        </a:defRPr>
      </a:lvl2pPr>
      <a:lvl3pPr marL="1280220" algn="l" defTabSz="640110" rtl="0" eaLnBrk="1" latinLnBrk="0" hangingPunct="1">
        <a:defRPr sz="2520" kern="1200">
          <a:solidFill>
            <a:schemeClr val="tx1"/>
          </a:solidFill>
          <a:latin typeface="+mn-lt"/>
          <a:ea typeface="+mn-ea"/>
          <a:cs typeface="+mn-cs"/>
        </a:defRPr>
      </a:lvl3pPr>
      <a:lvl4pPr marL="1920331" algn="l" defTabSz="640110" rtl="0" eaLnBrk="1" latinLnBrk="0" hangingPunct="1">
        <a:defRPr sz="2520" kern="1200">
          <a:solidFill>
            <a:schemeClr val="tx1"/>
          </a:solidFill>
          <a:latin typeface="+mn-lt"/>
          <a:ea typeface="+mn-ea"/>
          <a:cs typeface="+mn-cs"/>
        </a:defRPr>
      </a:lvl4pPr>
      <a:lvl5pPr marL="2560440" algn="l" defTabSz="640110" rtl="0" eaLnBrk="1" latinLnBrk="0" hangingPunct="1">
        <a:defRPr sz="2520" kern="1200">
          <a:solidFill>
            <a:schemeClr val="tx1"/>
          </a:solidFill>
          <a:latin typeface="+mn-lt"/>
          <a:ea typeface="+mn-ea"/>
          <a:cs typeface="+mn-cs"/>
        </a:defRPr>
      </a:lvl5pPr>
      <a:lvl6pPr marL="3200551" algn="l" defTabSz="640110" rtl="0" eaLnBrk="1" latinLnBrk="0" hangingPunct="1">
        <a:defRPr sz="2520" kern="1200">
          <a:solidFill>
            <a:schemeClr val="tx1"/>
          </a:solidFill>
          <a:latin typeface="+mn-lt"/>
          <a:ea typeface="+mn-ea"/>
          <a:cs typeface="+mn-cs"/>
        </a:defRPr>
      </a:lvl6pPr>
      <a:lvl7pPr marL="3840661" algn="l" defTabSz="640110" rtl="0" eaLnBrk="1" latinLnBrk="0" hangingPunct="1">
        <a:defRPr sz="2520" kern="1200">
          <a:solidFill>
            <a:schemeClr val="tx1"/>
          </a:solidFill>
          <a:latin typeface="+mn-lt"/>
          <a:ea typeface="+mn-ea"/>
          <a:cs typeface="+mn-cs"/>
        </a:defRPr>
      </a:lvl7pPr>
      <a:lvl8pPr marL="4480772" algn="l" defTabSz="640110" rtl="0" eaLnBrk="1" latinLnBrk="0" hangingPunct="1">
        <a:defRPr sz="2520" kern="1200">
          <a:solidFill>
            <a:schemeClr val="tx1"/>
          </a:solidFill>
          <a:latin typeface="+mn-lt"/>
          <a:ea typeface="+mn-ea"/>
          <a:cs typeface="+mn-cs"/>
        </a:defRPr>
      </a:lvl8pPr>
      <a:lvl9pPr marL="5120882" algn="l" defTabSz="640110" rtl="0" eaLnBrk="1" latinLnBrk="0" hangingPunct="1">
        <a:defRPr sz="25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5" userDrawn="1">
          <p15:clr>
            <a:srgbClr val="F26B43"/>
          </p15:clr>
        </p15:guide>
        <p15:guide id="2" orient="horz" pos="2016" userDrawn="1">
          <p15:clr>
            <a:srgbClr val="F26B43"/>
          </p15:clr>
        </p15:guide>
        <p15:guide id="3" orient="horz" pos="5174" userDrawn="1">
          <p15:clr>
            <a:srgbClr val="F26B43"/>
          </p15:clr>
        </p15:guide>
        <p15:guide id="4" orient="horz" pos="605" userDrawn="1">
          <p15:clr>
            <a:srgbClr val="F26B43"/>
          </p15:clr>
        </p15:guide>
        <p15:guide id="5" orient="horz" pos="2117" userDrawn="1">
          <p15:clr>
            <a:srgbClr val="F26B43"/>
          </p15:clr>
        </p15:guide>
        <p15:guide id="6" pos="7258" userDrawn="1">
          <p15:clr>
            <a:srgbClr val="F26B43"/>
          </p15:clr>
        </p15:guide>
        <p15:guide id="7" pos="983" userDrawn="1">
          <p15:clr>
            <a:srgbClr val="F26B43"/>
          </p15:clr>
        </p15:guide>
        <p15:guide id="8" pos="90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9"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microsoft.com/office/2007/relationships/hdphoto" Target="../media/hdphoto3.wdp"/></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2.sv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4.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alpha val="96000"/>
          </a:schemeClr>
        </a:solidFill>
        <a:effectLst/>
      </p:bgPr>
    </p:bg>
    <p:spTree>
      <p:nvGrpSpPr>
        <p:cNvPr id="1" name=""/>
        <p:cNvGrpSpPr/>
        <p:nvPr/>
      </p:nvGrpSpPr>
      <p:grpSpPr>
        <a:xfrm>
          <a:off x="0" y="0"/>
          <a:ext cx="0" cy="0"/>
          <a:chOff x="0" y="0"/>
          <a:chExt cx="0" cy="0"/>
        </a:xfrm>
      </p:grpSpPr>
      <p:sp>
        <p:nvSpPr>
          <p:cNvPr id="9" name="Ellipse 8">
            <a:extLst>
              <a:ext uri="{FF2B5EF4-FFF2-40B4-BE49-F238E27FC236}">
                <a16:creationId xmlns:a16="http://schemas.microsoft.com/office/drawing/2014/main" id="{3D79AC32-0852-4CAD-403D-F74A2B78E97F}"/>
              </a:ext>
            </a:extLst>
          </p:cNvPr>
          <p:cNvSpPr/>
          <p:nvPr/>
        </p:nvSpPr>
        <p:spPr>
          <a:xfrm>
            <a:off x="4381501" y="2844404"/>
            <a:ext cx="4038600" cy="3912394"/>
          </a:xfrm>
          <a:prstGeom prst="ellipse">
            <a:avLst/>
          </a:prstGeom>
          <a:noFill/>
          <a:ln w="1905000" cap="flat" cmpd="sng">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1271C3D-4090-4CCA-26C8-2B7EB3F3BC5B}"/>
              </a:ext>
            </a:extLst>
          </p:cNvPr>
          <p:cNvSpPr/>
          <p:nvPr/>
        </p:nvSpPr>
        <p:spPr>
          <a:xfrm>
            <a:off x="4839201" y="3173698"/>
            <a:ext cx="3123206" cy="3253806"/>
          </a:xfrm>
          <a:prstGeom prst="ellipse">
            <a:avLst/>
          </a:prstGeom>
          <a:noFill/>
          <a:ln w="1905000" cap="flat" cmpd="sng">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92403DD-6D8C-53FB-A6D5-3CB7BA8201E3}"/>
              </a:ext>
            </a:extLst>
          </p:cNvPr>
          <p:cNvSpPr/>
          <p:nvPr/>
        </p:nvSpPr>
        <p:spPr>
          <a:xfrm>
            <a:off x="5193056" y="3592856"/>
            <a:ext cx="2415492" cy="2415492"/>
          </a:xfrm>
          <a:prstGeom prst="ellipse">
            <a:avLst/>
          </a:prstGeom>
          <a:noFill/>
          <a:ln w="1905000" cap="flat" cmpd="sng">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625CC663-BD6B-8D94-9FC3-D8EACC1C556B}"/>
              </a:ext>
            </a:extLst>
          </p:cNvPr>
          <p:cNvSpPr/>
          <p:nvPr/>
        </p:nvSpPr>
        <p:spPr>
          <a:xfrm rot="10419953">
            <a:off x="5366626" y="3859172"/>
            <a:ext cx="1854852" cy="1882858"/>
          </a:xfrm>
          <a:prstGeom prst="ellipse">
            <a:avLst/>
          </a:prstGeom>
          <a:noFill/>
          <a:ln w="76200" cap="flat" cmpd="sng">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Picture 2">
            <a:extLst>
              <a:ext uri="{FF2B5EF4-FFF2-40B4-BE49-F238E27FC236}">
                <a16:creationId xmlns:a16="http://schemas.microsoft.com/office/drawing/2014/main" id="{BE99B9B4-F0C2-7D89-3760-D686B399584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07576" y="4107376"/>
            <a:ext cx="1231006" cy="1231006"/>
          </a:xfrm>
          <a:prstGeom prst="ellipse">
            <a:avLst/>
          </a:prstGeom>
          <a:noFill/>
          <a:ln>
            <a:noFill/>
          </a:ln>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314D7CD2-834A-F79B-C6D7-2AB4F3BFEC0A}"/>
              </a:ext>
            </a:extLst>
          </p:cNvPr>
          <p:cNvSpPr txBox="1"/>
          <p:nvPr/>
        </p:nvSpPr>
        <p:spPr>
          <a:xfrm>
            <a:off x="4268574" y="7246615"/>
            <a:ext cx="4607352" cy="708014"/>
          </a:xfrm>
          <a:prstGeom prst="rect">
            <a:avLst/>
          </a:prstGeom>
          <a:noFill/>
        </p:spPr>
        <p:txBody>
          <a:bodyPr wrap="none" rtlCol="0">
            <a:spAutoFit/>
          </a:bodyPr>
          <a:lstStyle/>
          <a:p>
            <a:r>
              <a:rPr lang="fr-FR" sz="4001" b="1" i="1">
                <a:solidFill>
                  <a:srgbClr val="000000"/>
                </a:solidFill>
              </a:rPr>
              <a:t>Laurent AGOUROU</a:t>
            </a:r>
          </a:p>
        </p:txBody>
      </p:sp>
      <p:pic>
        <p:nvPicPr>
          <p:cNvPr id="5" name="Image 4">
            <a:extLst>
              <a:ext uri="{FF2B5EF4-FFF2-40B4-BE49-F238E27FC236}">
                <a16:creationId xmlns:a16="http://schemas.microsoft.com/office/drawing/2014/main" id="{30D501DA-516B-F4BE-B76F-E957138C7A5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66013" y="1912747"/>
            <a:ext cx="5422366" cy="2380583"/>
          </a:xfrm>
          <a:prstGeom prst="rect">
            <a:avLst/>
          </a:prstGeom>
          <a:noFill/>
        </p:spPr>
      </p:pic>
      <p:sp>
        <p:nvSpPr>
          <p:cNvPr id="8" name="ZoneTexte 7">
            <a:extLst>
              <a:ext uri="{FF2B5EF4-FFF2-40B4-BE49-F238E27FC236}">
                <a16:creationId xmlns:a16="http://schemas.microsoft.com/office/drawing/2014/main" id="{D48E5BE6-775B-C9FF-294F-308AE21CCBF9}"/>
              </a:ext>
            </a:extLst>
          </p:cNvPr>
          <p:cNvSpPr txBox="1"/>
          <p:nvPr/>
        </p:nvSpPr>
        <p:spPr>
          <a:xfrm>
            <a:off x="3352707" y="4646077"/>
            <a:ext cx="6429374" cy="1754326"/>
          </a:xfrm>
          <a:prstGeom prst="rect">
            <a:avLst/>
          </a:prstGeom>
          <a:noFill/>
        </p:spPr>
        <p:txBody>
          <a:bodyPr wrap="square">
            <a:spAutoFit/>
          </a:bodyPr>
          <a:lstStyle/>
          <a:p>
            <a:pPr algn="ctr"/>
            <a:r>
              <a:rPr lang="fr-FR" sz="3600" b="1"/>
              <a:t>Titre Professionnel</a:t>
            </a:r>
          </a:p>
          <a:p>
            <a:pPr algn="ctr"/>
            <a:r>
              <a:rPr lang="fr-FR" sz="3600" b="1" i="1">
                <a:solidFill>
                  <a:srgbClr val="C00000"/>
                </a:solidFill>
              </a:rPr>
              <a:t>Concepteur Développeur d’Applications (CDA)</a:t>
            </a:r>
          </a:p>
        </p:txBody>
      </p:sp>
      <p:sp>
        <p:nvSpPr>
          <p:cNvPr id="2" name="Espace réservé du numéro de diapositive 1">
            <a:extLst>
              <a:ext uri="{FF2B5EF4-FFF2-40B4-BE49-F238E27FC236}">
                <a16:creationId xmlns:a16="http://schemas.microsoft.com/office/drawing/2014/main" id="{6D06634D-EE40-A842-4DCF-DFD574C95559}"/>
              </a:ext>
            </a:extLst>
          </p:cNvPr>
          <p:cNvSpPr>
            <a:spLocks noGrp="1"/>
          </p:cNvSpPr>
          <p:nvPr>
            <p:ph type="sldNum" sz="quarter" idx="12"/>
          </p:nvPr>
        </p:nvSpPr>
        <p:spPr>
          <a:xfrm>
            <a:off x="12083907" y="9090025"/>
            <a:ext cx="717693" cy="511175"/>
          </a:xfrm>
        </p:spPr>
        <p:txBody>
          <a:bodyPr/>
          <a:lstStyle/>
          <a:p>
            <a:fld id="{69E57DC2-970A-4B3E-BB1C-7A09969E49DF}" type="slidenum">
              <a:rPr lang="en-US" sz="2800" b="1" smtClean="0">
                <a:solidFill>
                  <a:schemeClr val="tx1">
                    <a:lumMod val="95000"/>
                    <a:lumOff val="5000"/>
                  </a:schemeClr>
                </a:solidFill>
              </a:rPr>
              <a:pPr/>
              <a:t>1</a:t>
            </a:fld>
            <a:endParaRPr lang="en-US" sz="2800" b="1">
              <a:solidFill>
                <a:schemeClr val="tx1">
                  <a:lumMod val="95000"/>
                  <a:lumOff val="5000"/>
                </a:schemeClr>
              </a:solidFill>
            </a:endParaRPr>
          </a:p>
        </p:txBody>
      </p:sp>
    </p:spTree>
    <p:extLst>
      <p:ext uri="{BB962C8B-B14F-4D97-AF65-F5344CB8AC3E}">
        <p14:creationId xmlns:p14="http://schemas.microsoft.com/office/powerpoint/2010/main" val="3739196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lipse 8">
            <a:extLst>
              <a:ext uri="{FF2B5EF4-FFF2-40B4-BE49-F238E27FC236}">
                <a16:creationId xmlns:a16="http://schemas.microsoft.com/office/drawing/2014/main" id="{3D79AC32-0852-4CAD-403D-F74A2B78E97F}"/>
              </a:ext>
            </a:extLst>
          </p:cNvPr>
          <p:cNvSpPr/>
          <p:nvPr/>
        </p:nvSpPr>
        <p:spPr>
          <a:xfrm>
            <a:off x="-492369" y="-1864178"/>
            <a:ext cx="13293969" cy="13083163"/>
          </a:xfrm>
          <a:prstGeom prst="ellipse">
            <a:avLst/>
          </a:prstGeom>
          <a:noFill/>
          <a:ln w="1905000" cap="flat" cmpd="sng">
            <a:solidFill>
              <a:srgbClr val="830C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1271C3D-4090-4CCA-26C8-2B7EB3F3BC5B}"/>
              </a:ext>
            </a:extLst>
          </p:cNvPr>
          <p:cNvSpPr/>
          <p:nvPr/>
        </p:nvSpPr>
        <p:spPr>
          <a:xfrm>
            <a:off x="1080411" y="-742270"/>
            <a:ext cx="10640786" cy="11085740"/>
          </a:xfrm>
          <a:prstGeom prst="ellipse">
            <a:avLst/>
          </a:prstGeom>
          <a:noFill/>
          <a:ln w="1905000" cap="flat" cmpd="sng">
            <a:solidFill>
              <a:srgbClr val="F952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92403DD-6D8C-53FB-A6D5-3CB7BA8201E3}"/>
              </a:ext>
            </a:extLst>
          </p:cNvPr>
          <p:cNvSpPr/>
          <p:nvPr/>
        </p:nvSpPr>
        <p:spPr>
          <a:xfrm>
            <a:off x="2286002" y="685802"/>
            <a:ext cx="8229600" cy="8229600"/>
          </a:xfrm>
          <a:prstGeom prst="ellipse">
            <a:avLst/>
          </a:prstGeom>
          <a:noFill/>
          <a:ln w="1905000" cap="flat" cmpd="sng">
            <a:solidFill>
              <a:srgbClr val="F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625CC663-BD6B-8D94-9FC3-D8EACC1C556B}"/>
              </a:ext>
            </a:extLst>
          </p:cNvPr>
          <p:cNvSpPr/>
          <p:nvPr/>
        </p:nvSpPr>
        <p:spPr>
          <a:xfrm>
            <a:off x="3241052" y="1593144"/>
            <a:ext cx="6319498" cy="6414918"/>
          </a:xfrm>
          <a:prstGeom prst="ellipse">
            <a:avLst/>
          </a:prstGeom>
          <a:noFill/>
          <a:ln w="76200" cap="flat" cmpd="sng">
            <a:solidFill>
              <a:srgbClr val="0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 conception, logo, Graphique&#10;&#10;Le contenu généré par l’IA peut être incorrect.">
            <a:extLst>
              <a:ext uri="{FF2B5EF4-FFF2-40B4-BE49-F238E27FC236}">
                <a16:creationId xmlns:a16="http://schemas.microsoft.com/office/drawing/2014/main" id="{A8A9B5C7-AD0F-2F18-C5F5-8114D9C7D764}"/>
              </a:ext>
            </a:extLst>
          </p:cNvPr>
          <p:cNvPicPr>
            <a:picLocks noChangeAspect="1"/>
          </p:cNvPicPr>
          <p:nvPr/>
        </p:nvPicPr>
        <p:blipFill>
          <a:blip r:embed="rId3"/>
          <a:stretch>
            <a:fillRect/>
          </a:stretch>
        </p:blipFill>
        <p:spPr>
          <a:xfrm>
            <a:off x="3145633" y="1593141"/>
            <a:ext cx="6414917" cy="6414917"/>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 name="Espace réservé du numéro de diapositive 1">
            <a:extLst>
              <a:ext uri="{FF2B5EF4-FFF2-40B4-BE49-F238E27FC236}">
                <a16:creationId xmlns:a16="http://schemas.microsoft.com/office/drawing/2014/main" id="{AF96B15D-7429-9A73-8008-8EAB8FBBADE2}"/>
              </a:ext>
            </a:extLst>
          </p:cNvPr>
          <p:cNvSpPr>
            <a:spLocks noGrp="1"/>
          </p:cNvSpPr>
          <p:nvPr>
            <p:ph type="sldNum" sz="quarter" idx="12"/>
          </p:nvPr>
        </p:nvSpPr>
        <p:spPr/>
        <p:txBody>
          <a:bodyPr/>
          <a:lstStyle/>
          <a:p>
            <a:fld id="{69E57DC2-970A-4B3E-BB1C-7A09969E49DF}" type="slidenum">
              <a:rPr lang="en-US" smtClean="0"/>
              <a:pPr/>
              <a:t>2</a:t>
            </a:fld>
            <a:endParaRPr lang="en-US"/>
          </a:p>
        </p:txBody>
      </p:sp>
    </p:spTree>
    <p:extLst>
      <p:ext uri="{BB962C8B-B14F-4D97-AF65-F5344CB8AC3E}">
        <p14:creationId xmlns:p14="http://schemas.microsoft.com/office/powerpoint/2010/main" val="255031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EAA2F3-0311-C699-85DB-39B4787803DE}"/>
              </a:ext>
            </a:extLst>
          </p:cNvPr>
          <p:cNvSpPr>
            <a:spLocks noGrp="1"/>
          </p:cNvSpPr>
          <p:nvPr>
            <p:ph type="title"/>
          </p:nvPr>
        </p:nvSpPr>
        <p:spPr>
          <a:xfrm>
            <a:off x="1957404" y="1215390"/>
            <a:ext cx="8748699" cy="2327910"/>
          </a:xfrm>
        </p:spPr>
        <p:txBody>
          <a:bodyPr>
            <a:normAutofit fontScale="90000"/>
          </a:bodyPr>
          <a:lstStyle/>
          <a:p>
            <a:pPr algn="ctr"/>
            <a:r>
              <a:rPr lang="fr-FR" sz="5300" b="1" u="sng"/>
              <a:t>Contexte personnel:</a:t>
            </a:r>
            <a:br>
              <a:rPr lang="fr-FR" sz="4801" b="1" u="sng"/>
            </a:br>
            <a:br>
              <a:rPr lang="fr-FR" sz="4801" b="1" u="sng"/>
            </a:br>
            <a:r>
              <a:rPr lang="fr-FR" sz="4801">
                <a:solidFill>
                  <a:schemeClr val="tx1"/>
                </a:solidFill>
              </a:rPr>
              <a:t>Entreprise de découpe de viande</a:t>
            </a:r>
          </a:p>
        </p:txBody>
      </p:sp>
      <p:pic>
        <p:nvPicPr>
          <p:cNvPr id="4" name="Image 3">
            <a:extLst>
              <a:ext uri="{FF2B5EF4-FFF2-40B4-BE49-F238E27FC236}">
                <a16:creationId xmlns:a16="http://schemas.microsoft.com/office/drawing/2014/main" id="{E3597207-D71A-34B9-38F8-4F226879E96E}"/>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rcRect l="1488" t="2155" r="2233" b="3837"/>
          <a:stretch/>
        </p:blipFill>
        <p:spPr>
          <a:xfrm>
            <a:off x="0" y="3752851"/>
            <a:ext cx="12870348" cy="5848350"/>
          </a:xfrm>
          <a:prstGeom prst="rect">
            <a:avLst/>
          </a:prstGeom>
          <a:ln>
            <a:noFill/>
          </a:ln>
        </p:spPr>
      </p:pic>
      <p:sp>
        <p:nvSpPr>
          <p:cNvPr id="3" name="Espace réservé du numéro de diapositive 2">
            <a:extLst>
              <a:ext uri="{FF2B5EF4-FFF2-40B4-BE49-F238E27FC236}">
                <a16:creationId xmlns:a16="http://schemas.microsoft.com/office/drawing/2014/main" id="{D39E5832-4586-6BAE-BC32-E280FD1EA144}"/>
              </a:ext>
            </a:extLst>
          </p:cNvPr>
          <p:cNvSpPr>
            <a:spLocks noGrp="1"/>
          </p:cNvSpPr>
          <p:nvPr>
            <p:ph type="sldNum" sz="quarter" idx="12"/>
          </p:nvPr>
        </p:nvSpPr>
        <p:spPr/>
        <p:txBody>
          <a:bodyPr/>
          <a:lstStyle/>
          <a:p>
            <a:fld id="{69E57DC2-970A-4B3E-BB1C-7A09969E49DF}" type="slidenum">
              <a:rPr lang="en-US" smtClean="0"/>
              <a:t>3</a:t>
            </a:fld>
            <a:endParaRPr lang="en-US"/>
          </a:p>
        </p:txBody>
      </p:sp>
    </p:spTree>
    <p:extLst>
      <p:ext uri="{BB962C8B-B14F-4D97-AF65-F5344CB8AC3E}">
        <p14:creationId xmlns:p14="http://schemas.microsoft.com/office/powerpoint/2010/main" val="1300953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130A31-9C52-16CC-31B1-B8F09AB83379}"/>
              </a:ext>
            </a:extLst>
          </p:cNvPr>
          <p:cNvSpPr/>
          <p:nvPr/>
        </p:nvSpPr>
        <p:spPr>
          <a:xfrm>
            <a:off x="7835153" y="-161365"/>
            <a:ext cx="5235388" cy="97625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3C45E211-F929-ED71-706F-FA11C13371DD}"/>
              </a:ext>
            </a:extLst>
          </p:cNvPr>
          <p:cNvSpPr>
            <a:spLocks noGrp="1"/>
          </p:cNvSpPr>
          <p:nvPr>
            <p:ph type="title"/>
          </p:nvPr>
        </p:nvSpPr>
        <p:spPr>
          <a:xfrm>
            <a:off x="1385760" y="335483"/>
            <a:ext cx="9364043" cy="2537460"/>
          </a:xfrm>
        </p:spPr>
        <p:txBody>
          <a:bodyPr>
            <a:normAutofit fontScale="90000"/>
          </a:bodyPr>
          <a:lstStyle/>
          <a:p>
            <a:pPr algn="ctr"/>
            <a:r>
              <a:rPr lang="fr-FR" sz="4801" b="1" u="sng"/>
              <a:t>Objectif de l’application: </a:t>
            </a:r>
            <a:br>
              <a:rPr lang="fr-FR" sz="4801" b="1" u="sng"/>
            </a:br>
            <a:br>
              <a:rPr lang="fr-FR" sz="4801" b="1" u="sng"/>
            </a:br>
            <a:r>
              <a:rPr lang="fr-FR" sz="4000">
                <a:solidFill>
                  <a:schemeClr val="tx1"/>
                </a:solidFill>
              </a:rPr>
              <a:t>Gestion des produits alimentaires (viandes transformées et non transformées)</a:t>
            </a:r>
            <a:br>
              <a:rPr lang="fr-FR" sz="4801" b="1">
                <a:solidFill>
                  <a:schemeClr val="tx1"/>
                </a:solidFill>
              </a:rPr>
            </a:br>
            <a:endParaRPr lang="fr-FR" sz="4801"/>
          </a:p>
        </p:txBody>
      </p:sp>
      <p:sp>
        <p:nvSpPr>
          <p:cNvPr id="3" name="Espace réservé du contenu 2">
            <a:extLst>
              <a:ext uri="{FF2B5EF4-FFF2-40B4-BE49-F238E27FC236}">
                <a16:creationId xmlns:a16="http://schemas.microsoft.com/office/drawing/2014/main" id="{E4BFBB85-9397-F4EB-D9F1-39B862B32991}"/>
              </a:ext>
            </a:extLst>
          </p:cNvPr>
          <p:cNvSpPr>
            <a:spLocks noGrp="1"/>
          </p:cNvSpPr>
          <p:nvPr>
            <p:ph idx="1"/>
          </p:nvPr>
        </p:nvSpPr>
        <p:spPr>
          <a:xfrm>
            <a:off x="731520" y="3369791"/>
            <a:ext cx="11711492" cy="5164610"/>
          </a:xfrm>
        </p:spPr>
        <p:txBody>
          <a:bodyPr>
            <a:normAutofit lnSpcReduction="10000"/>
          </a:bodyPr>
          <a:lstStyle/>
          <a:p>
            <a:endParaRPr lang="fr-FR" sz="3200" b="1">
              <a:solidFill>
                <a:schemeClr val="tx1"/>
              </a:solidFill>
            </a:endParaRPr>
          </a:p>
          <a:p>
            <a:r>
              <a:rPr lang="fr-FR" sz="3200" b="1">
                <a:solidFill>
                  <a:schemeClr val="tx1"/>
                </a:solidFill>
              </a:rPr>
              <a:t>📲 Gestion claire des produits : Engeristrement et Scan des produits avec scanner filaire</a:t>
            </a:r>
          </a:p>
          <a:p>
            <a:endParaRPr lang="fr-FR" sz="3200" b="1">
              <a:solidFill>
                <a:schemeClr val="tx1"/>
              </a:solidFill>
            </a:endParaRPr>
          </a:p>
          <a:p>
            <a:r>
              <a:rPr lang="fr-FR" sz="3200" b="1">
                <a:solidFill>
                  <a:schemeClr val="tx1"/>
                </a:solidFill>
              </a:rPr>
              <a:t>🔍 Traçabilité par utilisateur :  Suivi des scans par utilisateur </a:t>
            </a:r>
          </a:p>
          <a:p>
            <a:endParaRPr lang="fr-FR" sz="3200" b="1">
              <a:solidFill>
                <a:schemeClr val="tx1"/>
              </a:solidFill>
            </a:endParaRPr>
          </a:p>
          <a:p>
            <a:endParaRPr lang="fr-FR" sz="3200" b="1">
              <a:solidFill>
                <a:schemeClr val="tx1"/>
              </a:solidFill>
            </a:endParaRPr>
          </a:p>
          <a:p>
            <a:r>
              <a:rPr lang="fr-FR" sz="3200" b="1">
                <a:solidFill>
                  <a:schemeClr val="tx1"/>
                </a:solidFill>
              </a:rPr>
              <a:t>💳 </a:t>
            </a:r>
            <a:r>
              <a:rPr lang="fr-FR" sz="3200"/>
              <a:t>🔐</a:t>
            </a:r>
            <a:r>
              <a:rPr lang="fr-FR" sz="3200" b="1">
                <a:solidFill>
                  <a:schemeClr val="tx1"/>
                </a:solidFill>
              </a:rPr>
              <a:t>Paiement sécurisée et génération de factures PDF</a:t>
            </a:r>
          </a:p>
        </p:txBody>
      </p:sp>
      <p:sp>
        <p:nvSpPr>
          <p:cNvPr id="5" name="Espace réservé du numéro de diapositive 4">
            <a:extLst>
              <a:ext uri="{FF2B5EF4-FFF2-40B4-BE49-F238E27FC236}">
                <a16:creationId xmlns:a16="http://schemas.microsoft.com/office/drawing/2014/main" id="{435A58C3-4F81-9345-325B-5D27998FBECA}"/>
              </a:ext>
            </a:extLst>
          </p:cNvPr>
          <p:cNvSpPr>
            <a:spLocks noGrp="1"/>
          </p:cNvSpPr>
          <p:nvPr>
            <p:ph type="sldNum" sz="quarter" idx="12"/>
          </p:nvPr>
        </p:nvSpPr>
        <p:spPr>
          <a:xfrm>
            <a:off x="12083907" y="9031249"/>
            <a:ext cx="717693" cy="511175"/>
          </a:xfrm>
        </p:spPr>
        <p:txBody>
          <a:bodyPr/>
          <a:lstStyle/>
          <a:p>
            <a:fld id="{69E57DC2-970A-4B3E-BB1C-7A09969E49DF}" type="slidenum">
              <a:rPr lang="en-US" sz="2800" b="1" smtClean="0">
                <a:solidFill>
                  <a:schemeClr val="tx1">
                    <a:lumMod val="95000"/>
                    <a:lumOff val="5000"/>
                  </a:schemeClr>
                </a:solidFill>
              </a:rPr>
              <a:t>4</a:t>
            </a:fld>
            <a:endParaRPr lang="en-US" sz="2800" b="1">
              <a:solidFill>
                <a:schemeClr val="tx1">
                  <a:lumMod val="95000"/>
                  <a:lumOff val="5000"/>
                </a:schemeClr>
              </a:solidFill>
            </a:endParaRPr>
          </a:p>
        </p:txBody>
      </p:sp>
    </p:spTree>
    <p:extLst>
      <p:ext uri="{BB962C8B-B14F-4D97-AF65-F5344CB8AC3E}">
        <p14:creationId xmlns:p14="http://schemas.microsoft.com/office/powerpoint/2010/main" val="3531351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4D347C-0029-0B74-E397-719F05EA57D2}"/>
              </a:ext>
            </a:extLst>
          </p:cNvPr>
          <p:cNvSpPr>
            <a:spLocks noGrp="1"/>
          </p:cNvSpPr>
          <p:nvPr>
            <p:ph type="title"/>
          </p:nvPr>
        </p:nvSpPr>
        <p:spPr>
          <a:xfrm>
            <a:off x="2100837" y="318175"/>
            <a:ext cx="8886798" cy="1849120"/>
          </a:xfrm>
        </p:spPr>
        <p:txBody>
          <a:bodyPr>
            <a:normAutofit/>
          </a:bodyPr>
          <a:lstStyle/>
          <a:p>
            <a:r>
              <a:rPr lang="fr-FR" sz="4801" b="1" u="sng"/>
              <a:t>Fonctionnalités principales</a:t>
            </a:r>
          </a:p>
        </p:txBody>
      </p:sp>
      <p:sp>
        <p:nvSpPr>
          <p:cNvPr id="3" name="Espace réservé du contenu 2">
            <a:extLst>
              <a:ext uri="{FF2B5EF4-FFF2-40B4-BE49-F238E27FC236}">
                <a16:creationId xmlns:a16="http://schemas.microsoft.com/office/drawing/2014/main" id="{73AA1217-ABA5-24D0-500C-E282FFC50B71}"/>
              </a:ext>
            </a:extLst>
          </p:cNvPr>
          <p:cNvSpPr>
            <a:spLocks noGrp="1"/>
          </p:cNvSpPr>
          <p:nvPr>
            <p:ph idx="1"/>
          </p:nvPr>
        </p:nvSpPr>
        <p:spPr>
          <a:xfrm>
            <a:off x="853439" y="1904931"/>
            <a:ext cx="11094722" cy="7203903"/>
          </a:xfrm>
        </p:spPr>
        <p:txBody>
          <a:bodyPr>
            <a:noAutofit/>
          </a:bodyPr>
          <a:lstStyle/>
          <a:p>
            <a:r>
              <a:rPr lang="fr-FR" sz="3000" b="1"/>
              <a:t>  </a:t>
            </a:r>
            <a:r>
              <a:rPr lang="fr-FR" sz="3000" b="1">
                <a:solidFill>
                  <a:schemeClr val="tx1">
                    <a:lumMod val="95000"/>
                    <a:lumOff val="5000"/>
                  </a:schemeClr>
                </a:solidFill>
              </a:rPr>
              <a:t>Utilisateurs</a:t>
            </a:r>
            <a:r>
              <a:rPr lang="fr-FR" sz="3000">
                <a:solidFill>
                  <a:schemeClr val="tx1">
                    <a:lumMod val="95000"/>
                    <a:lumOff val="5000"/>
                  </a:schemeClr>
                </a:solidFill>
              </a:rPr>
              <a:t> : inscription, connexion, profil, mot de passe</a:t>
            </a:r>
          </a:p>
          <a:p>
            <a:pPr marL="0" indent="0">
              <a:buNone/>
            </a:pPr>
            <a:endParaRPr lang="fr-FR" sz="3000">
              <a:solidFill>
                <a:schemeClr val="tx1">
                  <a:lumMod val="95000"/>
                  <a:lumOff val="5000"/>
                </a:schemeClr>
              </a:solidFill>
            </a:endParaRPr>
          </a:p>
          <a:p>
            <a:r>
              <a:rPr lang="fr-FR" sz="3000"/>
              <a:t>📦 </a:t>
            </a:r>
            <a:r>
              <a:rPr lang="fr-FR" sz="3000" b="1">
                <a:solidFill>
                  <a:schemeClr val="tx1">
                    <a:lumMod val="95000"/>
                    <a:lumOff val="5000"/>
                  </a:schemeClr>
                </a:solidFill>
              </a:rPr>
              <a:t>Produits</a:t>
            </a:r>
            <a:r>
              <a:rPr lang="fr-FR" sz="3000">
                <a:solidFill>
                  <a:schemeClr val="tx1">
                    <a:lumMod val="95000"/>
                    <a:lumOff val="5000"/>
                  </a:schemeClr>
                </a:solidFill>
              </a:rPr>
              <a:t> : ajout, consultation, modification, suppression</a:t>
            </a:r>
          </a:p>
          <a:p>
            <a:endParaRPr lang="fr-FR" sz="3000">
              <a:solidFill>
                <a:schemeClr val="tx1">
                  <a:lumMod val="95000"/>
                  <a:lumOff val="5000"/>
                </a:schemeClr>
              </a:solidFill>
            </a:endParaRPr>
          </a:p>
          <a:p>
            <a:r>
              <a:rPr lang="fr-FR" sz="3000">
                <a:solidFill>
                  <a:schemeClr val="tx1">
                    <a:lumMod val="95000"/>
                    <a:lumOff val="5000"/>
                  </a:schemeClr>
                </a:solidFill>
              </a:rPr>
              <a:t>📲 </a:t>
            </a:r>
            <a:r>
              <a:rPr lang="fr-FR" sz="3000" b="1">
                <a:solidFill>
                  <a:schemeClr val="tx1">
                    <a:lumMod val="95000"/>
                    <a:lumOff val="5000"/>
                  </a:schemeClr>
                </a:solidFill>
              </a:rPr>
              <a:t>Scan</a:t>
            </a:r>
            <a:r>
              <a:rPr lang="fr-FR" sz="3000">
                <a:solidFill>
                  <a:schemeClr val="tx1">
                    <a:lumMod val="95000"/>
                    <a:lumOff val="5000"/>
                  </a:schemeClr>
                </a:solidFill>
              </a:rPr>
              <a:t> : enregistrement, consultation, lien vers paiement</a:t>
            </a:r>
          </a:p>
          <a:p>
            <a:endParaRPr lang="fr-FR" sz="3000">
              <a:solidFill>
                <a:schemeClr val="tx1">
                  <a:lumMod val="95000"/>
                  <a:lumOff val="5000"/>
                </a:schemeClr>
              </a:solidFill>
            </a:endParaRPr>
          </a:p>
          <a:p>
            <a:r>
              <a:rPr lang="fr-FR" sz="3000">
                <a:solidFill>
                  <a:schemeClr val="tx1">
                    <a:lumMod val="95000"/>
                    <a:lumOff val="5000"/>
                  </a:schemeClr>
                </a:solidFill>
              </a:rPr>
              <a:t>💳 </a:t>
            </a:r>
            <a:r>
              <a:rPr lang="fr-FR" sz="3000" b="1">
                <a:solidFill>
                  <a:schemeClr val="tx1">
                    <a:lumMod val="95000"/>
                    <a:lumOff val="5000"/>
                  </a:schemeClr>
                </a:solidFill>
              </a:rPr>
              <a:t>Paiement</a:t>
            </a:r>
            <a:r>
              <a:rPr lang="fr-FR" sz="3000">
                <a:solidFill>
                  <a:schemeClr val="tx1">
                    <a:lumMod val="95000"/>
                    <a:lumOff val="5000"/>
                  </a:schemeClr>
                </a:solidFill>
              </a:rPr>
              <a:t> : type, montant, facture PDF</a:t>
            </a:r>
          </a:p>
          <a:p>
            <a:endParaRPr lang="fr-FR" sz="3000">
              <a:solidFill>
                <a:schemeClr val="tx1">
                  <a:lumMod val="95000"/>
                  <a:lumOff val="5000"/>
                </a:schemeClr>
              </a:solidFill>
            </a:endParaRPr>
          </a:p>
          <a:p>
            <a:r>
              <a:rPr lang="fr-FR" sz="3000">
                <a:solidFill>
                  <a:schemeClr val="tx1">
                    <a:lumMod val="95000"/>
                    <a:lumOff val="5000"/>
                  </a:schemeClr>
                </a:solidFill>
              </a:rPr>
              <a:t>🌐 </a:t>
            </a:r>
            <a:r>
              <a:rPr lang="fr-FR" sz="3000" b="1">
                <a:solidFill>
                  <a:schemeClr val="tx1">
                    <a:lumMod val="95000"/>
                    <a:lumOff val="5000"/>
                  </a:schemeClr>
                </a:solidFill>
              </a:rPr>
              <a:t>Interface web</a:t>
            </a:r>
            <a:r>
              <a:rPr lang="fr-FR" sz="3000">
                <a:solidFill>
                  <a:schemeClr val="tx1">
                    <a:lumMod val="95000"/>
                    <a:lumOff val="5000"/>
                  </a:schemeClr>
                </a:solidFill>
              </a:rPr>
              <a:t> : pages HTML/CSS/JS simples et intuitives</a:t>
            </a:r>
          </a:p>
          <a:p>
            <a:endParaRPr lang="fr-FR" sz="3000">
              <a:solidFill>
                <a:schemeClr val="tx1">
                  <a:lumMod val="95000"/>
                  <a:lumOff val="5000"/>
                </a:schemeClr>
              </a:solidFill>
            </a:endParaRPr>
          </a:p>
          <a:p>
            <a:r>
              <a:rPr lang="fr-FR" sz="3000">
                <a:solidFill>
                  <a:schemeClr val="tx1">
                    <a:lumMod val="95000"/>
                    <a:lumOff val="5000"/>
                  </a:schemeClr>
                </a:solidFill>
              </a:rPr>
              <a:t>🔐 </a:t>
            </a:r>
            <a:r>
              <a:rPr lang="fr-FR" sz="3000" b="1">
                <a:solidFill>
                  <a:schemeClr val="tx1">
                    <a:lumMod val="95000"/>
                    <a:lumOff val="5000"/>
                  </a:schemeClr>
                </a:solidFill>
              </a:rPr>
              <a:t>Sécurité</a:t>
            </a:r>
            <a:r>
              <a:rPr lang="fr-FR" sz="3000">
                <a:solidFill>
                  <a:schemeClr val="tx1">
                    <a:lumMod val="95000"/>
                    <a:lumOff val="5000"/>
                  </a:schemeClr>
                </a:solidFill>
              </a:rPr>
              <a:t> : authentification, accès protégés</a:t>
            </a:r>
          </a:p>
          <a:p>
            <a:endParaRPr lang="fr-FR" sz="3000">
              <a:solidFill>
                <a:schemeClr val="tx1">
                  <a:lumMod val="95000"/>
                  <a:lumOff val="5000"/>
                </a:schemeClr>
              </a:solidFill>
            </a:endParaRPr>
          </a:p>
        </p:txBody>
      </p:sp>
      <p:pic>
        <p:nvPicPr>
          <p:cNvPr id="5" name="Graphique 4" descr="Utilisateur avec un remplissage uni">
            <a:extLst>
              <a:ext uri="{FF2B5EF4-FFF2-40B4-BE49-F238E27FC236}">
                <a16:creationId xmlns:a16="http://schemas.microsoft.com/office/drawing/2014/main" id="{6527DF26-25EF-7D21-1849-BFDD845F30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5745" y="1987620"/>
            <a:ext cx="359350" cy="359350"/>
          </a:xfrm>
          <a:prstGeom prst="rect">
            <a:avLst/>
          </a:prstGeom>
        </p:spPr>
      </p:pic>
      <p:sp>
        <p:nvSpPr>
          <p:cNvPr id="4" name="Espace réservé du numéro de diapositive 3">
            <a:extLst>
              <a:ext uri="{FF2B5EF4-FFF2-40B4-BE49-F238E27FC236}">
                <a16:creationId xmlns:a16="http://schemas.microsoft.com/office/drawing/2014/main" id="{37E6E9E6-AA65-114A-BBDD-824211B96941}"/>
              </a:ext>
            </a:extLst>
          </p:cNvPr>
          <p:cNvSpPr>
            <a:spLocks noGrp="1"/>
          </p:cNvSpPr>
          <p:nvPr>
            <p:ph type="sldNum" sz="quarter" idx="12"/>
          </p:nvPr>
        </p:nvSpPr>
        <p:spPr>
          <a:xfrm>
            <a:off x="11948161" y="8853246"/>
            <a:ext cx="717693" cy="511175"/>
          </a:xfrm>
        </p:spPr>
        <p:txBody>
          <a:bodyPr/>
          <a:lstStyle/>
          <a:p>
            <a:fld id="{69E57DC2-970A-4B3E-BB1C-7A09969E49DF}" type="slidenum">
              <a:rPr lang="en-US" sz="2800" b="1" smtClean="0">
                <a:solidFill>
                  <a:schemeClr val="tx1">
                    <a:lumMod val="95000"/>
                    <a:lumOff val="5000"/>
                  </a:schemeClr>
                </a:solidFill>
              </a:rPr>
              <a:t>5</a:t>
            </a:fld>
            <a:endParaRPr lang="en-US" sz="2400" b="1">
              <a:solidFill>
                <a:schemeClr val="tx1">
                  <a:lumMod val="95000"/>
                  <a:lumOff val="5000"/>
                </a:schemeClr>
              </a:solidFill>
            </a:endParaRPr>
          </a:p>
        </p:txBody>
      </p:sp>
    </p:spTree>
    <p:extLst>
      <p:ext uri="{BB962C8B-B14F-4D97-AF65-F5344CB8AC3E}">
        <p14:creationId xmlns:p14="http://schemas.microsoft.com/office/powerpoint/2010/main" val="1378932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66FE7D-B71F-F5E1-8236-1910DD1BA5B6}"/>
              </a:ext>
            </a:extLst>
          </p:cNvPr>
          <p:cNvSpPr>
            <a:spLocks noGrp="1"/>
          </p:cNvSpPr>
          <p:nvPr>
            <p:ph type="title"/>
          </p:nvPr>
        </p:nvSpPr>
        <p:spPr>
          <a:xfrm>
            <a:off x="2289910" y="0"/>
            <a:ext cx="8886798" cy="1849120"/>
          </a:xfrm>
        </p:spPr>
        <p:txBody>
          <a:bodyPr>
            <a:normAutofit/>
          </a:bodyPr>
          <a:lstStyle/>
          <a:p>
            <a:pPr algn="ctr"/>
            <a:r>
              <a:rPr lang="fr-FR" sz="4000" b="1" u="sng">
                <a:solidFill>
                  <a:srgbClr val="B82300"/>
                </a:solidFill>
                <a:latin typeface="Trebuchet MS" panose="020B0603020202020204"/>
              </a:rPr>
              <a:t>Technologies utiliseés</a:t>
            </a:r>
            <a:endParaRPr lang="fr-FR" sz="4000"/>
          </a:p>
        </p:txBody>
      </p:sp>
      <p:sp>
        <p:nvSpPr>
          <p:cNvPr id="4" name="Rectangle 1">
            <a:extLst>
              <a:ext uri="{FF2B5EF4-FFF2-40B4-BE49-F238E27FC236}">
                <a16:creationId xmlns:a16="http://schemas.microsoft.com/office/drawing/2014/main" id="{8E55BE15-71C2-A0EE-71B6-0DF502EFA25D}"/>
              </a:ext>
            </a:extLst>
          </p:cNvPr>
          <p:cNvSpPr>
            <a:spLocks noGrp="1" noChangeArrowheads="1"/>
          </p:cNvSpPr>
          <p:nvPr>
            <p:ph idx="1"/>
          </p:nvPr>
        </p:nvSpPr>
        <p:spPr bwMode="auto">
          <a:xfrm>
            <a:off x="1062184" y="924560"/>
            <a:ext cx="13132725" cy="8584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Backend</a:t>
            </a:r>
            <a:r>
              <a:rPr lang="fr-FR" altLang="fr-FR" sz="2399">
                <a:solidFill>
                  <a:schemeClr val="tx1">
                    <a:lumMod val="95000"/>
                    <a:lumOff val="5000"/>
                  </a:schemeClr>
                </a:solidFill>
              </a:rPr>
              <a:t> : Java 17, Spring Boot</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Sécurité</a:t>
            </a:r>
            <a:r>
              <a:rPr lang="fr-FR" altLang="fr-FR" sz="2399">
                <a:solidFill>
                  <a:schemeClr val="tx1">
                    <a:lumMod val="95000"/>
                    <a:lumOff val="5000"/>
                  </a:schemeClr>
                </a:solidFill>
              </a:rPr>
              <a:t> : Spring Security</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Base de données</a:t>
            </a:r>
            <a:r>
              <a:rPr lang="fr-FR" altLang="fr-FR" sz="2399">
                <a:solidFill>
                  <a:schemeClr val="tx1">
                    <a:lumMod val="95000"/>
                    <a:lumOff val="5000"/>
                  </a:schemeClr>
                </a:solidFill>
              </a:rPr>
              <a:t> : MySQL</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Frontend</a:t>
            </a:r>
            <a:r>
              <a:rPr lang="fr-FR" altLang="fr-FR" sz="2399">
                <a:solidFill>
                  <a:schemeClr val="tx1">
                    <a:lumMod val="95000"/>
                    <a:lumOff val="5000"/>
                  </a:schemeClr>
                </a:solidFill>
              </a:rPr>
              <a:t> : Thymeleaf, HTML, CSS, JavaScript</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Tests</a:t>
            </a:r>
            <a:r>
              <a:rPr lang="fr-FR" altLang="fr-FR" sz="2399">
                <a:solidFill>
                  <a:schemeClr val="tx1">
                    <a:lumMod val="95000"/>
                    <a:lumOff val="5000"/>
                  </a:schemeClr>
                </a:solidFill>
              </a:rPr>
              <a:t> : JUnit, Mockito, MockMvc</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Documentation</a:t>
            </a:r>
            <a:r>
              <a:rPr lang="fr-FR" altLang="fr-FR" sz="2399">
                <a:solidFill>
                  <a:schemeClr val="tx1">
                    <a:lumMod val="95000"/>
                    <a:lumOff val="5000"/>
                  </a:schemeClr>
                </a:solidFill>
              </a:rPr>
              <a:t> : JavaDoc, GitHub</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CI/CD</a:t>
            </a:r>
            <a:r>
              <a:rPr lang="fr-FR" altLang="fr-FR" sz="2399">
                <a:solidFill>
                  <a:schemeClr val="tx1">
                    <a:lumMod val="95000"/>
                    <a:lumOff val="5000"/>
                  </a:schemeClr>
                </a:solidFill>
              </a:rPr>
              <a:t> : GitHub Actions</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Conteneurs</a:t>
            </a:r>
            <a:r>
              <a:rPr lang="fr-FR" altLang="fr-FR" sz="2399">
                <a:solidFill>
                  <a:schemeClr val="tx1">
                    <a:lumMod val="95000"/>
                    <a:lumOff val="5000"/>
                  </a:schemeClr>
                </a:solidFill>
              </a:rPr>
              <a:t> : Docker &amp; Docker Compose</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Déploiement</a:t>
            </a:r>
            <a:r>
              <a:rPr lang="fr-FR" altLang="fr-FR" sz="2399">
                <a:solidFill>
                  <a:schemeClr val="tx1">
                    <a:lumMod val="95000"/>
                    <a:lumOff val="5000"/>
                  </a:schemeClr>
                </a:solidFill>
              </a:rPr>
              <a:t> : VPS avec clé SSH</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Mails</a:t>
            </a:r>
            <a:r>
              <a:rPr lang="fr-FR" altLang="fr-FR" sz="2399">
                <a:solidFill>
                  <a:schemeClr val="tx1">
                    <a:lumMod val="95000"/>
                    <a:lumOff val="5000"/>
                  </a:schemeClr>
                </a:solidFill>
              </a:rPr>
              <a:t> : Brevo</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PDF</a:t>
            </a:r>
            <a:r>
              <a:rPr lang="fr-FR" altLang="fr-FR" sz="2399">
                <a:solidFill>
                  <a:schemeClr val="tx1">
                    <a:lumMod val="95000"/>
                    <a:lumOff val="5000"/>
                  </a:schemeClr>
                </a:solidFill>
              </a:rPr>
              <a:t> : OpenPDF</a:t>
            </a:r>
          </a:p>
          <a:p>
            <a:pPr defTabSz="914368" eaLnBrk="0" fontAlgn="base" hangingPunct="0">
              <a:spcBef>
                <a:spcPct val="0"/>
              </a:spcBef>
              <a:spcAft>
                <a:spcPct val="0"/>
              </a:spcAft>
              <a:buFont typeface="Wingdings 3" panose="05040102010807070707" pitchFamily="18" charset="2"/>
              <a:buChar char=""/>
            </a:pPr>
            <a:endParaRPr lang="fr-FR" altLang="fr-FR" sz="2399">
              <a:solidFill>
                <a:schemeClr val="tx1">
                  <a:lumMod val="95000"/>
                  <a:lumOff val="5000"/>
                </a:schemeClr>
              </a:solidFill>
            </a:endParaRPr>
          </a:p>
          <a:p>
            <a:pPr defTabSz="914368" eaLnBrk="0" fontAlgn="base" hangingPunct="0">
              <a:spcBef>
                <a:spcPct val="0"/>
              </a:spcBef>
              <a:spcAft>
                <a:spcPct val="0"/>
              </a:spcAft>
              <a:buFont typeface="Wingdings 3" panose="05040102010807070707" pitchFamily="18" charset="2"/>
              <a:buChar char=""/>
            </a:pPr>
            <a:r>
              <a:rPr lang="fr-FR" altLang="fr-FR" sz="2399">
                <a:solidFill>
                  <a:schemeClr val="tx1">
                    <a:lumMod val="95000"/>
                    <a:lumOff val="5000"/>
                  </a:schemeClr>
                </a:solidFill>
              </a:rPr>
              <a:t>📲 </a:t>
            </a:r>
            <a:r>
              <a:rPr lang="fr-FR" altLang="fr-FR" sz="2399" b="1">
                <a:solidFill>
                  <a:schemeClr val="tx1">
                    <a:lumMod val="95000"/>
                    <a:lumOff val="5000"/>
                  </a:schemeClr>
                </a:solidFill>
              </a:rPr>
              <a:t>Scanner</a:t>
            </a:r>
            <a:r>
              <a:rPr lang="fr-FR" altLang="fr-FR" sz="2399">
                <a:solidFill>
                  <a:schemeClr val="tx1">
                    <a:lumMod val="95000"/>
                    <a:lumOff val="5000"/>
                  </a:schemeClr>
                </a:solidFill>
              </a:rPr>
              <a:t> : Datalogic Touch TD1100</a:t>
            </a:r>
          </a:p>
        </p:txBody>
      </p:sp>
      <p:sp>
        <p:nvSpPr>
          <p:cNvPr id="3" name="Espace réservé du numéro de diapositive 2">
            <a:extLst>
              <a:ext uri="{FF2B5EF4-FFF2-40B4-BE49-F238E27FC236}">
                <a16:creationId xmlns:a16="http://schemas.microsoft.com/office/drawing/2014/main" id="{51C19467-9B31-BA8B-F096-573FCB30D4BD}"/>
              </a:ext>
            </a:extLst>
          </p:cNvPr>
          <p:cNvSpPr>
            <a:spLocks noGrp="1"/>
          </p:cNvSpPr>
          <p:nvPr>
            <p:ph type="sldNum" sz="quarter" idx="12"/>
          </p:nvPr>
        </p:nvSpPr>
        <p:spPr>
          <a:xfrm>
            <a:off x="11739416" y="8997402"/>
            <a:ext cx="717693" cy="511175"/>
          </a:xfrm>
        </p:spPr>
        <p:txBody>
          <a:bodyPr/>
          <a:lstStyle/>
          <a:p>
            <a:fld id="{69E57DC2-970A-4B3E-BB1C-7A09969E49DF}" type="slidenum">
              <a:rPr lang="en-US" sz="2800" b="1" smtClean="0">
                <a:solidFill>
                  <a:schemeClr val="tx1">
                    <a:lumMod val="95000"/>
                    <a:lumOff val="5000"/>
                  </a:schemeClr>
                </a:solidFill>
              </a:rPr>
              <a:t>6</a:t>
            </a:fld>
            <a:endParaRPr lang="en-US" sz="3600" b="1">
              <a:solidFill>
                <a:schemeClr val="tx1">
                  <a:lumMod val="95000"/>
                  <a:lumOff val="5000"/>
                </a:schemeClr>
              </a:solidFill>
            </a:endParaRPr>
          </a:p>
        </p:txBody>
      </p:sp>
    </p:spTree>
    <p:extLst>
      <p:ext uri="{BB962C8B-B14F-4D97-AF65-F5344CB8AC3E}">
        <p14:creationId xmlns:p14="http://schemas.microsoft.com/office/powerpoint/2010/main" val="3164468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DC8E72-F578-A1B1-891A-CB4787B84466}"/>
              </a:ext>
            </a:extLst>
          </p:cNvPr>
          <p:cNvSpPr>
            <a:spLocks noGrp="1"/>
          </p:cNvSpPr>
          <p:nvPr>
            <p:ph type="title"/>
          </p:nvPr>
        </p:nvSpPr>
        <p:spPr>
          <a:xfrm>
            <a:off x="853438" y="333493"/>
            <a:ext cx="10555779" cy="1619596"/>
          </a:xfrm>
        </p:spPr>
        <p:txBody>
          <a:bodyPr>
            <a:normAutofit fontScale="90000"/>
          </a:bodyPr>
          <a:lstStyle/>
          <a:p>
            <a:pPr algn="ctr">
              <a:spcBef>
                <a:spcPts val="1400"/>
              </a:spcBef>
              <a:buClr>
                <a:srgbClr val="B82300"/>
              </a:buClr>
              <a:buSzPct val="80000"/>
              <a:defRPr/>
            </a:pPr>
            <a:r>
              <a:rPr lang="fr-FR" sz="4401" b="1" u="sng">
                <a:solidFill>
                  <a:srgbClr val="B82300"/>
                </a:solidFill>
                <a:latin typeface="Trebuchet MS" panose="020B0603020202020204"/>
              </a:rPr>
              <a:t>Tableau Kanban &amp; User Stories</a:t>
            </a:r>
            <a:br>
              <a:rPr lang="fr-FR" sz="4401" b="1" u="sng">
                <a:solidFill>
                  <a:srgbClr val="B82300"/>
                </a:solidFill>
                <a:latin typeface="Trebuchet MS" panose="020B0603020202020204"/>
              </a:rPr>
            </a:br>
            <a:br>
              <a:rPr lang="fr-FR" sz="4401" b="1" u="sng">
                <a:solidFill>
                  <a:srgbClr val="B82300"/>
                </a:solidFill>
                <a:latin typeface="Trebuchet MS" panose="020B0603020202020204"/>
              </a:rPr>
            </a:br>
            <a:r>
              <a:rPr lang="fr-FR" sz="3100" b="1">
                <a:solidFill>
                  <a:schemeClr val="tx1">
                    <a:lumMod val="95000"/>
                    <a:lumOff val="5000"/>
                  </a:schemeClr>
                </a:solidFill>
                <a:latin typeface="Trebuchet MS" panose="020B0603020202020204"/>
                <a:ea typeface="+mn-ea"/>
                <a:cs typeface="+mn-cs"/>
              </a:rPr>
              <a:t>Suivi du projet avec Kanban</a:t>
            </a:r>
            <a:br>
              <a:rPr lang="fr-FR" sz="2799" b="1">
                <a:solidFill>
                  <a:prstClr val="black">
                    <a:lumMod val="75000"/>
                    <a:lumOff val="25000"/>
                  </a:prstClr>
                </a:solidFill>
                <a:latin typeface="Trebuchet MS" panose="020B0603020202020204"/>
                <a:ea typeface="+mn-ea"/>
                <a:cs typeface="+mn-cs"/>
              </a:rPr>
            </a:br>
            <a:endParaRPr lang="fr-FR" sz="4401"/>
          </a:p>
        </p:txBody>
      </p:sp>
      <p:graphicFrame>
        <p:nvGraphicFramePr>
          <p:cNvPr id="7" name="Espace réservé du contenu 6">
            <a:extLst>
              <a:ext uri="{FF2B5EF4-FFF2-40B4-BE49-F238E27FC236}">
                <a16:creationId xmlns:a16="http://schemas.microsoft.com/office/drawing/2014/main" id="{F879E8CA-62B7-9894-4048-16F1E924B4E5}"/>
              </a:ext>
            </a:extLst>
          </p:cNvPr>
          <p:cNvGraphicFramePr>
            <a:graphicFrameLocks noGrp="1"/>
          </p:cNvGraphicFramePr>
          <p:nvPr>
            <p:ph idx="1"/>
            <p:extLst>
              <p:ext uri="{D42A27DB-BD31-4B8C-83A1-F6EECF244321}">
                <p14:modId xmlns:p14="http://schemas.microsoft.com/office/powerpoint/2010/main" val="530726558"/>
              </p:ext>
            </p:extLst>
          </p:nvPr>
        </p:nvGraphicFramePr>
        <p:xfrm>
          <a:off x="-1" y="2534979"/>
          <a:ext cx="12801601" cy="3731802"/>
        </p:xfrm>
        <a:graphic>
          <a:graphicData uri="http://schemas.openxmlformats.org/drawingml/2006/table">
            <a:tbl>
              <a:tblPr firstRow="1" bandRow="1">
                <a:tableStyleId>{5C22544A-7EE6-4342-B048-85BDC9FD1C3A}</a:tableStyleId>
              </a:tblPr>
              <a:tblGrid>
                <a:gridCol w="1536471">
                  <a:extLst>
                    <a:ext uri="{9D8B030D-6E8A-4147-A177-3AD203B41FA5}">
                      <a16:colId xmlns:a16="http://schemas.microsoft.com/office/drawing/2014/main" val="234717549"/>
                    </a:ext>
                  </a:extLst>
                </a:gridCol>
                <a:gridCol w="1616515">
                  <a:extLst>
                    <a:ext uri="{9D8B030D-6E8A-4147-A177-3AD203B41FA5}">
                      <a16:colId xmlns:a16="http://schemas.microsoft.com/office/drawing/2014/main" val="2660817445"/>
                    </a:ext>
                  </a:extLst>
                </a:gridCol>
                <a:gridCol w="2394374">
                  <a:extLst>
                    <a:ext uri="{9D8B030D-6E8A-4147-A177-3AD203B41FA5}">
                      <a16:colId xmlns:a16="http://schemas.microsoft.com/office/drawing/2014/main" val="3285890011"/>
                    </a:ext>
                  </a:extLst>
                </a:gridCol>
                <a:gridCol w="2275840">
                  <a:extLst>
                    <a:ext uri="{9D8B030D-6E8A-4147-A177-3AD203B41FA5}">
                      <a16:colId xmlns:a16="http://schemas.microsoft.com/office/drawing/2014/main" val="1168103012"/>
                    </a:ext>
                  </a:extLst>
                </a:gridCol>
                <a:gridCol w="3034454">
                  <a:extLst>
                    <a:ext uri="{9D8B030D-6E8A-4147-A177-3AD203B41FA5}">
                      <a16:colId xmlns:a16="http://schemas.microsoft.com/office/drawing/2014/main" val="1478683992"/>
                    </a:ext>
                  </a:extLst>
                </a:gridCol>
                <a:gridCol w="1943947">
                  <a:extLst>
                    <a:ext uri="{9D8B030D-6E8A-4147-A177-3AD203B41FA5}">
                      <a16:colId xmlns:a16="http://schemas.microsoft.com/office/drawing/2014/main" val="547937856"/>
                    </a:ext>
                  </a:extLst>
                </a:gridCol>
              </a:tblGrid>
              <a:tr h="0">
                <a:tc>
                  <a:txBody>
                    <a:bodyPr/>
                    <a:lstStyle/>
                    <a:p>
                      <a:pPr algn="ctr"/>
                      <a:r>
                        <a:rPr lang="fr-FR" sz="2500"/>
                        <a:t>Tâche</a:t>
                      </a:r>
                    </a:p>
                  </a:txBody>
                  <a:tcPr/>
                </a:tc>
                <a:tc>
                  <a:txBody>
                    <a:bodyPr/>
                    <a:lstStyle/>
                    <a:p>
                      <a:pPr algn="ctr"/>
                      <a:r>
                        <a:rPr lang="fr-FR" sz="2500"/>
                        <a:t>Statut</a:t>
                      </a:r>
                    </a:p>
                  </a:txBody>
                  <a:tcPr/>
                </a:tc>
                <a:tc>
                  <a:txBody>
                    <a:bodyPr/>
                    <a:lstStyle/>
                    <a:p>
                      <a:pPr algn="ctr"/>
                      <a:r>
                        <a:rPr lang="fr-FR" sz="2500"/>
                        <a:t>Rôle</a:t>
                      </a:r>
                    </a:p>
                  </a:txBody>
                  <a:tcPr/>
                </a:tc>
                <a:tc>
                  <a:txBody>
                    <a:bodyPr/>
                    <a:lstStyle/>
                    <a:p>
                      <a:pPr algn="ctr"/>
                      <a:r>
                        <a:rPr lang="fr-FR" sz="2500"/>
                        <a:t>Description</a:t>
                      </a:r>
                    </a:p>
                  </a:txBody>
                  <a:tcPr/>
                </a:tc>
                <a:tc>
                  <a:txBody>
                    <a:bodyPr/>
                    <a:lstStyle/>
                    <a:p>
                      <a:pPr algn="ctr"/>
                      <a:r>
                        <a:rPr lang="fr-FR" sz="2500"/>
                        <a:t>Critère d’acceptation</a:t>
                      </a:r>
                    </a:p>
                  </a:txBody>
                  <a:tcPr/>
                </a:tc>
                <a:tc>
                  <a:txBody>
                    <a:bodyPr/>
                    <a:lstStyle/>
                    <a:p>
                      <a:pPr algn="ctr"/>
                      <a:r>
                        <a:rPr lang="fr-FR" sz="2500"/>
                        <a:t>Priorité</a:t>
                      </a:r>
                    </a:p>
                  </a:txBody>
                  <a:tcPr/>
                </a:tc>
                <a:extLst>
                  <a:ext uri="{0D108BD9-81ED-4DB2-BD59-A6C34878D82A}">
                    <a16:rowId xmlns:a16="http://schemas.microsoft.com/office/drawing/2014/main" val="1862240513"/>
                  </a:ext>
                </a:extLst>
              </a:tr>
              <a:tr h="1012461">
                <a:tc>
                  <a:txBody>
                    <a:bodyPr/>
                    <a:lstStyle/>
                    <a:p>
                      <a:pPr algn="ctr"/>
                      <a:r>
                        <a:rPr lang="fr-FR" sz="2500"/>
                        <a:t>Tache 1</a:t>
                      </a:r>
                    </a:p>
                  </a:txBody>
                  <a:tcPr/>
                </a:tc>
                <a:tc>
                  <a:txBody>
                    <a:bodyPr/>
                    <a:lstStyle/>
                    <a:p>
                      <a:pPr algn="ctr"/>
                      <a:r>
                        <a:rPr lang="fr-FR" sz="2500">
                          <a:solidFill>
                            <a:srgbClr val="C00000"/>
                          </a:solidFill>
                        </a:rPr>
                        <a:t>À faire</a:t>
                      </a:r>
                    </a:p>
                  </a:txBody>
                  <a:tcPr/>
                </a:tc>
                <a:tc>
                  <a:txBody>
                    <a:bodyPr/>
                    <a:lstStyle/>
                    <a:p>
                      <a:pPr algn="ctr"/>
                      <a:r>
                        <a:rPr lang="fr-FR" sz="2500"/>
                        <a:t>Utilisateur</a:t>
                      </a:r>
                    </a:p>
                  </a:txBody>
                  <a:tcPr/>
                </a:tc>
                <a:tc>
                  <a:txBody>
                    <a:bodyPr/>
                    <a:lstStyle/>
                    <a:p>
                      <a:pPr algn="ctr"/>
                      <a:r>
                        <a:rPr lang="fr-FR" sz="2500"/>
                        <a:t>………………….</a:t>
                      </a:r>
                    </a:p>
                  </a:txBody>
                  <a:tcPr/>
                </a:tc>
                <a:tc>
                  <a:txBody>
                    <a:bodyPr/>
                    <a:lstStyle/>
                    <a:p>
                      <a:pPr algn="ctr"/>
                      <a:r>
                        <a:rPr lang="fr-FR" sz="2500"/>
                        <a:t>……………………..</a:t>
                      </a:r>
                    </a:p>
                  </a:txBody>
                  <a:tcPr/>
                </a:tc>
                <a:tc>
                  <a:txBody>
                    <a:bodyPr/>
                    <a:lstStyle/>
                    <a:p>
                      <a:pPr algn="ctr"/>
                      <a:r>
                        <a:rPr lang="fr-FR" sz="2500"/>
                        <a:t>Haute</a:t>
                      </a:r>
                    </a:p>
                  </a:txBody>
                  <a:tcPr/>
                </a:tc>
                <a:extLst>
                  <a:ext uri="{0D108BD9-81ED-4DB2-BD59-A6C34878D82A}">
                    <a16:rowId xmlns:a16="http://schemas.microsoft.com/office/drawing/2014/main" val="2292845034"/>
                  </a:ext>
                </a:extLst>
              </a:tr>
              <a:tr h="1012461">
                <a:tc>
                  <a:txBody>
                    <a:bodyPr/>
                    <a:lstStyle/>
                    <a:p>
                      <a:pPr algn="ctr"/>
                      <a:r>
                        <a:rPr lang="fr-FR" sz="2500"/>
                        <a:t>Tache 2</a:t>
                      </a:r>
                    </a:p>
                  </a:txBody>
                  <a:tcPr/>
                </a:tc>
                <a:tc>
                  <a:txBody>
                    <a:bodyPr/>
                    <a:lstStyle/>
                    <a:p>
                      <a:pPr algn="ctr"/>
                      <a:r>
                        <a:rPr lang="fr-FR" sz="2500">
                          <a:solidFill>
                            <a:srgbClr val="003CB4"/>
                          </a:solidFill>
                        </a:rPr>
                        <a:t>En cours </a:t>
                      </a:r>
                    </a:p>
                  </a:txBody>
                  <a:tcPr/>
                </a:tc>
                <a:tc>
                  <a:txBody>
                    <a:bodyPr/>
                    <a:lstStyle/>
                    <a:p>
                      <a:pPr marL="0" marR="0" lvl="0" indent="0" algn="ctr" defTabSz="640110" rtl="0" eaLnBrk="1" fontAlgn="auto" latinLnBrk="0" hangingPunct="1">
                        <a:lnSpc>
                          <a:spcPct val="100000"/>
                        </a:lnSpc>
                        <a:spcBef>
                          <a:spcPts val="0"/>
                        </a:spcBef>
                        <a:spcAft>
                          <a:spcPts val="0"/>
                        </a:spcAft>
                        <a:buClrTx/>
                        <a:buSzTx/>
                        <a:buFontTx/>
                        <a:buNone/>
                        <a:tabLst/>
                        <a:defRPr/>
                      </a:pPr>
                      <a:r>
                        <a:rPr lang="fr-FR" sz="2500"/>
                        <a:t>Utilisateur</a:t>
                      </a:r>
                    </a:p>
                    <a:p>
                      <a:pPr algn="ctr"/>
                      <a:endParaRPr lang="fr-FR" sz="2500"/>
                    </a:p>
                  </a:txBody>
                  <a:tcPr/>
                </a:tc>
                <a:tc>
                  <a:txBody>
                    <a:bodyPr/>
                    <a:lstStyle/>
                    <a:p>
                      <a:pPr algn="ctr"/>
                      <a:r>
                        <a:rPr lang="fr-FR" sz="2500"/>
                        <a:t>………………….</a:t>
                      </a:r>
                    </a:p>
                  </a:txBody>
                  <a:tcPr/>
                </a:tc>
                <a:tc>
                  <a:txBody>
                    <a:bodyPr/>
                    <a:lstStyle/>
                    <a:p>
                      <a:pPr algn="ctr"/>
                      <a:r>
                        <a:rPr lang="fr-FR" sz="2500"/>
                        <a:t>………………………</a:t>
                      </a:r>
                    </a:p>
                  </a:txBody>
                  <a:tcPr/>
                </a:tc>
                <a:tc>
                  <a:txBody>
                    <a:bodyPr/>
                    <a:lstStyle/>
                    <a:p>
                      <a:pPr algn="ctr"/>
                      <a:r>
                        <a:rPr lang="fr-FR" sz="2500"/>
                        <a:t>Très Haute</a:t>
                      </a:r>
                    </a:p>
                  </a:txBody>
                  <a:tcPr/>
                </a:tc>
                <a:extLst>
                  <a:ext uri="{0D108BD9-81ED-4DB2-BD59-A6C34878D82A}">
                    <a16:rowId xmlns:a16="http://schemas.microsoft.com/office/drawing/2014/main" val="2862223917"/>
                  </a:ext>
                </a:extLst>
              </a:tr>
              <a:tr h="692154">
                <a:tc>
                  <a:txBody>
                    <a:bodyPr/>
                    <a:lstStyle/>
                    <a:p>
                      <a:pPr algn="ctr"/>
                      <a:r>
                        <a:rPr lang="fr-FR" sz="2500"/>
                        <a:t>Tache 3</a:t>
                      </a:r>
                    </a:p>
                  </a:txBody>
                  <a:tcPr/>
                </a:tc>
                <a:tc>
                  <a:txBody>
                    <a:bodyPr/>
                    <a:lstStyle/>
                    <a:p>
                      <a:pPr algn="ctr"/>
                      <a:r>
                        <a:rPr lang="fr-FR" sz="2500">
                          <a:solidFill>
                            <a:srgbClr val="00A249"/>
                          </a:solidFill>
                        </a:rPr>
                        <a:t>Terminé</a:t>
                      </a:r>
                    </a:p>
                  </a:txBody>
                  <a:tcPr/>
                </a:tc>
                <a:tc>
                  <a:txBody>
                    <a:bodyPr/>
                    <a:lstStyle/>
                    <a:p>
                      <a:pPr algn="ctr"/>
                      <a:r>
                        <a:rPr lang="fr-FR" sz="2500"/>
                        <a:t>Développeur</a:t>
                      </a:r>
                    </a:p>
                  </a:txBody>
                  <a:tcPr/>
                </a:tc>
                <a:tc>
                  <a:txBody>
                    <a:bodyPr/>
                    <a:lstStyle/>
                    <a:p>
                      <a:pPr algn="ctr"/>
                      <a:r>
                        <a:rPr lang="fr-FR" sz="2500"/>
                        <a:t>……………….</a:t>
                      </a:r>
                    </a:p>
                  </a:txBody>
                  <a:tcPr/>
                </a:tc>
                <a:tc>
                  <a:txBody>
                    <a:bodyPr/>
                    <a:lstStyle/>
                    <a:p>
                      <a:pPr algn="ctr"/>
                      <a:r>
                        <a:rPr lang="fr-FR" sz="2500"/>
                        <a:t>………………………</a:t>
                      </a:r>
                    </a:p>
                  </a:txBody>
                  <a:tcPr/>
                </a:tc>
                <a:tc>
                  <a:txBody>
                    <a:bodyPr/>
                    <a:lstStyle/>
                    <a:p>
                      <a:pPr marL="0" marR="0" lvl="0" indent="0" algn="ctr" defTabSz="640080" rtl="0" eaLnBrk="1" fontAlgn="auto" latinLnBrk="0" hangingPunct="1">
                        <a:lnSpc>
                          <a:spcPct val="100000"/>
                        </a:lnSpc>
                        <a:spcBef>
                          <a:spcPts val="0"/>
                        </a:spcBef>
                        <a:spcAft>
                          <a:spcPts val="0"/>
                        </a:spcAft>
                        <a:buClrTx/>
                        <a:buSzTx/>
                        <a:buFontTx/>
                        <a:buNone/>
                        <a:tabLst/>
                        <a:defRPr/>
                      </a:pPr>
                      <a:r>
                        <a:rPr lang="fr-FR" sz="2500"/>
                        <a:t>Très Haute</a:t>
                      </a:r>
                    </a:p>
                    <a:p>
                      <a:pPr algn="ctr"/>
                      <a:endParaRPr lang="fr-FR" sz="2500"/>
                    </a:p>
                  </a:txBody>
                  <a:tcPr/>
                </a:tc>
                <a:extLst>
                  <a:ext uri="{0D108BD9-81ED-4DB2-BD59-A6C34878D82A}">
                    <a16:rowId xmlns:a16="http://schemas.microsoft.com/office/drawing/2014/main" val="1043517430"/>
                  </a:ext>
                </a:extLst>
              </a:tr>
            </a:tbl>
          </a:graphicData>
        </a:graphic>
      </p:graphicFrame>
      <p:sp>
        <p:nvSpPr>
          <p:cNvPr id="8" name="ZoneTexte 7">
            <a:extLst>
              <a:ext uri="{FF2B5EF4-FFF2-40B4-BE49-F238E27FC236}">
                <a16:creationId xmlns:a16="http://schemas.microsoft.com/office/drawing/2014/main" id="{D1705D7C-BA47-3DF9-7997-2B03CC521347}"/>
              </a:ext>
            </a:extLst>
          </p:cNvPr>
          <p:cNvSpPr txBox="1"/>
          <p:nvPr/>
        </p:nvSpPr>
        <p:spPr>
          <a:xfrm>
            <a:off x="1466928" y="7952396"/>
            <a:ext cx="8716977" cy="1101957"/>
          </a:xfrm>
          <a:prstGeom prst="rect">
            <a:avLst/>
          </a:prstGeom>
          <a:noFill/>
        </p:spPr>
        <p:txBody>
          <a:bodyPr wrap="square" rtlCol="0">
            <a:spAutoFit/>
          </a:bodyPr>
          <a:lstStyle/>
          <a:p>
            <a:r>
              <a:rPr lang="fr-FR" sz="3200" b="1"/>
              <a:t>Format </a:t>
            </a:r>
            <a:r>
              <a:rPr lang="fr-FR" sz="3200" b="1">
                <a:solidFill>
                  <a:srgbClr val="C00000"/>
                </a:solidFill>
              </a:rPr>
              <a:t>User Story </a:t>
            </a:r>
            <a:r>
              <a:rPr lang="fr-FR" sz="3200"/>
              <a:t>: "En tant qu’</a:t>
            </a:r>
            <a:r>
              <a:rPr lang="fr-FR" sz="3200" b="1"/>
              <a:t>Utilisateur</a:t>
            </a:r>
            <a:r>
              <a:rPr lang="fr-FR" sz="3200"/>
              <a:t>, je souhaite..."</a:t>
            </a:r>
          </a:p>
        </p:txBody>
      </p:sp>
      <p:sp>
        <p:nvSpPr>
          <p:cNvPr id="9" name="Ellipse 8">
            <a:extLst>
              <a:ext uri="{FF2B5EF4-FFF2-40B4-BE49-F238E27FC236}">
                <a16:creationId xmlns:a16="http://schemas.microsoft.com/office/drawing/2014/main" id="{33D87071-C6D0-4D71-CF3B-292FE113E02F}"/>
              </a:ext>
            </a:extLst>
          </p:cNvPr>
          <p:cNvSpPr/>
          <p:nvPr/>
        </p:nvSpPr>
        <p:spPr>
          <a:xfrm>
            <a:off x="5559865" y="4400880"/>
            <a:ext cx="2098964" cy="581890"/>
          </a:xfrm>
          <a:prstGeom prst="ellipse">
            <a:avLst/>
          </a:prstGeom>
          <a:noFill/>
          <a:ln w="57150">
            <a:solidFill>
              <a:srgbClr val="F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a:extLst>
              <a:ext uri="{FF2B5EF4-FFF2-40B4-BE49-F238E27FC236}">
                <a16:creationId xmlns:a16="http://schemas.microsoft.com/office/drawing/2014/main" id="{1658510F-B18F-9B82-B192-85EE33721F84}"/>
              </a:ext>
            </a:extLst>
          </p:cNvPr>
          <p:cNvCxnSpPr>
            <a:cxnSpLocks/>
          </p:cNvCxnSpPr>
          <p:nvPr/>
        </p:nvCxnSpPr>
        <p:spPr>
          <a:xfrm flipV="1">
            <a:off x="4301836" y="4982770"/>
            <a:ext cx="2307511" cy="29262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791C2FDB-9B94-43C8-3277-A32963A29DA9}"/>
              </a:ext>
            </a:extLst>
          </p:cNvPr>
          <p:cNvPicPr>
            <a:picLocks noChangeAspect="1"/>
          </p:cNvPicPr>
          <p:nvPr/>
        </p:nvPicPr>
        <p:blipFill>
          <a:blip r:embed="rId3"/>
          <a:stretch>
            <a:fillRect/>
          </a:stretch>
        </p:blipFill>
        <p:spPr>
          <a:xfrm>
            <a:off x="8772092" y="1143291"/>
            <a:ext cx="1201016" cy="1201016"/>
          </a:xfrm>
          <a:prstGeom prst="rect">
            <a:avLst/>
          </a:prstGeom>
        </p:spPr>
      </p:pic>
      <p:sp>
        <p:nvSpPr>
          <p:cNvPr id="3" name="Espace réservé du numéro de diapositive 2">
            <a:extLst>
              <a:ext uri="{FF2B5EF4-FFF2-40B4-BE49-F238E27FC236}">
                <a16:creationId xmlns:a16="http://schemas.microsoft.com/office/drawing/2014/main" id="{16D1E208-F79C-E114-46FB-F138B16A4EAE}"/>
              </a:ext>
            </a:extLst>
          </p:cNvPr>
          <p:cNvSpPr>
            <a:spLocks noGrp="1"/>
          </p:cNvSpPr>
          <p:nvPr>
            <p:ph type="sldNum" sz="quarter" idx="12"/>
          </p:nvPr>
        </p:nvSpPr>
        <p:spPr>
          <a:xfrm>
            <a:off x="11778163" y="9054353"/>
            <a:ext cx="717693" cy="511175"/>
          </a:xfrm>
        </p:spPr>
        <p:txBody>
          <a:bodyPr/>
          <a:lstStyle/>
          <a:p>
            <a:fld id="{69E57DC2-970A-4B3E-BB1C-7A09969E49DF}" type="slidenum">
              <a:rPr lang="en-US" sz="2800" b="1" smtClean="0">
                <a:solidFill>
                  <a:schemeClr val="tx1">
                    <a:lumMod val="95000"/>
                    <a:lumOff val="5000"/>
                  </a:schemeClr>
                </a:solidFill>
              </a:rPr>
              <a:t>7</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092885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057F27-3BF2-6B01-2C20-758ABAA9E5A5}"/>
              </a:ext>
            </a:extLst>
          </p:cNvPr>
          <p:cNvSpPr>
            <a:spLocks noGrp="1"/>
          </p:cNvSpPr>
          <p:nvPr>
            <p:ph type="title"/>
          </p:nvPr>
        </p:nvSpPr>
        <p:spPr>
          <a:xfrm>
            <a:off x="2579369" y="1"/>
            <a:ext cx="7707631" cy="1413164"/>
          </a:xfrm>
        </p:spPr>
        <p:txBody>
          <a:bodyPr>
            <a:normAutofit fontScale="90000"/>
          </a:bodyPr>
          <a:lstStyle/>
          <a:p>
            <a:pPr algn="ctr"/>
            <a:r>
              <a:rPr lang="fr-FR" sz="5300" b="1" u="sng">
                <a:solidFill>
                  <a:srgbClr val="B82300"/>
                </a:solidFill>
                <a:latin typeface="Trebuchet MS" panose="020B0603020202020204"/>
              </a:rPr>
              <a:t>Modélisation de la BDD</a:t>
            </a:r>
            <a:br>
              <a:rPr lang="fr-FR" sz="5300" b="1" u="sng">
                <a:solidFill>
                  <a:srgbClr val="B82300"/>
                </a:solidFill>
                <a:latin typeface="Trebuchet MS" panose="020B0603020202020204"/>
              </a:rPr>
            </a:br>
            <a:r>
              <a:rPr lang="fr-FR" sz="3100" b="1">
                <a:solidFill>
                  <a:schemeClr val="tx1"/>
                </a:solidFill>
                <a:latin typeface="Trebuchet MS" panose="020B0603020202020204"/>
              </a:rPr>
              <a:t>1) Identification des entités</a:t>
            </a:r>
            <a:br>
              <a:rPr lang="fr-FR" sz="5400" b="1" u="sng">
                <a:solidFill>
                  <a:srgbClr val="B82300"/>
                </a:solidFill>
                <a:latin typeface="Trebuchet MS" panose="020B0603020202020204"/>
              </a:rPr>
            </a:br>
            <a:endParaRPr lang="fr-FR"/>
          </a:p>
        </p:txBody>
      </p:sp>
      <p:graphicFrame>
        <p:nvGraphicFramePr>
          <p:cNvPr id="6" name="Espace réservé du contenu 5">
            <a:extLst>
              <a:ext uri="{FF2B5EF4-FFF2-40B4-BE49-F238E27FC236}">
                <a16:creationId xmlns:a16="http://schemas.microsoft.com/office/drawing/2014/main" id="{F346C739-9E85-528F-D843-96E3E9DD0183}"/>
              </a:ext>
            </a:extLst>
          </p:cNvPr>
          <p:cNvGraphicFramePr>
            <a:graphicFrameLocks noGrp="1"/>
          </p:cNvGraphicFramePr>
          <p:nvPr>
            <p:ph idx="1"/>
            <p:extLst>
              <p:ext uri="{D42A27DB-BD31-4B8C-83A1-F6EECF244321}">
                <p14:modId xmlns:p14="http://schemas.microsoft.com/office/powerpoint/2010/main" val="3359921533"/>
              </p:ext>
            </p:extLst>
          </p:nvPr>
        </p:nvGraphicFramePr>
        <p:xfrm>
          <a:off x="197429" y="1413166"/>
          <a:ext cx="12406744" cy="3110217"/>
        </p:xfrm>
        <a:graphic>
          <a:graphicData uri="http://schemas.openxmlformats.org/drawingml/2006/table">
            <a:tbl>
              <a:tblPr firstRow="1" bandRow="1">
                <a:tableStyleId>{5C22544A-7EE6-4342-B048-85BDC9FD1C3A}</a:tableStyleId>
              </a:tblPr>
              <a:tblGrid>
                <a:gridCol w="3101686">
                  <a:extLst>
                    <a:ext uri="{9D8B030D-6E8A-4147-A177-3AD203B41FA5}">
                      <a16:colId xmlns:a16="http://schemas.microsoft.com/office/drawing/2014/main" val="150684126"/>
                    </a:ext>
                  </a:extLst>
                </a:gridCol>
                <a:gridCol w="3101686">
                  <a:extLst>
                    <a:ext uri="{9D8B030D-6E8A-4147-A177-3AD203B41FA5}">
                      <a16:colId xmlns:a16="http://schemas.microsoft.com/office/drawing/2014/main" val="100772274"/>
                    </a:ext>
                  </a:extLst>
                </a:gridCol>
                <a:gridCol w="3101686">
                  <a:extLst>
                    <a:ext uri="{9D8B030D-6E8A-4147-A177-3AD203B41FA5}">
                      <a16:colId xmlns:a16="http://schemas.microsoft.com/office/drawing/2014/main" val="1957174083"/>
                    </a:ext>
                  </a:extLst>
                </a:gridCol>
                <a:gridCol w="3101686">
                  <a:extLst>
                    <a:ext uri="{9D8B030D-6E8A-4147-A177-3AD203B41FA5}">
                      <a16:colId xmlns:a16="http://schemas.microsoft.com/office/drawing/2014/main" val="1750590821"/>
                    </a:ext>
                  </a:extLst>
                </a:gridCol>
              </a:tblGrid>
              <a:tr h="338177">
                <a:tc>
                  <a:txBody>
                    <a:bodyPr/>
                    <a:lstStyle/>
                    <a:p>
                      <a:pPr algn="ctr"/>
                      <a:r>
                        <a:rPr lang="fr-FR" sz="2500"/>
                        <a:t>🧑‍💼 </a:t>
                      </a:r>
                      <a:r>
                        <a:rPr lang="fr-FR" sz="2500" b="1"/>
                        <a:t>User</a:t>
                      </a:r>
                      <a:endParaRPr lang="fr-FR" sz="250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fr-FR" sz="2500"/>
                        <a:t>📦 </a:t>
                      </a:r>
                      <a:r>
                        <a:rPr lang="fr-FR" sz="2500" b="1"/>
                        <a:t>Product</a:t>
                      </a:r>
                      <a:endParaRPr lang="fr-FR" sz="2500"/>
                    </a:p>
                  </a:txBody>
                  <a:tcPr>
                    <a:lnT w="12700" cap="flat" cmpd="sng" algn="ctr">
                      <a:solidFill>
                        <a:schemeClr val="tx1"/>
                      </a:solidFill>
                      <a:prstDash val="solid"/>
                      <a:round/>
                      <a:headEnd type="none" w="med" len="med"/>
                      <a:tailEnd type="none" w="med" len="med"/>
                    </a:lnT>
                  </a:tcPr>
                </a:tc>
                <a:tc>
                  <a:txBody>
                    <a:bodyPr/>
                    <a:lstStyle/>
                    <a:p>
                      <a:pPr algn="ctr"/>
                      <a:r>
                        <a:rPr lang="fr-FR" sz="2500"/>
                        <a:t>📲 </a:t>
                      </a:r>
                      <a:r>
                        <a:rPr lang="fr-FR" sz="2500" b="1"/>
                        <a:t>Scan</a:t>
                      </a:r>
                      <a:endParaRPr lang="fr-FR" sz="2500"/>
                    </a:p>
                  </a:txBody>
                  <a:tcPr>
                    <a:lnT w="12700" cap="flat" cmpd="sng" algn="ctr">
                      <a:solidFill>
                        <a:schemeClr val="tx1"/>
                      </a:solidFill>
                      <a:prstDash val="solid"/>
                      <a:round/>
                      <a:headEnd type="none" w="med" len="med"/>
                      <a:tailEnd type="none" w="med" len="med"/>
                    </a:lnT>
                  </a:tcPr>
                </a:tc>
                <a:tc>
                  <a:txBody>
                    <a:bodyPr/>
                    <a:lstStyle/>
                    <a:p>
                      <a:pPr algn="ctr"/>
                      <a:r>
                        <a:rPr lang="fr-FR" sz="2500"/>
                        <a:t>💳 </a:t>
                      </a:r>
                      <a:r>
                        <a:rPr lang="fr-FR" sz="2500" b="1"/>
                        <a:t>Payment</a:t>
                      </a:r>
                      <a:endParaRPr lang="fr-FR" sz="25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73318936"/>
                  </a:ext>
                </a:extLst>
              </a:tr>
              <a:tr h="2637777">
                <a:tc>
                  <a:txBody>
                    <a:bodyPr/>
                    <a:lstStyle/>
                    <a:p>
                      <a:pPr algn="ctr"/>
                      <a:r>
                        <a:rPr lang="fr-FR" sz="2500" b="1"/>
                        <a:t>Employé qui interagit avec l’app</a:t>
                      </a:r>
                    </a:p>
                    <a:p>
                      <a:pPr algn="ctr"/>
                      <a:r>
                        <a:rPr lang="fr-FR" sz="2500" b="0"/>
                        <a:t>(</a:t>
                      </a:r>
                      <a:r>
                        <a:rPr lang="fr-FR" sz="2500"/>
                        <a:t>id, email, username, password, reset_token…)</a:t>
                      </a:r>
                      <a:endParaRPr lang="fr-FR" sz="2500" b="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fr-FR" sz="2500" b="1"/>
                        <a:t>Article en stock ou vendu</a:t>
                      </a:r>
                    </a:p>
                    <a:p>
                      <a:pPr algn="ctr"/>
                      <a:r>
                        <a:rPr lang="fr-FR" sz="2500" b="0"/>
                        <a:t>(</a:t>
                      </a:r>
                      <a:r>
                        <a:rPr lang="en-US" sz="2500"/>
                        <a:t>id, name, barcode, quan ty, weight, price, status,</a:t>
                      </a:r>
                      <a:r>
                        <a:rPr lang="fr-FR" sz="2500"/>
                        <a:t> category )</a:t>
                      </a:r>
                      <a:endParaRPr lang="fr-FR" sz="2500" b="0"/>
                    </a:p>
                  </a:txBody>
                  <a:tcPr>
                    <a:lnB w="12700" cap="flat" cmpd="sng" algn="ctr">
                      <a:solidFill>
                        <a:schemeClr val="tx1"/>
                      </a:solidFill>
                      <a:prstDash val="solid"/>
                      <a:round/>
                      <a:headEnd type="none" w="med" len="med"/>
                      <a:tailEnd type="none" w="med" len="med"/>
                    </a:lnB>
                  </a:tcPr>
                </a:tc>
                <a:tc>
                  <a:txBody>
                    <a:bodyPr/>
                    <a:lstStyle/>
                    <a:p>
                      <a:pPr algn="ctr"/>
                      <a:r>
                        <a:rPr lang="fr-FR" sz="2500" b="1"/>
                        <a:t>Lecture de code-barres</a:t>
                      </a:r>
                    </a:p>
                    <a:p>
                      <a:pPr algn="ctr"/>
                      <a:r>
                        <a:rPr lang="en-US" sz="2500"/>
                        <a:t>(id, user_id, product_id, date_scan, </a:t>
                      </a:r>
                      <a:r>
                        <a:rPr lang="fr-FR" sz="2500"/>
                        <a:t>payment_id</a:t>
                      </a:r>
                      <a:r>
                        <a:rPr lang="en-US" sz="2500"/>
                        <a:t>)</a:t>
                      </a:r>
                      <a:endParaRPr lang="fr-FR" sz="2500" b="0"/>
                    </a:p>
                  </a:txBody>
                  <a:tcPr>
                    <a:lnB w="12700" cap="flat" cmpd="sng" algn="ctr">
                      <a:solidFill>
                        <a:schemeClr val="tx1"/>
                      </a:solidFill>
                      <a:prstDash val="solid"/>
                      <a:round/>
                      <a:headEnd type="none" w="med" len="med"/>
                      <a:tailEnd type="none" w="med" len="med"/>
                    </a:lnB>
                  </a:tcPr>
                </a:tc>
                <a:tc>
                  <a:txBody>
                    <a:bodyPr/>
                    <a:lstStyle/>
                    <a:p>
                      <a:pPr algn="ctr"/>
                      <a:r>
                        <a:rPr lang="fr-FR" sz="2500" b="1"/>
                        <a:t>Transaction liée à un ou plusieurs scans</a:t>
                      </a:r>
                    </a:p>
                    <a:p>
                      <a:pPr algn="ctr"/>
                      <a:r>
                        <a:rPr lang="fr-FR" sz="2500" b="0"/>
                        <a:t>(</a:t>
                      </a:r>
                      <a:r>
                        <a:rPr lang="en-US" sz="2500"/>
                        <a:t>id, amount, type (ENUM CARD/CASH), payment_date…)</a:t>
                      </a:r>
                      <a:endParaRPr lang="fr-FR" sz="2500" b="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245461"/>
                  </a:ext>
                </a:extLst>
              </a:tr>
            </a:tbl>
          </a:graphicData>
        </a:graphic>
      </p:graphicFrame>
      <p:sp>
        <p:nvSpPr>
          <p:cNvPr id="8" name="ZoneTexte 7">
            <a:extLst>
              <a:ext uri="{FF2B5EF4-FFF2-40B4-BE49-F238E27FC236}">
                <a16:creationId xmlns:a16="http://schemas.microsoft.com/office/drawing/2014/main" id="{4F71B1D6-8FED-8DEA-2928-3F06306F7679}"/>
              </a:ext>
            </a:extLst>
          </p:cNvPr>
          <p:cNvSpPr txBox="1"/>
          <p:nvPr/>
        </p:nvSpPr>
        <p:spPr>
          <a:xfrm>
            <a:off x="3886198" y="5212080"/>
            <a:ext cx="4904509" cy="523092"/>
          </a:xfrm>
          <a:prstGeom prst="rect">
            <a:avLst/>
          </a:prstGeom>
          <a:noFill/>
        </p:spPr>
        <p:txBody>
          <a:bodyPr wrap="square" rtlCol="0">
            <a:spAutoFit/>
          </a:bodyPr>
          <a:lstStyle/>
          <a:p>
            <a:r>
              <a:rPr lang="fr-FR" sz="2799" b="1">
                <a:solidFill>
                  <a:prstClr val="black"/>
                </a:solidFill>
                <a:latin typeface="Trebuchet MS" panose="020B0603020202020204"/>
                <a:ea typeface="+mj-ea"/>
                <a:cs typeface="+mj-cs"/>
              </a:rPr>
              <a:t>2) </a:t>
            </a:r>
            <a:r>
              <a:rPr lang="fr-FR" sz="2799" b="1"/>
              <a:t>Définition des relations </a:t>
            </a:r>
            <a:endParaRPr lang="fr-FR" b="1"/>
          </a:p>
        </p:txBody>
      </p:sp>
      <p:graphicFrame>
        <p:nvGraphicFramePr>
          <p:cNvPr id="9" name="Tableau 8">
            <a:extLst>
              <a:ext uri="{FF2B5EF4-FFF2-40B4-BE49-F238E27FC236}">
                <a16:creationId xmlns:a16="http://schemas.microsoft.com/office/drawing/2014/main" id="{0694BA9F-48C8-1024-0841-3F556930F46E}"/>
              </a:ext>
            </a:extLst>
          </p:cNvPr>
          <p:cNvGraphicFramePr>
            <a:graphicFrameLocks noGrp="1"/>
          </p:cNvGraphicFramePr>
          <p:nvPr>
            <p:extLst>
              <p:ext uri="{D42A27DB-BD31-4B8C-83A1-F6EECF244321}">
                <p14:modId xmlns:p14="http://schemas.microsoft.com/office/powerpoint/2010/main" val="2858600338"/>
              </p:ext>
            </p:extLst>
          </p:nvPr>
        </p:nvGraphicFramePr>
        <p:xfrm>
          <a:off x="197432" y="6088595"/>
          <a:ext cx="12406743" cy="3301116"/>
        </p:xfrm>
        <a:graphic>
          <a:graphicData uri="http://schemas.openxmlformats.org/drawingml/2006/table">
            <a:tbl>
              <a:tblPr firstRow="1" bandRow="1">
                <a:tableStyleId>{5C22544A-7EE6-4342-B048-85BDC9FD1C3A}</a:tableStyleId>
              </a:tblPr>
              <a:tblGrid>
                <a:gridCol w="3065317">
                  <a:extLst>
                    <a:ext uri="{9D8B030D-6E8A-4147-A177-3AD203B41FA5}">
                      <a16:colId xmlns:a16="http://schemas.microsoft.com/office/drawing/2014/main" val="8588698"/>
                    </a:ext>
                  </a:extLst>
                </a:gridCol>
                <a:gridCol w="2680855">
                  <a:extLst>
                    <a:ext uri="{9D8B030D-6E8A-4147-A177-3AD203B41FA5}">
                      <a16:colId xmlns:a16="http://schemas.microsoft.com/office/drawing/2014/main" val="1742197208"/>
                    </a:ext>
                  </a:extLst>
                </a:gridCol>
                <a:gridCol w="6660571">
                  <a:extLst>
                    <a:ext uri="{9D8B030D-6E8A-4147-A177-3AD203B41FA5}">
                      <a16:colId xmlns:a16="http://schemas.microsoft.com/office/drawing/2014/main" val="1440704900"/>
                    </a:ext>
                  </a:extLst>
                </a:gridCol>
              </a:tblGrid>
              <a:tr h="609600">
                <a:tc>
                  <a:txBody>
                    <a:bodyPr/>
                    <a:lstStyle/>
                    <a:p>
                      <a:pPr algn="ctr"/>
                      <a:r>
                        <a:rPr lang="fr-FR" sz="2500"/>
                        <a:t>Relation</a:t>
                      </a:r>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fr-FR" sz="2500"/>
                        <a:t>Type</a:t>
                      </a:r>
                    </a:p>
                  </a:txBody>
                  <a:tcPr>
                    <a:lnT w="28575" cap="flat" cmpd="sng" algn="ctr">
                      <a:solidFill>
                        <a:schemeClr val="tx1"/>
                      </a:solidFill>
                      <a:prstDash val="solid"/>
                      <a:round/>
                      <a:headEnd type="none" w="med" len="med"/>
                      <a:tailEnd type="none" w="med" len="med"/>
                    </a:lnT>
                  </a:tcPr>
                </a:tc>
                <a:tc>
                  <a:txBody>
                    <a:bodyPr/>
                    <a:lstStyle/>
                    <a:p>
                      <a:pPr algn="ctr"/>
                      <a:r>
                        <a:rPr lang="fr-FR" sz="2500"/>
                        <a:t>Exemple</a:t>
                      </a:r>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93069709"/>
                  </a:ext>
                </a:extLst>
              </a:tr>
              <a:tr h="672879">
                <a:tc>
                  <a:txBody>
                    <a:bodyPr/>
                    <a:lstStyle/>
                    <a:p>
                      <a:pPr algn="ctr"/>
                      <a:r>
                        <a:rPr lang="fr-FR" sz="2500"/>
                        <a:t>User → Scan</a:t>
                      </a:r>
                    </a:p>
                  </a:txBody>
                  <a:tcPr anchor="ctr">
                    <a:lnL w="28575" cap="flat" cmpd="sng" algn="ctr">
                      <a:solidFill>
                        <a:schemeClr val="tx1"/>
                      </a:solidFill>
                      <a:prstDash val="solid"/>
                      <a:round/>
                      <a:headEnd type="none" w="med" len="med"/>
                      <a:tailEnd type="none" w="med" len="med"/>
                    </a:lnL>
                  </a:tcPr>
                </a:tc>
                <a:tc>
                  <a:txBody>
                    <a:bodyPr/>
                    <a:lstStyle/>
                    <a:p>
                      <a:pPr algn="ctr"/>
                      <a:r>
                        <a:rPr lang="fr-FR" sz="2500"/>
                        <a:t>1-to-many (1 *)</a:t>
                      </a:r>
                    </a:p>
                  </a:txBody>
                  <a:tcPr anchor="ctr"/>
                </a:tc>
                <a:tc>
                  <a:txBody>
                    <a:bodyPr/>
                    <a:lstStyle/>
                    <a:p>
                      <a:pPr algn="ctr"/>
                      <a:r>
                        <a:rPr lang="fr-FR" sz="2500"/>
                        <a:t>Un employé scanne plusieurs produits</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05812079"/>
                  </a:ext>
                </a:extLst>
              </a:tr>
              <a:tr h="672879">
                <a:tc>
                  <a:txBody>
                    <a:bodyPr/>
                    <a:lstStyle/>
                    <a:p>
                      <a:pPr algn="ctr"/>
                      <a:r>
                        <a:rPr lang="fr-FR" sz="2500"/>
                        <a:t>Product → Scan</a:t>
                      </a:r>
                    </a:p>
                  </a:txBody>
                  <a:tcPr anchor="ctr">
                    <a:lnL w="28575" cap="flat" cmpd="sng" algn="ctr">
                      <a:solidFill>
                        <a:schemeClr val="tx1"/>
                      </a:solidFill>
                      <a:prstDash val="solid"/>
                      <a:round/>
                      <a:headEnd type="none" w="med" len="med"/>
                      <a:tailEnd type="none" w="med" len="med"/>
                    </a:lnL>
                  </a:tcPr>
                </a:tc>
                <a:tc>
                  <a:txBody>
                    <a:bodyPr/>
                    <a:lstStyle/>
                    <a:p>
                      <a:pPr algn="ctr"/>
                      <a:r>
                        <a:rPr lang="fr-FR" sz="2500"/>
                        <a:t>1-to-many (1 *)</a:t>
                      </a:r>
                    </a:p>
                  </a:txBody>
                  <a:tcPr anchor="ctr"/>
                </a:tc>
                <a:tc>
                  <a:txBody>
                    <a:bodyPr/>
                    <a:lstStyle/>
                    <a:p>
                      <a:pPr algn="ctr"/>
                      <a:r>
                        <a:rPr lang="fr-FR" sz="2500"/>
                        <a:t>Un produit est scanné plusieurs fois</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90973102"/>
                  </a:ext>
                </a:extLst>
              </a:tr>
              <a:tr h="672879">
                <a:tc>
                  <a:txBody>
                    <a:bodyPr/>
                    <a:lstStyle/>
                    <a:p>
                      <a:pPr algn="ctr"/>
                      <a:r>
                        <a:rPr lang="fr-FR" sz="2500"/>
                        <a:t>Payment → Scan</a:t>
                      </a:r>
                    </a:p>
                  </a:txBody>
                  <a:tcPr anchor="ctr">
                    <a:lnL w="28575" cap="flat" cmpd="sng" algn="ctr">
                      <a:solidFill>
                        <a:schemeClr val="tx1"/>
                      </a:solidFill>
                      <a:prstDash val="solid"/>
                      <a:round/>
                      <a:headEnd type="none" w="med" len="med"/>
                      <a:tailEnd type="none" w="med" len="med"/>
                    </a:lnL>
                  </a:tcPr>
                </a:tc>
                <a:tc>
                  <a:txBody>
                    <a:bodyPr/>
                    <a:lstStyle/>
                    <a:p>
                      <a:pPr algn="ctr"/>
                      <a:r>
                        <a:rPr lang="fr-FR" sz="2500"/>
                        <a:t>1-to-many (1 *)</a:t>
                      </a:r>
                    </a:p>
                  </a:txBody>
                  <a:tcPr anchor="ctr"/>
                </a:tc>
                <a:tc>
                  <a:txBody>
                    <a:bodyPr/>
                    <a:lstStyle/>
                    <a:p>
                      <a:pPr algn="ctr"/>
                      <a:r>
                        <a:rPr lang="fr-FR" sz="2500"/>
                        <a:t>Un paiement regroupe plusieurs scans</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59851631"/>
                  </a:ext>
                </a:extLst>
              </a:tr>
              <a:tr h="672879">
                <a:tc>
                  <a:txBody>
                    <a:bodyPr/>
                    <a:lstStyle/>
                    <a:p>
                      <a:pPr algn="ctr"/>
                      <a:r>
                        <a:rPr lang="fr-FR" sz="2500"/>
                        <a:t>User → Payment</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fr-FR" sz="2500"/>
                        <a:t>1-to-many (1 *)</a:t>
                      </a:r>
                    </a:p>
                  </a:txBody>
                  <a:tcPr anchor="ctr">
                    <a:lnB w="28575" cap="flat" cmpd="sng" algn="ctr">
                      <a:solidFill>
                        <a:schemeClr val="tx1"/>
                      </a:solidFill>
                      <a:prstDash val="solid"/>
                      <a:round/>
                      <a:headEnd type="none" w="med" len="med"/>
                      <a:tailEnd type="none" w="med" len="med"/>
                    </a:lnB>
                  </a:tcPr>
                </a:tc>
                <a:tc>
                  <a:txBody>
                    <a:bodyPr/>
                    <a:lstStyle/>
                    <a:p>
                      <a:pPr algn="ctr"/>
                      <a:r>
                        <a:rPr lang="fr-FR" sz="2500"/>
                        <a:t>Un employé valide plusieurs paiements</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0791531"/>
                  </a:ext>
                </a:extLst>
              </a:tr>
            </a:tbl>
          </a:graphicData>
        </a:graphic>
      </p:graphicFrame>
      <p:sp>
        <p:nvSpPr>
          <p:cNvPr id="3" name="Espace réservé du numéro de diapositive 2">
            <a:extLst>
              <a:ext uri="{FF2B5EF4-FFF2-40B4-BE49-F238E27FC236}">
                <a16:creationId xmlns:a16="http://schemas.microsoft.com/office/drawing/2014/main" id="{68EAA74F-415D-D8F8-D6C0-07C9A9738812}"/>
              </a:ext>
            </a:extLst>
          </p:cNvPr>
          <p:cNvSpPr>
            <a:spLocks noGrp="1"/>
          </p:cNvSpPr>
          <p:nvPr>
            <p:ph type="sldNum" sz="quarter" idx="12"/>
          </p:nvPr>
        </p:nvSpPr>
        <p:spPr>
          <a:xfrm>
            <a:off x="11886475" y="8876165"/>
            <a:ext cx="717693" cy="511175"/>
          </a:xfrm>
        </p:spPr>
        <p:txBody>
          <a:bodyPr/>
          <a:lstStyle/>
          <a:p>
            <a:fld id="{69E57DC2-970A-4B3E-BB1C-7A09969E49DF}" type="slidenum">
              <a:rPr lang="en-US" sz="2800" b="1" smtClean="0">
                <a:solidFill>
                  <a:schemeClr val="tx1">
                    <a:lumMod val="95000"/>
                    <a:lumOff val="5000"/>
                  </a:schemeClr>
                </a:solidFill>
              </a:rPr>
              <a:t>8</a:t>
            </a:fld>
            <a:endParaRPr lang="en-US" sz="2800" b="1">
              <a:solidFill>
                <a:schemeClr val="tx1">
                  <a:lumMod val="95000"/>
                  <a:lumOff val="5000"/>
                </a:schemeClr>
              </a:solidFill>
            </a:endParaRPr>
          </a:p>
        </p:txBody>
      </p:sp>
      <p:grpSp>
        <p:nvGrpSpPr>
          <p:cNvPr id="13" name="Groupe 12">
            <a:extLst>
              <a:ext uri="{FF2B5EF4-FFF2-40B4-BE49-F238E27FC236}">
                <a16:creationId xmlns:a16="http://schemas.microsoft.com/office/drawing/2014/main" id="{8AD5A39B-9EC1-4FF7-B73A-C64BD3140247}"/>
              </a:ext>
            </a:extLst>
          </p:cNvPr>
          <p:cNvGrpSpPr/>
          <p:nvPr/>
        </p:nvGrpSpPr>
        <p:grpSpPr>
          <a:xfrm>
            <a:off x="-98395" y="1"/>
            <a:ext cx="13063158" cy="9601199"/>
            <a:chOff x="-130779" y="0"/>
            <a:chExt cx="13063158" cy="9601199"/>
          </a:xfrm>
        </p:grpSpPr>
        <p:pic>
          <p:nvPicPr>
            <p:cNvPr id="11" name="Image 10" descr="Une image contenant texte, Police, diagramme, écriture manuscrite&#10;&#10;Le contenu généré par l’IA peut être incorrect.">
              <a:extLst>
                <a:ext uri="{FF2B5EF4-FFF2-40B4-BE49-F238E27FC236}">
                  <a16:creationId xmlns:a16="http://schemas.microsoft.com/office/drawing/2014/main" id="{FF619904-DB58-DE09-5A56-B7D738832A83}"/>
                </a:ext>
              </a:extLst>
            </p:cNvPr>
            <p:cNvPicPr>
              <a:picLocks noChangeAspect="1"/>
            </p:cNvPicPr>
            <p:nvPr/>
          </p:nvPicPr>
          <p:blipFill>
            <a:blip r:embed="rId3"/>
            <a:stretch>
              <a:fillRect/>
            </a:stretch>
          </p:blipFill>
          <p:spPr>
            <a:xfrm>
              <a:off x="-130779" y="0"/>
              <a:ext cx="13063158" cy="9601199"/>
            </a:xfrm>
            <a:prstGeom prst="rect">
              <a:avLst/>
            </a:prstGeom>
          </p:spPr>
        </p:pic>
        <p:sp>
          <p:nvSpPr>
            <p:cNvPr id="12" name="ZoneTexte 11">
              <a:extLst>
                <a:ext uri="{FF2B5EF4-FFF2-40B4-BE49-F238E27FC236}">
                  <a16:creationId xmlns:a16="http://schemas.microsoft.com/office/drawing/2014/main" id="{ABD0FAAA-7832-625A-31BB-52EDA0259C86}"/>
                </a:ext>
              </a:extLst>
            </p:cNvPr>
            <p:cNvSpPr txBox="1"/>
            <p:nvPr/>
          </p:nvSpPr>
          <p:spPr>
            <a:xfrm>
              <a:off x="0" y="622651"/>
              <a:ext cx="4176143" cy="584775"/>
            </a:xfrm>
            <a:prstGeom prst="rect">
              <a:avLst/>
            </a:prstGeom>
            <a:noFill/>
          </p:spPr>
          <p:txBody>
            <a:bodyPr wrap="none" rtlCol="0">
              <a:spAutoFit/>
            </a:bodyPr>
            <a:lstStyle/>
            <a:p>
              <a:r>
                <a:rPr lang="fr-FR" sz="3200" b="1">
                  <a:solidFill>
                    <a:srgbClr val="FF0000"/>
                  </a:solidFill>
                </a:rPr>
                <a:t>Diagramme de classe</a:t>
              </a:r>
            </a:p>
          </p:txBody>
        </p:sp>
      </p:grpSp>
    </p:spTree>
    <p:extLst>
      <p:ext uri="{BB962C8B-B14F-4D97-AF65-F5344CB8AC3E}">
        <p14:creationId xmlns:p14="http://schemas.microsoft.com/office/powerpoint/2010/main" val="286466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B2C9EA-8AAD-7103-C952-D46B8009CBD5}"/>
              </a:ext>
            </a:extLst>
          </p:cNvPr>
          <p:cNvSpPr>
            <a:spLocks noGrp="1"/>
          </p:cNvSpPr>
          <p:nvPr>
            <p:ph type="title"/>
          </p:nvPr>
        </p:nvSpPr>
        <p:spPr>
          <a:xfrm>
            <a:off x="1186774" y="-9698"/>
            <a:ext cx="8162081" cy="969220"/>
          </a:xfrm>
        </p:spPr>
        <p:txBody>
          <a:bodyPr>
            <a:normAutofit/>
          </a:bodyPr>
          <a:lstStyle/>
          <a:p>
            <a:r>
              <a:rPr lang="fr-FR" sz="4801" b="1" u="sng">
                <a:solidFill>
                  <a:srgbClr val="FF0000"/>
                </a:solidFill>
              </a:rPr>
              <a:t>MPD</a:t>
            </a:r>
            <a:r>
              <a:rPr lang="fr-FR" sz="4801" b="1">
                <a:solidFill>
                  <a:srgbClr val="FF0000"/>
                </a:solidFill>
              </a:rPr>
              <a:t> </a:t>
            </a:r>
            <a:r>
              <a:rPr lang="fr-FR" sz="3600" b="1">
                <a:solidFill>
                  <a:schemeClr val="tx1"/>
                </a:solidFill>
              </a:rPr>
              <a:t>(Modele physique de données)</a:t>
            </a:r>
          </a:p>
        </p:txBody>
      </p:sp>
      <p:pic>
        <p:nvPicPr>
          <p:cNvPr id="14" name="Image 13" descr="Une image contenant texte, capture d’écran, Police, nombre&#10;&#10;Le contenu généré par l’IA peut être incorrect.">
            <a:extLst>
              <a:ext uri="{FF2B5EF4-FFF2-40B4-BE49-F238E27FC236}">
                <a16:creationId xmlns:a16="http://schemas.microsoft.com/office/drawing/2014/main" id="{A86FD98D-2212-7ADB-95DE-D208295EB15F}"/>
              </a:ext>
            </a:extLst>
          </p:cNvPr>
          <p:cNvPicPr>
            <a:picLocks noChangeAspect="1"/>
          </p:cNvPicPr>
          <p:nvPr/>
        </p:nvPicPr>
        <p:blipFill>
          <a:blip r:embed="rId3"/>
          <a:srcRect l="836" t="1745" b="1484"/>
          <a:stretch/>
        </p:blipFill>
        <p:spPr>
          <a:xfrm>
            <a:off x="238541" y="1133060"/>
            <a:ext cx="7884863" cy="7880069"/>
          </a:xfrm>
          <a:prstGeom prst="rect">
            <a:avLst/>
          </a:prstGeom>
        </p:spPr>
      </p:pic>
      <p:sp>
        <p:nvSpPr>
          <p:cNvPr id="15" name="Rectangle 14">
            <a:extLst>
              <a:ext uri="{FF2B5EF4-FFF2-40B4-BE49-F238E27FC236}">
                <a16:creationId xmlns:a16="http://schemas.microsoft.com/office/drawing/2014/main" id="{6BBE2C5E-6E68-05CC-9A3B-70CCC0ACBEEC}"/>
              </a:ext>
            </a:extLst>
          </p:cNvPr>
          <p:cNvSpPr/>
          <p:nvPr/>
        </p:nvSpPr>
        <p:spPr>
          <a:xfrm>
            <a:off x="8319151" y="839023"/>
            <a:ext cx="5004111" cy="843536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DF42EFCA-7E91-F239-026C-352EB39DBA08}"/>
              </a:ext>
            </a:extLst>
          </p:cNvPr>
          <p:cNvSpPr/>
          <p:nvPr/>
        </p:nvSpPr>
        <p:spPr>
          <a:xfrm>
            <a:off x="-678426" y="9013128"/>
            <a:ext cx="13774994" cy="125299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AB73CCED-91B5-BC1F-6F80-7731E1C229F5}"/>
              </a:ext>
            </a:extLst>
          </p:cNvPr>
          <p:cNvSpPr/>
          <p:nvPr/>
        </p:nvSpPr>
        <p:spPr>
          <a:xfrm>
            <a:off x="0" y="5275386"/>
            <a:ext cx="450166" cy="443132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E702E4E4-E691-1051-9B76-6DCADCFDF076}"/>
              </a:ext>
            </a:extLst>
          </p:cNvPr>
          <p:cNvSpPr/>
          <p:nvPr/>
        </p:nvSpPr>
        <p:spPr>
          <a:xfrm>
            <a:off x="748229" y="6934201"/>
            <a:ext cx="1528045" cy="653375"/>
          </a:xfrm>
          <a:prstGeom prst="roundRect">
            <a:avLst/>
          </a:prstGeom>
          <a:noFill/>
          <a:ln w="38100" cap="flat" cmpd="sng" algn="ctr">
            <a:solidFill>
              <a:srgbClr val="00B05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defTabSz="914368"/>
            <a:endParaRPr lang="fr-FR" kern="0">
              <a:solidFill>
                <a:sysClr val="window" lastClr="FFFFFF"/>
              </a:solidFill>
              <a:latin typeface="Calibri" panose="020F0502020204030204"/>
            </a:endParaRPr>
          </a:p>
        </p:txBody>
      </p:sp>
      <p:sp>
        <p:nvSpPr>
          <p:cNvPr id="19" name="Rectangle : coins arrondis 18">
            <a:extLst>
              <a:ext uri="{FF2B5EF4-FFF2-40B4-BE49-F238E27FC236}">
                <a16:creationId xmlns:a16="http://schemas.microsoft.com/office/drawing/2014/main" id="{19423A16-69A4-3768-FECE-7BD37C581AEC}"/>
              </a:ext>
            </a:extLst>
          </p:cNvPr>
          <p:cNvSpPr/>
          <p:nvPr/>
        </p:nvSpPr>
        <p:spPr>
          <a:xfrm>
            <a:off x="748227" y="7986412"/>
            <a:ext cx="1602624" cy="359923"/>
          </a:xfrm>
          <a:prstGeom prst="roundRect">
            <a:avLst/>
          </a:prstGeom>
          <a:noFill/>
          <a:ln w="38100" cap="flat" cmpd="sng" algn="ctr">
            <a:solidFill>
              <a:srgbClr val="00B05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defTabSz="914368"/>
            <a:endParaRPr lang="fr-FR" kern="0">
              <a:solidFill>
                <a:sysClr val="window" lastClr="FFFFFF"/>
              </a:solidFill>
              <a:latin typeface="Calibri" panose="020F0502020204030204"/>
            </a:endParaRPr>
          </a:p>
        </p:txBody>
      </p:sp>
      <p:sp>
        <p:nvSpPr>
          <p:cNvPr id="20" name="Rectangle : coins arrondis 19">
            <a:extLst>
              <a:ext uri="{FF2B5EF4-FFF2-40B4-BE49-F238E27FC236}">
                <a16:creationId xmlns:a16="http://schemas.microsoft.com/office/drawing/2014/main" id="{AA9B7697-6561-CC9B-784A-88C9602D7DB5}"/>
              </a:ext>
            </a:extLst>
          </p:cNvPr>
          <p:cNvSpPr/>
          <p:nvPr/>
        </p:nvSpPr>
        <p:spPr>
          <a:xfrm>
            <a:off x="589361" y="1695747"/>
            <a:ext cx="597413" cy="204469"/>
          </a:xfrm>
          <a:prstGeom prst="roundRect">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defTabSz="914368"/>
            <a:endParaRPr lang="fr-FR" kern="0">
              <a:solidFill>
                <a:sysClr val="window" lastClr="FFFFFF"/>
              </a:solidFill>
              <a:latin typeface="Calibri" panose="020F0502020204030204"/>
            </a:endParaRPr>
          </a:p>
        </p:txBody>
      </p:sp>
      <p:sp>
        <p:nvSpPr>
          <p:cNvPr id="21" name="Rectangle : coins arrondis 20">
            <a:extLst>
              <a:ext uri="{FF2B5EF4-FFF2-40B4-BE49-F238E27FC236}">
                <a16:creationId xmlns:a16="http://schemas.microsoft.com/office/drawing/2014/main" id="{3553F707-B285-1512-F55C-F5AF614D11AC}"/>
              </a:ext>
            </a:extLst>
          </p:cNvPr>
          <p:cNvSpPr/>
          <p:nvPr/>
        </p:nvSpPr>
        <p:spPr>
          <a:xfrm>
            <a:off x="5734095" y="1590055"/>
            <a:ext cx="666709" cy="310161"/>
          </a:xfrm>
          <a:prstGeom prst="roundRect">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defTabSz="914368"/>
            <a:endParaRPr lang="fr-FR" kern="0">
              <a:solidFill>
                <a:sysClr val="window" lastClr="FFFFFF"/>
              </a:solidFill>
              <a:latin typeface="Calibri" panose="020F0502020204030204"/>
            </a:endParaRPr>
          </a:p>
        </p:txBody>
      </p:sp>
      <p:cxnSp>
        <p:nvCxnSpPr>
          <p:cNvPr id="22" name="Connecteur droit avec flèche 21">
            <a:extLst>
              <a:ext uri="{FF2B5EF4-FFF2-40B4-BE49-F238E27FC236}">
                <a16:creationId xmlns:a16="http://schemas.microsoft.com/office/drawing/2014/main" id="{21848F3D-4E64-DE78-72B5-0FC3EBDA8814}"/>
              </a:ext>
            </a:extLst>
          </p:cNvPr>
          <p:cNvCxnSpPr>
            <a:cxnSpLocks/>
          </p:cNvCxnSpPr>
          <p:nvPr/>
        </p:nvCxnSpPr>
        <p:spPr>
          <a:xfrm flipV="1">
            <a:off x="1186776" y="1478785"/>
            <a:ext cx="2587559" cy="30148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E1BCD4FE-C60A-1C3F-DF7A-672BB960BA90}"/>
              </a:ext>
            </a:extLst>
          </p:cNvPr>
          <p:cNvCxnSpPr>
            <a:cxnSpLocks/>
          </p:cNvCxnSpPr>
          <p:nvPr/>
        </p:nvCxnSpPr>
        <p:spPr>
          <a:xfrm flipH="1" flipV="1">
            <a:off x="4180970" y="1478786"/>
            <a:ext cx="1553122" cy="26635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7" name="Zone de texte 18">
            <a:extLst>
              <a:ext uri="{FF2B5EF4-FFF2-40B4-BE49-F238E27FC236}">
                <a16:creationId xmlns:a16="http://schemas.microsoft.com/office/drawing/2014/main" id="{CCF83CA4-8A48-96A0-46D0-8C18399B0D45}"/>
              </a:ext>
            </a:extLst>
          </p:cNvPr>
          <p:cNvSpPr txBox="1"/>
          <p:nvPr/>
        </p:nvSpPr>
        <p:spPr>
          <a:xfrm>
            <a:off x="6174105" y="4625661"/>
            <a:ext cx="453390" cy="3498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defTabSz="914368"/>
            <a:endParaRPr lang="fr-FR" kern="0">
              <a:solidFill>
                <a:sysClr val="windowText" lastClr="000000"/>
              </a:solidFill>
            </a:endParaRPr>
          </a:p>
        </p:txBody>
      </p:sp>
      <p:sp>
        <p:nvSpPr>
          <p:cNvPr id="30" name="ZoneTexte 29">
            <a:extLst>
              <a:ext uri="{FF2B5EF4-FFF2-40B4-BE49-F238E27FC236}">
                <a16:creationId xmlns:a16="http://schemas.microsoft.com/office/drawing/2014/main" id="{5E68B99C-8B35-E92E-D9B2-83FB7C4B851D}"/>
              </a:ext>
            </a:extLst>
          </p:cNvPr>
          <p:cNvSpPr txBox="1"/>
          <p:nvPr/>
        </p:nvSpPr>
        <p:spPr>
          <a:xfrm>
            <a:off x="3692658" y="1247952"/>
            <a:ext cx="628650" cy="461537"/>
          </a:xfrm>
          <a:prstGeom prst="rect">
            <a:avLst/>
          </a:prstGeom>
          <a:noFill/>
        </p:spPr>
        <p:txBody>
          <a:bodyPr wrap="square" rtlCol="0">
            <a:spAutoFit/>
          </a:bodyPr>
          <a:lstStyle/>
          <a:p>
            <a:r>
              <a:rPr lang="fr-FR" sz="2399" b="1">
                <a:solidFill>
                  <a:srgbClr val="C00000"/>
                </a:solidFill>
              </a:rPr>
              <a:t>PK</a:t>
            </a:r>
            <a:endParaRPr lang="fr-FR" sz="2399">
              <a:solidFill>
                <a:srgbClr val="C00000"/>
              </a:solidFill>
            </a:endParaRPr>
          </a:p>
        </p:txBody>
      </p:sp>
      <p:cxnSp>
        <p:nvCxnSpPr>
          <p:cNvPr id="31" name="Connecteur droit avec flèche 30">
            <a:extLst>
              <a:ext uri="{FF2B5EF4-FFF2-40B4-BE49-F238E27FC236}">
                <a16:creationId xmlns:a16="http://schemas.microsoft.com/office/drawing/2014/main" id="{9997B74A-E239-F3B0-8073-3C8EB703B4D4}"/>
              </a:ext>
            </a:extLst>
          </p:cNvPr>
          <p:cNvCxnSpPr>
            <a:cxnSpLocks/>
          </p:cNvCxnSpPr>
          <p:nvPr/>
        </p:nvCxnSpPr>
        <p:spPr>
          <a:xfrm flipH="1" flipV="1">
            <a:off x="2350854" y="7315201"/>
            <a:ext cx="1923473" cy="107709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1EF0C0A6-0C90-4BBA-9BBE-CC01F8D3F024}"/>
              </a:ext>
            </a:extLst>
          </p:cNvPr>
          <p:cNvCxnSpPr>
            <a:cxnSpLocks/>
          </p:cNvCxnSpPr>
          <p:nvPr/>
        </p:nvCxnSpPr>
        <p:spPr>
          <a:xfrm flipH="1" flipV="1">
            <a:off x="2375043" y="8122420"/>
            <a:ext cx="1875155" cy="26416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5" name="ZoneTexte 34">
            <a:extLst>
              <a:ext uri="{FF2B5EF4-FFF2-40B4-BE49-F238E27FC236}">
                <a16:creationId xmlns:a16="http://schemas.microsoft.com/office/drawing/2014/main" id="{DD8A0DAB-54AA-7B12-BFA1-23F5FA5BAD27}"/>
              </a:ext>
            </a:extLst>
          </p:cNvPr>
          <p:cNvSpPr txBox="1"/>
          <p:nvPr/>
        </p:nvSpPr>
        <p:spPr>
          <a:xfrm>
            <a:off x="4250195" y="8218068"/>
            <a:ext cx="828572" cy="461537"/>
          </a:xfrm>
          <a:prstGeom prst="rect">
            <a:avLst/>
          </a:prstGeom>
          <a:noFill/>
        </p:spPr>
        <p:txBody>
          <a:bodyPr wrap="square" rtlCol="0">
            <a:spAutoFit/>
          </a:bodyPr>
          <a:lstStyle/>
          <a:p>
            <a:r>
              <a:rPr lang="fr-FR" sz="2399" b="1">
                <a:solidFill>
                  <a:srgbClr val="00B050"/>
                </a:solidFill>
              </a:rPr>
              <a:t>FK</a:t>
            </a:r>
          </a:p>
        </p:txBody>
      </p:sp>
      <p:sp>
        <p:nvSpPr>
          <p:cNvPr id="36" name="Rectangle : coins arrondis 35">
            <a:extLst>
              <a:ext uri="{FF2B5EF4-FFF2-40B4-BE49-F238E27FC236}">
                <a16:creationId xmlns:a16="http://schemas.microsoft.com/office/drawing/2014/main" id="{A25DE118-002E-2D77-54C2-88B41CDD1E69}"/>
              </a:ext>
            </a:extLst>
          </p:cNvPr>
          <p:cNvSpPr/>
          <p:nvPr/>
        </p:nvSpPr>
        <p:spPr>
          <a:xfrm>
            <a:off x="5636776" y="3372667"/>
            <a:ext cx="1656122" cy="429902"/>
          </a:xfrm>
          <a:prstGeom prst="roundRect">
            <a:avLst/>
          </a:prstGeom>
          <a:noFill/>
          <a:ln w="38100" cap="flat" cmpd="sng" algn="ctr">
            <a:solidFill>
              <a:srgbClr val="00B05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defTabSz="914368"/>
            <a:endParaRPr lang="fr-FR" kern="0">
              <a:solidFill>
                <a:sysClr val="window" lastClr="FFFFFF"/>
              </a:solidFill>
              <a:latin typeface="Calibri" panose="020F0502020204030204"/>
            </a:endParaRPr>
          </a:p>
        </p:txBody>
      </p:sp>
      <p:cxnSp>
        <p:nvCxnSpPr>
          <p:cNvPr id="37" name="Connecteur droit avec flèche 36">
            <a:extLst>
              <a:ext uri="{FF2B5EF4-FFF2-40B4-BE49-F238E27FC236}">
                <a16:creationId xmlns:a16="http://schemas.microsoft.com/office/drawing/2014/main" id="{F507E442-903C-0C8A-619F-454C79EC031C}"/>
              </a:ext>
            </a:extLst>
          </p:cNvPr>
          <p:cNvCxnSpPr>
            <a:cxnSpLocks/>
            <a:stCxn id="27" idx="0"/>
          </p:cNvCxnSpPr>
          <p:nvPr/>
        </p:nvCxnSpPr>
        <p:spPr>
          <a:xfrm flipV="1">
            <a:off x="6400800" y="3802568"/>
            <a:ext cx="0" cy="82309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E8F84AED-AD85-F9CB-DF43-DABC2B336F03}"/>
              </a:ext>
            </a:extLst>
          </p:cNvPr>
          <p:cNvSpPr txBox="1"/>
          <p:nvPr/>
        </p:nvSpPr>
        <p:spPr>
          <a:xfrm>
            <a:off x="6132592" y="4589475"/>
            <a:ext cx="828572" cy="461537"/>
          </a:xfrm>
          <a:prstGeom prst="rect">
            <a:avLst/>
          </a:prstGeom>
          <a:noFill/>
        </p:spPr>
        <p:txBody>
          <a:bodyPr wrap="square" rtlCol="0">
            <a:spAutoFit/>
          </a:bodyPr>
          <a:lstStyle/>
          <a:p>
            <a:r>
              <a:rPr lang="fr-FR" sz="2399" b="1">
                <a:solidFill>
                  <a:srgbClr val="00B050"/>
                </a:solidFill>
              </a:rPr>
              <a:t>FK</a:t>
            </a:r>
          </a:p>
        </p:txBody>
      </p:sp>
      <p:sp>
        <p:nvSpPr>
          <p:cNvPr id="3" name="Rectangle 2">
            <a:extLst>
              <a:ext uri="{FF2B5EF4-FFF2-40B4-BE49-F238E27FC236}">
                <a16:creationId xmlns:a16="http://schemas.microsoft.com/office/drawing/2014/main" id="{D8D8D05B-6858-2C1B-D6B5-2AA4C485FDD7}"/>
              </a:ext>
            </a:extLst>
          </p:cNvPr>
          <p:cNvSpPr/>
          <p:nvPr/>
        </p:nvSpPr>
        <p:spPr>
          <a:xfrm>
            <a:off x="9348855" y="-35579"/>
            <a:ext cx="3974407" cy="8746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7FD86CBD-3C8C-3D59-6990-D3F04CB7BEA9}"/>
              </a:ext>
            </a:extLst>
          </p:cNvPr>
          <p:cNvSpPr txBox="1"/>
          <p:nvPr/>
        </p:nvSpPr>
        <p:spPr>
          <a:xfrm>
            <a:off x="8144467" y="867219"/>
            <a:ext cx="4678199" cy="7417415"/>
          </a:xfrm>
          <a:prstGeom prst="rect">
            <a:avLst/>
          </a:prstGeom>
          <a:noFill/>
          <a:ln>
            <a:noFill/>
          </a:ln>
        </p:spPr>
        <p:txBody>
          <a:bodyPr wrap="square" rtlCol="0">
            <a:spAutoFit/>
          </a:bodyPr>
          <a:lstStyle/>
          <a:p>
            <a:pPr algn="ctr"/>
            <a:r>
              <a:rPr lang="fr-FR" sz="2800" b="1">
                <a:solidFill>
                  <a:srgbClr val="FF0000"/>
                </a:solidFill>
              </a:rPr>
              <a:t>Clés primaires et étrangères :</a:t>
            </a:r>
          </a:p>
          <a:p>
            <a:pPr algn="ctr"/>
            <a:endParaRPr lang="fr-FR" sz="2800" b="1">
              <a:solidFill>
                <a:srgbClr val="C00000"/>
              </a:solidFill>
            </a:endParaRPr>
          </a:p>
          <a:p>
            <a:r>
              <a:rPr lang="fr-FR" sz="2800" b="1">
                <a:solidFill>
                  <a:srgbClr val="C00000"/>
                </a:solidFill>
              </a:rPr>
              <a:t>PK</a:t>
            </a:r>
            <a:r>
              <a:rPr lang="fr-FR" sz="2800"/>
              <a:t> </a:t>
            </a:r>
            <a:r>
              <a:rPr lang="fr-FR" sz="2800" b="1"/>
              <a:t>(</a:t>
            </a:r>
            <a:r>
              <a:rPr lang="fr-FR" sz="2800" b="1">
                <a:solidFill>
                  <a:srgbClr val="C00000"/>
                </a:solidFill>
              </a:rPr>
              <a:t>P</a:t>
            </a:r>
            <a:r>
              <a:rPr lang="fr-FR" sz="2800" b="1"/>
              <a:t>rimary </a:t>
            </a:r>
            <a:r>
              <a:rPr lang="fr-FR" sz="2800" b="1">
                <a:solidFill>
                  <a:srgbClr val="C00000"/>
                </a:solidFill>
              </a:rPr>
              <a:t>K</a:t>
            </a:r>
            <a:r>
              <a:rPr lang="fr-FR" sz="2800" b="1"/>
              <a:t>ey) </a:t>
            </a:r>
            <a:r>
              <a:rPr lang="fr-FR" sz="2800"/>
              <a:t>: identifiant unique par table</a:t>
            </a:r>
          </a:p>
          <a:p>
            <a:endParaRPr lang="fr-FR" sz="2800"/>
          </a:p>
          <a:p>
            <a:r>
              <a:rPr lang="fr-FR" sz="2800" b="1">
                <a:solidFill>
                  <a:srgbClr val="00A249"/>
                </a:solidFill>
              </a:rPr>
              <a:t>FK</a:t>
            </a:r>
            <a:r>
              <a:rPr lang="fr-FR" sz="2800" b="1"/>
              <a:t> (Foreign </a:t>
            </a:r>
            <a:r>
              <a:rPr lang="fr-FR" sz="2800" b="1">
                <a:solidFill>
                  <a:srgbClr val="00A249"/>
                </a:solidFill>
              </a:rPr>
              <a:t>K</a:t>
            </a:r>
            <a:r>
              <a:rPr lang="fr-FR" sz="2800" b="1"/>
              <a:t>ey)</a:t>
            </a:r>
            <a:r>
              <a:rPr lang="fr-FR" sz="2800"/>
              <a:t> : lien entre les tables</a:t>
            </a:r>
          </a:p>
          <a:p>
            <a:endParaRPr lang="fr-FR" sz="2800"/>
          </a:p>
          <a:p>
            <a:endParaRPr lang="fr-FR" sz="2800"/>
          </a:p>
          <a:p>
            <a:pPr algn="ctr"/>
            <a:r>
              <a:rPr lang="fr-FR" sz="2800" b="1">
                <a:solidFill>
                  <a:srgbClr val="FF0000"/>
                </a:solidFill>
              </a:rPr>
              <a:t>Relations :</a:t>
            </a:r>
          </a:p>
          <a:p>
            <a:pPr algn="ctr"/>
            <a:endParaRPr lang="fr-FR" sz="2800" b="1">
              <a:solidFill>
                <a:srgbClr val="C00000"/>
              </a:solidFill>
            </a:endParaRPr>
          </a:p>
          <a:p>
            <a:r>
              <a:rPr lang="fr-FR" sz="2800" b="1">
                <a:solidFill>
                  <a:srgbClr val="C00000"/>
                </a:solidFill>
              </a:rPr>
              <a:t>Exemple </a:t>
            </a:r>
          </a:p>
          <a:p>
            <a:pPr defTabSz="914368" eaLnBrk="0" fontAlgn="base" hangingPunct="0">
              <a:spcBef>
                <a:spcPct val="0"/>
              </a:spcBef>
              <a:spcAft>
                <a:spcPct val="0"/>
              </a:spcAft>
              <a:buFontTx/>
              <a:buChar char="•"/>
              <a:defRPr/>
            </a:pPr>
            <a:r>
              <a:rPr lang="fr-FR" altLang="fr-FR" sz="2800">
                <a:solidFill>
                  <a:prstClr val="black"/>
                </a:solidFill>
              </a:rPr>
              <a:t>scan.user_id → user.id : </a:t>
            </a:r>
            <a:r>
              <a:rPr lang="fr-FR" altLang="fr-FR" sz="2800">
                <a:solidFill>
                  <a:srgbClr val="FE0000"/>
                </a:solidFill>
              </a:rPr>
              <a:t>qui a scanné</a:t>
            </a:r>
          </a:p>
          <a:p>
            <a:endParaRPr lang="fr-FR" sz="2800"/>
          </a:p>
          <a:p>
            <a:endParaRPr lang="fr-FR" sz="2800"/>
          </a:p>
        </p:txBody>
      </p:sp>
      <p:sp>
        <p:nvSpPr>
          <p:cNvPr id="4" name="Espace réservé du numéro de diapositive 3">
            <a:extLst>
              <a:ext uri="{FF2B5EF4-FFF2-40B4-BE49-F238E27FC236}">
                <a16:creationId xmlns:a16="http://schemas.microsoft.com/office/drawing/2014/main" id="{905116E5-8BE4-199F-B132-10CE69913525}"/>
              </a:ext>
            </a:extLst>
          </p:cNvPr>
          <p:cNvSpPr>
            <a:spLocks noGrp="1"/>
          </p:cNvSpPr>
          <p:nvPr>
            <p:ph type="sldNum" sz="quarter" idx="12"/>
          </p:nvPr>
        </p:nvSpPr>
        <p:spPr>
          <a:xfrm>
            <a:off x="11504500" y="8791409"/>
            <a:ext cx="717693" cy="511175"/>
          </a:xfrm>
        </p:spPr>
        <p:txBody>
          <a:bodyPr/>
          <a:lstStyle/>
          <a:p>
            <a:fld id="{69E57DC2-970A-4B3E-BB1C-7A09969E49DF}" type="slidenum">
              <a:rPr lang="en-US" sz="2800" b="1" smtClean="0">
                <a:solidFill>
                  <a:schemeClr val="tx1">
                    <a:lumMod val="95000"/>
                    <a:lumOff val="5000"/>
                  </a:schemeClr>
                </a:solidFill>
              </a:rPr>
              <a:t>9</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97562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66B0E3-71B8-3219-A812-0E6AB9E60CAE}"/>
              </a:ext>
            </a:extLst>
          </p:cNvPr>
          <p:cNvSpPr/>
          <p:nvPr/>
        </p:nvSpPr>
        <p:spPr>
          <a:xfrm>
            <a:off x="8778240" y="-1254034"/>
            <a:ext cx="5355771" cy="11861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413D1FE7-94E2-160D-818D-AEC1DDBA5DA8}"/>
              </a:ext>
            </a:extLst>
          </p:cNvPr>
          <p:cNvSpPr>
            <a:spLocks noGrp="1"/>
          </p:cNvSpPr>
          <p:nvPr>
            <p:ph type="title"/>
          </p:nvPr>
        </p:nvSpPr>
        <p:spPr>
          <a:xfrm>
            <a:off x="832656" y="0"/>
            <a:ext cx="10597344" cy="705394"/>
          </a:xfrm>
        </p:spPr>
        <p:txBody>
          <a:bodyPr>
            <a:noAutofit/>
          </a:bodyPr>
          <a:lstStyle/>
          <a:p>
            <a:pPr algn="ctr"/>
            <a:r>
              <a:rPr lang="fr-FR" sz="4001" b="1" u="sng"/>
              <a:t>Création des tables &amp; configuration MySQL</a:t>
            </a:r>
          </a:p>
        </p:txBody>
      </p:sp>
      <p:sp>
        <p:nvSpPr>
          <p:cNvPr id="3" name="Espace réservé du contenu 2">
            <a:extLst>
              <a:ext uri="{FF2B5EF4-FFF2-40B4-BE49-F238E27FC236}">
                <a16:creationId xmlns:a16="http://schemas.microsoft.com/office/drawing/2014/main" id="{79FBE9E2-873C-1D83-3092-54F31C6D3F7C}"/>
              </a:ext>
            </a:extLst>
          </p:cNvPr>
          <p:cNvSpPr>
            <a:spLocks noGrp="1"/>
          </p:cNvSpPr>
          <p:nvPr>
            <p:ph idx="1"/>
          </p:nvPr>
        </p:nvSpPr>
        <p:spPr>
          <a:xfrm>
            <a:off x="488373" y="945260"/>
            <a:ext cx="12313227" cy="8655940"/>
          </a:xfrm>
        </p:spPr>
        <p:txBody>
          <a:bodyPr>
            <a:noAutofit/>
          </a:bodyPr>
          <a:lstStyle/>
          <a:p>
            <a:r>
              <a:rPr lang="fr-FR" sz="3100" b="1">
                <a:solidFill>
                  <a:srgbClr val="FE0000"/>
                </a:solidFill>
              </a:rPr>
              <a:t>C</a:t>
            </a:r>
            <a:r>
              <a:rPr lang="fr-FR" sz="3000" b="1">
                <a:solidFill>
                  <a:srgbClr val="FE0000"/>
                </a:solidFill>
              </a:rPr>
              <a:t>réation des tables :  </a:t>
            </a:r>
            <a:r>
              <a:rPr lang="fr-FR" sz="3000">
                <a:solidFill>
                  <a:schemeClr val="tx1">
                    <a:lumMod val="95000"/>
                    <a:lumOff val="5000"/>
                  </a:schemeClr>
                </a:solidFill>
              </a:rPr>
              <a:t>Langage utilisé : </a:t>
            </a:r>
            <a:r>
              <a:rPr lang="fr-FR" sz="3000" b="1">
                <a:solidFill>
                  <a:srgbClr val="FF0000"/>
                </a:solidFill>
              </a:rPr>
              <a:t>MySQL</a:t>
            </a:r>
          </a:p>
          <a:p>
            <a:r>
              <a:rPr lang="fr-FR" sz="3000" b="1">
                <a:solidFill>
                  <a:srgbClr val="FE0000"/>
                </a:solidFill>
              </a:rPr>
              <a:t>Configuration de la base</a:t>
            </a:r>
          </a:p>
          <a:p>
            <a:pPr>
              <a:buFont typeface="Arial" panose="020B0604020202020204" pitchFamily="34" charset="0"/>
              <a:buChar char="•"/>
            </a:pPr>
            <a:r>
              <a:rPr lang="fr-FR" altLang="fr-FR" sz="3000" b="1">
                <a:solidFill>
                  <a:schemeClr val="tx1"/>
                </a:solidFill>
              </a:rPr>
              <a:t>Fichier principal</a:t>
            </a:r>
            <a:r>
              <a:rPr lang="fr-FR" altLang="fr-FR" sz="3000">
                <a:solidFill>
                  <a:schemeClr val="tx1"/>
                </a:solidFill>
              </a:rPr>
              <a:t> : </a:t>
            </a:r>
            <a:r>
              <a:rPr lang="fr-FR" altLang="fr-FR" sz="3000" b="1">
                <a:solidFill>
                  <a:srgbClr val="002060"/>
                </a:solidFill>
              </a:rPr>
              <a:t>application.properties </a:t>
            </a:r>
            <a:r>
              <a:rPr lang="fr-FR" altLang="fr-FR" sz="3000">
                <a:solidFill>
                  <a:schemeClr val="tx1"/>
                </a:solidFill>
              </a:rPr>
              <a:t>→ Réglages communs : URL, identifiants, driver, JPA </a:t>
            </a:r>
          </a:p>
          <a:p>
            <a:pPr>
              <a:buFont typeface="Arial" panose="020B0604020202020204" pitchFamily="34" charset="0"/>
              <a:buChar char="•"/>
            </a:pPr>
            <a:r>
              <a:rPr lang="fr-FR" altLang="fr-FR" sz="3000" b="1">
                <a:solidFill>
                  <a:schemeClr val="tx1"/>
                </a:solidFill>
              </a:rPr>
              <a:t>Développement</a:t>
            </a:r>
            <a:r>
              <a:rPr lang="fr-FR" altLang="fr-FR" sz="3000">
                <a:solidFill>
                  <a:schemeClr val="tx1"/>
                </a:solidFill>
              </a:rPr>
              <a:t> : </a:t>
            </a:r>
            <a:r>
              <a:rPr lang="fr-FR" altLang="fr-FR" sz="3000" b="1">
                <a:solidFill>
                  <a:srgbClr val="002060"/>
                </a:solidFill>
              </a:rPr>
              <a:t>application-dev.properties </a:t>
            </a:r>
            <a:r>
              <a:rPr lang="fr-FR" altLang="fr-FR" sz="3000">
                <a:solidFill>
                  <a:schemeClr val="tx1"/>
                </a:solidFill>
              </a:rPr>
              <a:t>→ Base dédiée via Docker</a:t>
            </a:r>
          </a:p>
          <a:p>
            <a:pPr>
              <a:buFont typeface="Arial" panose="020B0604020202020204" pitchFamily="34" charset="0"/>
              <a:buChar char="•"/>
            </a:pPr>
            <a:r>
              <a:rPr lang="fr-FR" altLang="fr-FR" sz="3000" b="1">
                <a:solidFill>
                  <a:schemeClr val="tx1"/>
                </a:solidFill>
              </a:rPr>
              <a:t>Production</a:t>
            </a:r>
            <a:r>
              <a:rPr lang="fr-FR" altLang="fr-FR" sz="3000">
                <a:solidFill>
                  <a:schemeClr val="tx1"/>
                </a:solidFill>
              </a:rPr>
              <a:t> : </a:t>
            </a:r>
            <a:r>
              <a:rPr lang="fr-FR" altLang="fr-FR" sz="3000" b="1">
                <a:solidFill>
                  <a:srgbClr val="002060"/>
                </a:solidFill>
              </a:rPr>
              <a:t>application-vps.properties </a:t>
            </a:r>
            <a:r>
              <a:rPr lang="fr-FR" altLang="fr-FR" sz="3000">
                <a:solidFill>
                  <a:schemeClr val="tx1"/>
                </a:solidFill>
              </a:rPr>
              <a:t>→ Déploiement sur serveur VPS en local</a:t>
            </a:r>
          </a:p>
          <a:p>
            <a:pPr>
              <a:buFont typeface="Wingdings 3" panose="05040102010807070707" pitchFamily="18" charset="2"/>
              <a:buChar char="u"/>
            </a:pPr>
            <a:r>
              <a:rPr lang="fr-FR" sz="3000" b="1">
                <a:solidFill>
                  <a:srgbClr val="FE0000"/>
                </a:solidFill>
              </a:rPr>
              <a:t>Modélisation des entités Java</a:t>
            </a:r>
          </a:p>
          <a:p>
            <a:pPr>
              <a:buFont typeface="Arial" panose="020B0604020202020204" pitchFamily="34" charset="0"/>
              <a:buChar char="•"/>
            </a:pPr>
            <a:r>
              <a:rPr lang="fr-FR" sz="3000">
                <a:solidFill>
                  <a:schemeClr val="tx1">
                    <a:lumMod val="95000"/>
                    <a:lumOff val="5000"/>
                  </a:schemeClr>
                </a:solidFill>
              </a:rPr>
              <a:t>Chaque entité = classe Java annotée </a:t>
            </a:r>
            <a:r>
              <a:rPr lang="fr-FR" sz="3000" b="1">
                <a:solidFill>
                  <a:schemeClr val="tx1">
                    <a:lumMod val="95000"/>
                    <a:lumOff val="5000"/>
                  </a:schemeClr>
                </a:solidFill>
              </a:rPr>
              <a:t>@Entity</a:t>
            </a:r>
          </a:p>
          <a:p>
            <a:pPr>
              <a:buFont typeface="Arial" panose="020B0604020202020204" pitchFamily="34" charset="0"/>
              <a:buChar char="•"/>
            </a:pPr>
            <a:r>
              <a:rPr lang="fr-FR" sz="3000">
                <a:solidFill>
                  <a:schemeClr val="tx1">
                    <a:lumMod val="95000"/>
                    <a:lumOff val="5000"/>
                  </a:schemeClr>
                </a:solidFill>
              </a:rPr>
              <a:t>Colonnes SQL </a:t>
            </a:r>
            <a:r>
              <a:rPr lang="fr-FR" sz="3000" b="1">
                <a:solidFill>
                  <a:schemeClr val="tx1">
                    <a:lumMod val="95000"/>
                    <a:lumOff val="5000"/>
                  </a:schemeClr>
                </a:solidFill>
              </a:rPr>
              <a:t>(@Column</a:t>
            </a:r>
            <a:r>
              <a:rPr lang="fr-FR" sz="3000">
                <a:solidFill>
                  <a:schemeClr val="tx1">
                    <a:lumMod val="95000"/>
                    <a:lumOff val="5000"/>
                  </a:schemeClr>
                </a:solidFill>
              </a:rPr>
              <a:t>)</a:t>
            </a:r>
          </a:p>
          <a:p>
            <a:pPr>
              <a:buFont typeface="Arial" panose="020B0604020202020204" pitchFamily="34" charset="0"/>
              <a:buChar char="•"/>
            </a:pPr>
            <a:r>
              <a:rPr lang="fr-FR" sz="3000">
                <a:solidFill>
                  <a:schemeClr val="tx1">
                    <a:lumMod val="95000"/>
                    <a:lumOff val="5000"/>
                  </a:schemeClr>
                </a:solidFill>
              </a:rPr>
              <a:t>Clés primaires : </a:t>
            </a:r>
            <a:r>
              <a:rPr lang="fr-FR" sz="3000" b="1">
                <a:solidFill>
                  <a:schemeClr val="tx1">
                    <a:lumMod val="95000"/>
                    <a:lumOff val="5000"/>
                  </a:schemeClr>
                </a:solidFill>
              </a:rPr>
              <a:t>@Id</a:t>
            </a:r>
            <a:r>
              <a:rPr lang="fr-FR" sz="3000">
                <a:solidFill>
                  <a:schemeClr val="tx1">
                    <a:lumMod val="95000"/>
                    <a:lumOff val="5000"/>
                  </a:schemeClr>
                </a:solidFill>
              </a:rPr>
              <a:t>, </a:t>
            </a:r>
            <a:r>
              <a:rPr lang="fr-FR" sz="3000" b="1">
                <a:solidFill>
                  <a:schemeClr val="tx1">
                    <a:lumMod val="95000"/>
                    <a:lumOff val="5000"/>
                  </a:schemeClr>
                </a:solidFill>
              </a:rPr>
              <a:t>@GeneratedValue</a:t>
            </a:r>
          </a:p>
          <a:p>
            <a:pPr>
              <a:buFont typeface="Arial" panose="020B0604020202020204" pitchFamily="34" charset="0"/>
              <a:buChar char="•"/>
            </a:pPr>
            <a:r>
              <a:rPr lang="fr-FR" sz="3000">
                <a:solidFill>
                  <a:schemeClr val="tx1">
                    <a:lumMod val="95000"/>
                    <a:lumOff val="5000"/>
                  </a:schemeClr>
                </a:solidFill>
              </a:rPr>
              <a:t>Relations : </a:t>
            </a:r>
            <a:r>
              <a:rPr lang="fr-FR" sz="3000" b="1">
                <a:solidFill>
                  <a:schemeClr val="tx1">
                    <a:lumMod val="95000"/>
                    <a:lumOff val="5000"/>
                  </a:schemeClr>
                </a:solidFill>
              </a:rPr>
              <a:t>@OneToMany</a:t>
            </a:r>
            <a:r>
              <a:rPr lang="fr-FR" sz="3000">
                <a:solidFill>
                  <a:schemeClr val="tx1">
                    <a:lumMod val="95000"/>
                    <a:lumOff val="5000"/>
                  </a:schemeClr>
                </a:solidFill>
              </a:rPr>
              <a:t>, </a:t>
            </a:r>
            <a:r>
              <a:rPr lang="fr-FR" sz="3000" b="1">
                <a:solidFill>
                  <a:schemeClr val="tx1">
                    <a:lumMod val="95000"/>
                    <a:lumOff val="5000"/>
                  </a:schemeClr>
                </a:solidFill>
              </a:rPr>
              <a:t>@ManyToOne</a:t>
            </a:r>
          </a:p>
          <a:p>
            <a:pPr>
              <a:buFont typeface="Arial" panose="020B0604020202020204" pitchFamily="34" charset="0"/>
              <a:buChar char="•"/>
            </a:pPr>
            <a:r>
              <a:rPr lang="fr-FR" sz="3000">
                <a:solidFill>
                  <a:schemeClr val="tx1"/>
                </a:solidFill>
              </a:rPr>
              <a:t>Accès aux données via les </a:t>
            </a:r>
            <a:r>
              <a:rPr lang="fr-FR" sz="3000" b="1">
                <a:solidFill>
                  <a:srgbClr val="C00000"/>
                </a:solidFill>
              </a:rPr>
              <a:t>repositories</a:t>
            </a:r>
          </a:p>
          <a:p>
            <a:pPr marL="0" indent="0">
              <a:buNone/>
            </a:pPr>
            <a:endParaRPr lang="fr-FR" sz="2900" b="1">
              <a:solidFill>
                <a:schemeClr val="tx1">
                  <a:lumMod val="95000"/>
                  <a:lumOff val="5000"/>
                </a:schemeClr>
              </a:solidFill>
            </a:endParaRPr>
          </a:p>
        </p:txBody>
      </p:sp>
      <p:sp>
        <p:nvSpPr>
          <p:cNvPr id="4" name="Espace réservé du numéro de diapositive 3">
            <a:extLst>
              <a:ext uri="{FF2B5EF4-FFF2-40B4-BE49-F238E27FC236}">
                <a16:creationId xmlns:a16="http://schemas.microsoft.com/office/drawing/2014/main" id="{E53820EC-F424-4B85-3CE2-728060D58EE1}"/>
              </a:ext>
            </a:extLst>
          </p:cNvPr>
          <p:cNvSpPr>
            <a:spLocks noGrp="1"/>
          </p:cNvSpPr>
          <p:nvPr>
            <p:ph type="sldNum" sz="quarter" idx="12"/>
          </p:nvPr>
        </p:nvSpPr>
        <p:spPr>
          <a:xfrm>
            <a:off x="11430000" y="8780168"/>
            <a:ext cx="717693" cy="511175"/>
          </a:xfrm>
        </p:spPr>
        <p:txBody>
          <a:bodyPr/>
          <a:lstStyle/>
          <a:p>
            <a:fld id="{69E57DC2-970A-4B3E-BB1C-7A09969E49DF}" type="slidenum">
              <a:rPr lang="en-US" sz="2800" b="1" smtClean="0">
                <a:solidFill>
                  <a:schemeClr val="tx1">
                    <a:lumMod val="95000"/>
                    <a:lumOff val="5000"/>
                  </a:schemeClr>
                </a:solidFill>
              </a:rPr>
              <a:t>10</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2524951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8E98BBD3-7C1E-C813-E202-2602552F6E6E}"/>
              </a:ext>
            </a:extLst>
          </p:cNvPr>
          <p:cNvGrpSpPr/>
          <p:nvPr/>
        </p:nvGrpSpPr>
        <p:grpSpPr>
          <a:xfrm>
            <a:off x="1593635" y="35261"/>
            <a:ext cx="9614329" cy="9483643"/>
            <a:chOff x="2309447" y="325436"/>
            <a:chExt cx="8773081" cy="8834595"/>
          </a:xfrm>
        </p:grpSpPr>
        <p:sp>
          <p:nvSpPr>
            <p:cNvPr id="4" name="Rectangle : coins arrondis 3">
              <a:extLst>
                <a:ext uri="{FF2B5EF4-FFF2-40B4-BE49-F238E27FC236}">
                  <a16:creationId xmlns:a16="http://schemas.microsoft.com/office/drawing/2014/main" id="{80F59806-899D-70C6-D31C-E7EE41A29DFD}"/>
                </a:ext>
              </a:extLst>
            </p:cNvPr>
            <p:cNvSpPr/>
            <p:nvPr/>
          </p:nvSpPr>
          <p:spPr>
            <a:xfrm>
              <a:off x="4926647" y="325436"/>
              <a:ext cx="2874645" cy="1104046"/>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F0000"/>
                  </a:solidFill>
                  <a:effectLst/>
                  <a:uLnTx/>
                  <a:uFillTx/>
                  <a:latin typeface="Calibri" panose="020F0502020204030204"/>
                  <a:ea typeface="+mn-ea"/>
                  <a:cs typeface="+mn-cs"/>
                </a:rPr>
                <a:t>View</a:t>
              </a:r>
              <a:endParaRPr kumimoji="0" lang="fr-FR" sz="1800" b="1" i="0" u="none" strike="noStrike" kern="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(HTML, CSS, JS – Frontend)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Interagit avec l’utilisateur</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effectLst/>
                <a:uLnTx/>
                <a:uFillTx/>
                <a:latin typeface="Calibri" panose="020F0502020204030204"/>
                <a:ea typeface="+mn-ea"/>
                <a:cs typeface="+mn-cs"/>
              </a:endParaRPr>
            </a:p>
          </p:txBody>
        </p:sp>
        <p:sp>
          <p:nvSpPr>
            <p:cNvPr id="5" name="Flèche : bas 4">
              <a:extLst>
                <a:ext uri="{FF2B5EF4-FFF2-40B4-BE49-F238E27FC236}">
                  <a16:creationId xmlns:a16="http://schemas.microsoft.com/office/drawing/2014/main" id="{6E0C760D-78F8-105E-4592-767C4BA44C64}"/>
                </a:ext>
              </a:extLst>
            </p:cNvPr>
            <p:cNvSpPr/>
            <p:nvPr/>
          </p:nvSpPr>
          <p:spPr>
            <a:xfrm>
              <a:off x="6197282" y="1729422"/>
              <a:ext cx="273050" cy="302260"/>
            </a:xfrm>
            <a:prstGeom prst="downArrow">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 name="Rectangle : coins arrondis 5">
              <a:extLst>
                <a:ext uri="{FF2B5EF4-FFF2-40B4-BE49-F238E27FC236}">
                  <a16:creationId xmlns:a16="http://schemas.microsoft.com/office/drawing/2014/main" id="{6705EACF-B8D4-D029-7D42-A5B29206F04C}"/>
                </a:ext>
              </a:extLst>
            </p:cNvPr>
            <p:cNvSpPr/>
            <p:nvPr/>
          </p:nvSpPr>
          <p:spPr>
            <a:xfrm>
              <a:off x="4875847" y="2301876"/>
              <a:ext cx="2945130" cy="1242376"/>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E0000"/>
                  </a:solidFill>
                  <a:effectLst/>
                  <a:uLnTx/>
                  <a:uFillTx/>
                  <a:latin typeface="Calibri" panose="020F0502020204030204"/>
                  <a:ea typeface="+mn-ea"/>
                  <a:cs typeface="+mn-cs"/>
                </a:rPr>
                <a:t>Controller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Reçoit les requêtes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Utilise les DTO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Appel les services</a:t>
              </a:r>
            </a:p>
          </p:txBody>
        </p:sp>
        <p:sp>
          <p:nvSpPr>
            <p:cNvPr id="7" name="Rectangle : coins arrondis 6">
              <a:extLst>
                <a:ext uri="{FF2B5EF4-FFF2-40B4-BE49-F238E27FC236}">
                  <a16:creationId xmlns:a16="http://schemas.microsoft.com/office/drawing/2014/main" id="{0855447F-E11E-6D67-AA78-654B92869D43}"/>
                </a:ext>
              </a:extLst>
            </p:cNvPr>
            <p:cNvSpPr/>
            <p:nvPr/>
          </p:nvSpPr>
          <p:spPr>
            <a:xfrm>
              <a:off x="4930457" y="4338002"/>
              <a:ext cx="2945130" cy="1242376"/>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rPr>
                <a:t>Service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F0000"/>
                  </a:solidFill>
                  <a:effectLst/>
                  <a:uLnTx/>
                  <a:uFillTx/>
                  <a:latin typeface="Calibri" panose="020F0502020204030204"/>
                  <a:ea typeface="+mn-ea"/>
                  <a:cs typeface="+mn-cs"/>
                </a:rPr>
                <a:t>Service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Logique métier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Utilise les DTO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Appel les services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8" name="Rectangle : coins arrondis 7">
              <a:extLst>
                <a:ext uri="{FF2B5EF4-FFF2-40B4-BE49-F238E27FC236}">
                  <a16:creationId xmlns:a16="http://schemas.microsoft.com/office/drawing/2014/main" id="{776FA27E-75C4-00BC-F0E7-3D4DC2518C89}"/>
                </a:ext>
              </a:extLst>
            </p:cNvPr>
            <p:cNvSpPr/>
            <p:nvPr/>
          </p:nvSpPr>
          <p:spPr>
            <a:xfrm>
              <a:off x="4930457" y="6319202"/>
              <a:ext cx="2945130" cy="980122"/>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F0000"/>
                  </a:solidFill>
                  <a:effectLst/>
                  <a:uLnTx/>
                  <a:uFillTx/>
                  <a:latin typeface="Calibri" panose="020F0502020204030204"/>
                  <a:ea typeface="+mn-ea"/>
                  <a:cs typeface="+mn-cs"/>
                </a:rPr>
                <a:t>Repository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Interface JPA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Accès à la BDD</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effectLst/>
                <a:uLnTx/>
                <a:uFillTx/>
                <a:latin typeface="Calibri" panose="020F0502020204030204"/>
                <a:ea typeface="+mn-ea"/>
                <a:cs typeface="+mn-cs"/>
              </a:endParaRPr>
            </a:p>
          </p:txBody>
        </p:sp>
        <p:sp>
          <p:nvSpPr>
            <p:cNvPr id="9" name="Rectangle : coins arrondis 8">
              <a:extLst>
                <a:ext uri="{FF2B5EF4-FFF2-40B4-BE49-F238E27FC236}">
                  <a16:creationId xmlns:a16="http://schemas.microsoft.com/office/drawing/2014/main" id="{5992DD67-5766-CBBF-E767-F60D7263F251}"/>
                </a:ext>
              </a:extLst>
            </p:cNvPr>
            <p:cNvSpPr/>
            <p:nvPr/>
          </p:nvSpPr>
          <p:spPr>
            <a:xfrm>
              <a:off x="4997767" y="8179909"/>
              <a:ext cx="2945130" cy="980122"/>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F0000"/>
                  </a:solidFill>
                  <a:effectLst/>
                  <a:uLnTx/>
                  <a:uFillTx/>
                  <a:latin typeface="Calibri" panose="020F0502020204030204"/>
                  <a:ea typeface="+mn-ea"/>
                  <a:cs typeface="+mn-cs"/>
                </a:rPr>
                <a:t>Model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Entité JPA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 Représentation des objets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effectLst/>
                <a:uLnTx/>
                <a:uFillTx/>
                <a:latin typeface="Calibri" panose="020F0502020204030204"/>
                <a:ea typeface="+mn-ea"/>
                <a:cs typeface="+mn-cs"/>
              </a:endParaRPr>
            </a:p>
          </p:txBody>
        </p:sp>
        <p:sp>
          <p:nvSpPr>
            <p:cNvPr id="10" name="Flèche : bas 9">
              <a:extLst>
                <a:ext uri="{FF2B5EF4-FFF2-40B4-BE49-F238E27FC236}">
                  <a16:creationId xmlns:a16="http://schemas.microsoft.com/office/drawing/2014/main" id="{773E37F7-6458-B820-2FE7-DB12FEC20841}"/>
                </a:ext>
              </a:extLst>
            </p:cNvPr>
            <p:cNvSpPr/>
            <p:nvPr/>
          </p:nvSpPr>
          <p:spPr>
            <a:xfrm>
              <a:off x="6270307" y="3710622"/>
              <a:ext cx="273050" cy="302260"/>
            </a:xfrm>
            <a:prstGeom prst="downArrow">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1" name="Flèche : bas 10">
              <a:extLst>
                <a:ext uri="{FF2B5EF4-FFF2-40B4-BE49-F238E27FC236}">
                  <a16:creationId xmlns:a16="http://schemas.microsoft.com/office/drawing/2014/main" id="{F2633EEA-33D5-7BB2-A898-B074B2C27E6B}"/>
                </a:ext>
              </a:extLst>
            </p:cNvPr>
            <p:cNvSpPr/>
            <p:nvPr/>
          </p:nvSpPr>
          <p:spPr>
            <a:xfrm>
              <a:off x="6270307" y="5801042"/>
              <a:ext cx="273050" cy="302260"/>
            </a:xfrm>
            <a:prstGeom prst="downArrow">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2" name="Flèche : bas 11">
              <a:extLst>
                <a:ext uri="{FF2B5EF4-FFF2-40B4-BE49-F238E27FC236}">
                  <a16:creationId xmlns:a16="http://schemas.microsoft.com/office/drawing/2014/main" id="{DC6AA205-C6E0-6C96-E98F-41141C13A149}"/>
                </a:ext>
              </a:extLst>
            </p:cNvPr>
            <p:cNvSpPr/>
            <p:nvPr/>
          </p:nvSpPr>
          <p:spPr>
            <a:xfrm>
              <a:off x="6270307" y="7577137"/>
              <a:ext cx="273050" cy="302260"/>
            </a:xfrm>
            <a:prstGeom prst="downArrow">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3" name="Zone de texte 2">
              <a:extLst>
                <a:ext uri="{FF2B5EF4-FFF2-40B4-BE49-F238E27FC236}">
                  <a16:creationId xmlns:a16="http://schemas.microsoft.com/office/drawing/2014/main" id="{985D3B22-A12C-7E4F-D3C1-6CA07A66CAF7}"/>
                </a:ext>
              </a:extLst>
            </p:cNvPr>
            <p:cNvSpPr txBox="1">
              <a:spLocks noChangeArrowheads="1"/>
            </p:cNvSpPr>
            <p:nvPr/>
          </p:nvSpPr>
          <p:spPr bwMode="auto">
            <a:xfrm>
              <a:off x="6470332" y="1530763"/>
              <a:ext cx="4021821" cy="717453"/>
            </a:xfrm>
            <a:prstGeom prst="rect">
              <a:avLst/>
            </a:prstGeom>
            <a:noFill/>
            <a:ln w="9525">
              <a:noFill/>
              <a:miter lim="800000"/>
              <a:headEnd/>
              <a:tailEnd/>
            </a:ln>
          </p:spPr>
          <p:txBody>
            <a:bodyPr rot="0" vert="horz" wrap="square" lIns="91440" tIns="45720" rIns="91440" bIns="4572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i="0" u="none" strike="noStrike" kern="0" cap="none" spc="0" normalizeH="0" baseline="0" noProof="0">
                  <a:ln>
                    <a:noFill/>
                  </a:ln>
                  <a:solidFill>
                    <a:sysClr val="windowText" lastClr="000000"/>
                  </a:solidFill>
                  <a:effectLst/>
                  <a:uLnTx/>
                  <a:uFillTx/>
                </a:rPr>
                <a:t>Le Navigateur envoi des requêtes HTTP au Controller</a:t>
              </a:r>
            </a:p>
          </p:txBody>
        </p:sp>
        <p:sp>
          <p:nvSpPr>
            <p:cNvPr id="14" name="Zone de texte 2">
              <a:extLst>
                <a:ext uri="{FF2B5EF4-FFF2-40B4-BE49-F238E27FC236}">
                  <a16:creationId xmlns:a16="http://schemas.microsoft.com/office/drawing/2014/main" id="{DAFF4649-C971-6942-855C-CDB7E718C7F3}"/>
                </a:ext>
              </a:extLst>
            </p:cNvPr>
            <p:cNvSpPr txBox="1">
              <a:spLocks noChangeArrowheads="1"/>
            </p:cNvSpPr>
            <p:nvPr/>
          </p:nvSpPr>
          <p:spPr bwMode="auto">
            <a:xfrm>
              <a:off x="6592252" y="3652202"/>
              <a:ext cx="4021821" cy="585470"/>
            </a:xfrm>
            <a:prstGeom prst="rect">
              <a:avLst/>
            </a:prstGeom>
            <a:noFill/>
            <a:ln w="9525">
              <a:noFill/>
              <a:miter lim="800000"/>
              <a:headEnd/>
              <a:tailEnd/>
            </a:ln>
          </p:spPr>
          <p:txBody>
            <a:bodyPr rot="0" vert="horz" wrap="square" lIns="91440" tIns="45720" rIns="91440" bIns="4572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i="0" u="none" strike="noStrike" kern="0" cap="none" spc="0" normalizeH="0" baseline="0" noProof="0">
                  <a:ln>
                    <a:noFill/>
                  </a:ln>
                  <a:solidFill>
                    <a:sysClr val="windowText" lastClr="000000"/>
                  </a:solidFill>
                  <a:effectLst/>
                  <a:uLnTx/>
                  <a:uFillTx/>
                </a:rPr>
                <a:t>Le Controller transmet les actions à exécuter aux services</a:t>
              </a:r>
            </a:p>
          </p:txBody>
        </p:sp>
        <p:sp>
          <p:nvSpPr>
            <p:cNvPr id="15" name="Zone de texte 2">
              <a:extLst>
                <a:ext uri="{FF2B5EF4-FFF2-40B4-BE49-F238E27FC236}">
                  <a16:creationId xmlns:a16="http://schemas.microsoft.com/office/drawing/2014/main" id="{D1BF7E76-74F4-D344-BD78-CDCDAD02A73C}"/>
                </a:ext>
              </a:extLst>
            </p:cNvPr>
            <p:cNvSpPr txBox="1">
              <a:spLocks noChangeArrowheads="1"/>
            </p:cNvSpPr>
            <p:nvPr/>
          </p:nvSpPr>
          <p:spPr bwMode="auto">
            <a:xfrm>
              <a:off x="6592252" y="5641658"/>
              <a:ext cx="4490276" cy="500698"/>
            </a:xfrm>
            <a:prstGeom prst="rect">
              <a:avLst/>
            </a:prstGeom>
            <a:noFill/>
            <a:ln w="9525">
              <a:noFill/>
              <a:miter lim="800000"/>
              <a:headEnd/>
              <a:tailEnd/>
            </a:ln>
          </p:spPr>
          <p:txBody>
            <a:bodyPr rot="0" vert="horz" wrap="square" lIns="91440" tIns="45720" rIns="91440" bIns="4572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i="0" u="none" strike="noStrike" kern="0" cap="none" spc="0" normalizeH="0" baseline="0" noProof="0">
                  <a:ln>
                    <a:noFill/>
                  </a:ln>
                  <a:solidFill>
                    <a:sysClr val="windowText" lastClr="000000"/>
                  </a:solidFill>
                  <a:effectLst/>
                  <a:uLnTx/>
                  <a:uFillTx/>
                </a:rPr>
                <a:t>Le Service passe par le Repository pour gérer les données métier</a:t>
              </a:r>
            </a:p>
          </p:txBody>
        </p:sp>
        <p:sp>
          <p:nvSpPr>
            <p:cNvPr id="16" name="Zone de texte 2">
              <a:extLst>
                <a:ext uri="{FF2B5EF4-FFF2-40B4-BE49-F238E27FC236}">
                  <a16:creationId xmlns:a16="http://schemas.microsoft.com/office/drawing/2014/main" id="{9F770374-13AF-2AF8-D5B5-7895851AB9DB}"/>
                </a:ext>
              </a:extLst>
            </p:cNvPr>
            <p:cNvSpPr txBox="1">
              <a:spLocks noChangeArrowheads="1"/>
            </p:cNvSpPr>
            <p:nvPr/>
          </p:nvSpPr>
          <p:spPr bwMode="auto">
            <a:xfrm>
              <a:off x="6592252" y="7413384"/>
              <a:ext cx="4135946" cy="500698"/>
            </a:xfrm>
            <a:prstGeom prst="rect">
              <a:avLst/>
            </a:prstGeom>
            <a:noFill/>
            <a:ln w="9525">
              <a:noFill/>
              <a:miter lim="800000"/>
              <a:headEnd/>
              <a:tailEnd/>
            </a:ln>
          </p:spPr>
          <p:txBody>
            <a:bodyPr rot="0" vert="horz" wrap="square" lIns="91440" tIns="45720" rIns="91440" bIns="4572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i="0" u="none" strike="noStrike" kern="0" cap="none" spc="0" normalizeH="0" baseline="0" noProof="0">
                  <a:ln>
                    <a:noFill/>
                  </a:ln>
                  <a:solidFill>
                    <a:sysClr val="windowText" lastClr="000000"/>
                  </a:solidFill>
                  <a:effectLst/>
                  <a:uLnTx/>
                  <a:uFillTx/>
                </a:rPr>
                <a:t>Repository lit ou écrit les données dans les entités</a:t>
              </a:r>
            </a:p>
          </p:txBody>
        </p:sp>
        <p:sp>
          <p:nvSpPr>
            <p:cNvPr id="17" name="Rectangle : coins arrondis 16">
              <a:extLst>
                <a:ext uri="{FF2B5EF4-FFF2-40B4-BE49-F238E27FC236}">
                  <a16:creationId xmlns:a16="http://schemas.microsoft.com/office/drawing/2014/main" id="{D0D002B8-4E8C-58CD-29AC-3D8D3B4A6E65}"/>
                </a:ext>
              </a:extLst>
            </p:cNvPr>
            <p:cNvSpPr/>
            <p:nvPr/>
          </p:nvSpPr>
          <p:spPr>
            <a:xfrm>
              <a:off x="2309447" y="1295083"/>
              <a:ext cx="2344650" cy="1191260"/>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srgbClr val="FF0000"/>
                  </a:solidFill>
                  <a:effectLst/>
                  <a:uLnTx/>
                  <a:uFillTx/>
                  <a:latin typeface="Calibri" panose="020F0502020204030204"/>
                  <a:ea typeface="+mn-ea"/>
                  <a:cs typeface="+mn-cs"/>
                </a:rPr>
                <a:t>DTO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Structure les données échangées entre Controller/View</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8" name="Flèche : virage 17">
              <a:extLst>
                <a:ext uri="{FF2B5EF4-FFF2-40B4-BE49-F238E27FC236}">
                  <a16:creationId xmlns:a16="http://schemas.microsoft.com/office/drawing/2014/main" id="{634F1CBA-DA75-D4DA-0388-652BF4CEA88B}"/>
                </a:ext>
              </a:extLst>
            </p:cNvPr>
            <p:cNvSpPr/>
            <p:nvPr/>
          </p:nvSpPr>
          <p:spPr>
            <a:xfrm rot="16200000">
              <a:off x="3866514" y="2227580"/>
              <a:ext cx="602615" cy="1231900"/>
            </a:xfrm>
            <a:prstGeom prst="bentArrow">
              <a:avLst>
                <a:gd name="adj1" fmla="val 8927"/>
                <a:gd name="adj2" fmla="val 12053"/>
                <a:gd name="adj3" fmla="val 19642"/>
                <a:gd name="adj4" fmla="val 2411"/>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9" name="Flèche : angle droit 18">
              <a:extLst>
                <a:ext uri="{FF2B5EF4-FFF2-40B4-BE49-F238E27FC236}">
                  <a16:creationId xmlns:a16="http://schemas.microsoft.com/office/drawing/2014/main" id="{68D31039-9384-5746-EE14-FC59C1936216}"/>
                </a:ext>
              </a:extLst>
            </p:cNvPr>
            <p:cNvSpPr/>
            <p:nvPr/>
          </p:nvSpPr>
          <p:spPr>
            <a:xfrm rot="10800000">
              <a:off x="3481387" y="761047"/>
              <a:ext cx="1336675" cy="455930"/>
            </a:xfrm>
            <a:prstGeom prst="bentUpArrow">
              <a:avLst>
                <a:gd name="adj1" fmla="val 10994"/>
                <a:gd name="adj2" fmla="val 13880"/>
                <a:gd name="adj3" fmla="val 27780"/>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20" name="Rectangle : coins arrondis 19">
              <a:extLst>
                <a:ext uri="{FF2B5EF4-FFF2-40B4-BE49-F238E27FC236}">
                  <a16:creationId xmlns:a16="http://schemas.microsoft.com/office/drawing/2014/main" id="{8A628EEE-00FC-D499-ACDC-07939F3B7050}"/>
                </a:ext>
              </a:extLst>
            </p:cNvPr>
            <p:cNvSpPr/>
            <p:nvPr/>
          </p:nvSpPr>
          <p:spPr>
            <a:xfrm>
              <a:off x="2445473" y="5150167"/>
              <a:ext cx="2344650" cy="1281430"/>
            </a:xfrm>
            <a:prstGeom prst="roundRect">
              <a:avLst>
                <a:gd name="adj" fmla="val 10386"/>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FF0000"/>
                  </a:solidFill>
                  <a:effectLst/>
                  <a:uLnTx/>
                  <a:uFillTx/>
                  <a:latin typeface="Calibri" panose="020F0502020204030204"/>
                  <a:ea typeface="+mn-ea"/>
                  <a:cs typeface="+mn-cs"/>
                </a:rPr>
                <a:t>Mapper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effectLst/>
                  <a:uLnTx/>
                  <a:uFillTx/>
                  <a:latin typeface="Calibri" panose="020F0502020204030204"/>
                  <a:ea typeface="+mn-ea"/>
                  <a:cs typeface="+mn-cs"/>
                </a:rPr>
                <a:t>Conversion DTO en Entité et inversement</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21" name="Flèche : bas 20">
              <a:extLst>
                <a:ext uri="{FF2B5EF4-FFF2-40B4-BE49-F238E27FC236}">
                  <a16:creationId xmlns:a16="http://schemas.microsoft.com/office/drawing/2014/main" id="{D48B36E1-730D-565F-B27E-A51B15836521}"/>
                </a:ext>
              </a:extLst>
            </p:cNvPr>
            <p:cNvSpPr/>
            <p:nvPr/>
          </p:nvSpPr>
          <p:spPr>
            <a:xfrm>
              <a:off x="3315652" y="2602114"/>
              <a:ext cx="165735" cy="2505075"/>
            </a:xfrm>
            <a:prstGeom prst="downArrow">
              <a:avLst>
                <a:gd name="adj1" fmla="val 50000"/>
                <a:gd name="adj2" fmla="val 76291"/>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22" name="Flèche : virage 21">
              <a:extLst>
                <a:ext uri="{FF2B5EF4-FFF2-40B4-BE49-F238E27FC236}">
                  <a16:creationId xmlns:a16="http://schemas.microsoft.com/office/drawing/2014/main" id="{9592E20E-BCB9-8810-A43B-E307E58A79D7}"/>
                </a:ext>
              </a:extLst>
            </p:cNvPr>
            <p:cNvSpPr/>
            <p:nvPr/>
          </p:nvSpPr>
          <p:spPr>
            <a:xfrm rot="16200000">
              <a:off x="2874644" y="6672580"/>
              <a:ext cx="2240915" cy="1758950"/>
            </a:xfrm>
            <a:prstGeom prst="bentArrow">
              <a:avLst>
                <a:gd name="adj1" fmla="val 5611"/>
                <a:gd name="adj2" fmla="val 7355"/>
                <a:gd name="adj3" fmla="val 13562"/>
                <a:gd name="adj4" fmla="val 0"/>
              </a:avLst>
            </a:prstGeom>
            <a:solidFill>
              <a:srgbClr val="FF00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26" name="Titre 1">
            <a:extLst>
              <a:ext uri="{FF2B5EF4-FFF2-40B4-BE49-F238E27FC236}">
                <a16:creationId xmlns:a16="http://schemas.microsoft.com/office/drawing/2014/main" id="{62BF8D8F-635D-295E-BC9D-41A145E584AE}"/>
              </a:ext>
            </a:extLst>
          </p:cNvPr>
          <p:cNvSpPr>
            <a:spLocks noGrp="1"/>
          </p:cNvSpPr>
          <p:nvPr>
            <p:ph type="title"/>
          </p:nvPr>
        </p:nvSpPr>
        <p:spPr>
          <a:xfrm>
            <a:off x="-272780" y="3618472"/>
            <a:ext cx="3098450" cy="1390969"/>
          </a:xfrm>
        </p:spPr>
        <p:txBody>
          <a:bodyPr>
            <a:noAutofit/>
          </a:bodyPr>
          <a:lstStyle/>
          <a:p>
            <a:pPr algn="ctr"/>
            <a:r>
              <a:rPr lang="fr-FR" sz="3200" b="1" u="sng">
                <a:solidFill>
                  <a:srgbClr val="C00000"/>
                </a:solidFill>
              </a:rPr>
              <a:t>Architecture MVC</a:t>
            </a:r>
          </a:p>
        </p:txBody>
      </p:sp>
      <p:sp>
        <p:nvSpPr>
          <p:cNvPr id="2" name="Espace réservé du numéro de diapositive 1">
            <a:extLst>
              <a:ext uri="{FF2B5EF4-FFF2-40B4-BE49-F238E27FC236}">
                <a16:creationId xmlns:a16="http://schemas.microsoft.com/office/drawing/2014/main" id="{A7E60FF6-28A0-5750-71FF-B6C92F5A0BAB}"/>
              </a:ext>
            </a:extLst>
          </p:cNvPr>
          <p:cNvSpPr>
            <a:spLocks noGrp="1"/>
          </p:cNvSpPr>
          <p:nvPr>
            <p:ph type="sldNum" sz="quarter" idx="12"/>
          </p:nvPr>
        </p:nvSpPr>
        <p:spPr>
          <a:xfrm>
            <a:off x="12083907" y="8992840"/>
            <a:ext cx="717693" cy="511175"/>
          </a:xfrm>
        </p:spPr>
        <p:txBody>
          <a:bodyPr/>
          <a:lstStyle/>
          <a:p>
            <a:fld id="{69E57DC2-970A-4B3E-BB1C-7A09969E49DF}" type="slidenum">
              <a:rPr lang="en-US" sz="2800" b="1" smtClean="0">
                <a:solidFill>
                  <a:schemeClr val="tx1">
                    <a:lumMod val="95000"/>
                    <a:lumOff val="5000"/>
                  </a:schemeClr>
                </a:solidFill>
              </a:rPr>
              <a:t>11</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479045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7AECBE-1911-CFA8-66C7-FEB34A7014C0}"/>
              </a:ext>
            </a:extLst>
          </p:cNvPr>
          <p:cNvSpPr>
            <a:spLocks noGrp="1"/>
          </p:cNvSpPr>
          <p:nvPr>
            <p:ph type="title"/>
          </p:nvPr>
        </p:nvSpPr>
        <p:spPr>
          <a:xfrm>
            <a:off x="981454" y="222795"/>
            <a:ext cx="10338817" cy="920496"/>
          </a:xfrm>
        </p:spPr>
        <p:txBody>
          <a:bodyPr>
            <a:normAutofit/>
          </a:bodyPr>
          <a:lstStyle/>
          <a:p>
            <a:r>
              <a:rPr lang="fr-FR" sz="4800" b="1" u="sng"/>
              <a:t>Authentification</a:t>
            </a:r>
            <a:r>
              <a:rPr lang="fr-FR" sz="4800" b="1"/>
              <a:t> </a:t>
            </a:r>
            <a:r>
              <a:rPr lang="fr-FR" sz="4400" b="1">
                <a:solidFill>
                  <a:srgbClr val="C00000"/>
                </a:solidFill>
              </a:rPr>
              <a:t>:</a:t>
            </a:r>
            <a:r>
              <a:rPr lang="fr-FR" sz="4400" b="1">
                <a:solidFill>
                  <a:schemeClr val="tx1"/>
                </a:solidFill>
              </a:rPr>
              <a:t> Spring Security</a:t>
            </a:r>
            <a:endParaRPr lang="fr-FR" sz="4800" b="1">
              <a:solidFill>
                <a:schemeClr val="tx1"/>
              </a:solidFill>
            </a:endParaRPr>
          </a:p>
        </p:txBody>
      </p:sp>
      <p:sp>
        <p:nvSpPr>
          <p:cNvPr id="3" name="Espace réservé du contenu 2">
            <a:extLst>
              <a:ext uri="{FF2B5EF4-FFF2-40B4-BE49-F238E27FC236}">
                <a16:creationId xmlns:a16="http://schemas.microsoft.com/office/drawing/2014/main" id="{6BF61FFC-53B2-F225-7FA3-A23BE2FE07DB}"/>
              </a:ext>
            </a:extLst>
          </p:cNvPr>
          <p:cNvSpPr>
            <a:spLocks noGrp="1"/>
          </p:cNvSpPr>
          <p:nvPr>
            <p:ph idx="1"/>
          </p:nvPr>
        </p:nvSpPr>
        <p:spPr>
          <a:xfrm>
            <a:off x="981454" y="1572767"/>
            <a:ext cx="10600945" cy="7517257"/>
          </a:xfrm>
        </p:spPr>
        <p:txBody>
          <a:bodyPr>
            <a:noAutofit/>
          </a:bodyPr>
          <a:lstStyle/>
          <a:p>
            <a:pPr marL="0" indent="0">
              <a:buNone/>
            </a:pPr>
            <a:r>
              <a:rPr lang="fr-FR" sz="3300" b="1">
                <a:solidFill>
                  <a:schemeClr val="tx1"/>
                </a:solidFill>
              </a:rPr>
              <a:t>3 classes principales : </a:t>
            </a:r>
          </a:p>
          <a:p>
            <a:r>
              <a:rPr lang="fr-FR" sz="3300" b="1">
                <a:solidFill>
                  <a:srgbClr val="FF0000"/>
                </a:solidFill>
              </a:rPr>
              <a:t>SecurityConfig</a:t>
            </a:r>
            <a:r>
              <a:rPr lang="fr-FR" sz="3300">
                <a:solidFill>
                  <a:schemeClr val="tx1"/>
                </a:solidFill>
              </a:rPr>
              <a:t> : définit les règles d’accès et les pages publiques (</a:t>
            </a:r>
            <a:r>
              <a:rPr lang="fr-FR" sz="3300" b="1">
                <a:solidFill>
                  <a:schemeClr val="tx1"/>
                </a:solidFill>
              </a:rPr>
              <a:t>/login</a:t>
            </a:r>
            <a:r>
              <a:rPr lang="fr-FR" sz="3300">
                <a:solidFill>
                  <a:schemeClr val="tx1"/>
                </a:solidFill>
              </a:rPr>
              <a:t>, </a:t>
            </a:r>
            <a:r>
              <a:rPr lang="fr-FR" sz="3300" b="1">
                <a:solidFill>
                  <a:schemeClr val="tx1"/>
                </a:solidFill>
              </a:rPr>
              <a:t>/register</a:t>
            </a:r>
            <a:r>
              <a:rPr lang="fr-FR" sz="3300">
                <a:solidFill>
                  <a:schemeClr val="tx1"/>
                </a:solidFill>
              </a:rPr>
              <a:t>, </a:t>
            </a:r>
            <a:r>
              <a:rPr lang="fr-FR" sz="3300" b="1">
                <a:solidFill>
                  <a:schemeClr val="tx1"/>
                </a:solidFill>
              </a:rPr>
              <a:t>/forget-password</a:t>
            </a:r>
            <a:r>
              <a:rPr lang="fr-FR" sz="3300">
                <a:solidFill>
                  <a:schemeClr val="tx1"/>
                </a:solidFill>
              </a:rPr>
              <a:t>)</a:t>
            </a:r>
          </a:p>
          <a:p>
            <a:r>
              <a:rPr lang="fr-FR" sz="3300">
                <a:solidFill>
                  <a:schemeClr val="tx1"/>
                </a:solidFill>
              </a:rPr>
              <a:t> </a:t>
            </a:r>
            <a:r>
              <a:rPr lang="fr-FR" sz="3300" b="1">
                <a:solidFill>
                  <a:srgbClr val="FF0000"/>
                </a:solidFill>
              </a:rPr>
              <a:t>CustomUserDetailsService</a:t>
            </a:r>
            <a:r>
              <a:rPr lang="fr-FR" sz="3300" b="1">
                <a:solidFill>
                  <a:schemeClr val="tx1"/>
                </a:solidFill>
              </a:rPr>
              <a:t> </a:t>
            </a:r>
            <a:r>
              <a:rPr lang="fr-FR" sz="3300">
                <a:solidFill>
                  <a:schemeClr val="tx1"/>
                </a:solidFill>
              </a:rPr>
              <a:t>: retrouve l’utilisateur en base à partir de son email</a:t>
            </a:r>
          </a:p>
          <a:p>
            <a:r>
              <a:rPr lang="fr-FR" sz="3300">
                <a:solidFill>
                  <a:schemeClr val="tx1"/>
                </a:solidFill>
              </a:rPr>
              <a:t> </a:t>
            </a:r>
            <a:r>
              <a:rPr lang="fr-FR" sz="3300" b="1">
                <a:solidFill>
                  <a:srgbClr val="FF0000"/>
                </a:solidFill>
              </a:rPr>
              <a:t>UserDetailsImplements</a:t>
            </a:r>
            <a:r>
              <a:rPr lang="fr-FR" sz="3300">
                <a:solidFill>
                  <a:srgbClr val="FF0000"/>
                </a:solidFill>
              </a:rPr>
              <a:t> </a:t>
            </a:r>
            <a:r>
              <a:rPr lang="fr-FR" sz="3300">
                <a:solidFill>
                  <a:schemeClr val="tx1"/>
                </a:solidFill>
              </a:rPr>
              <a:t>: utilisateur → format sécurisé pour </a:t>
            </a:r>
            <a:r>
              <a:rPr lang="fr-FR" sz="3300" b="1">
                <a:solidFill>
                  <a:schemeClr val="tx1"/>
                </a:solidFill>
              </a:rPr>
              <a:t>Spring Security</a:t>
            </a:r>
          </a:p>
          <a:p>
            <a:endParaRPr lang="fr-FR" sz="3300">
              <a:solidFill>
                <a:schemeClr val="tx1"/>
              </a:solidFill>
            </a:endParaRPr>
          </a:p>
          <a:p>
            <a:pPr marL="0" indent="0">
              <a:buNone/>
            </a:pPr>
            <a:r>
              <a:rPr lang="fr-FR" sz="3300">
                <a:solidFill>
                  <a:schemeClr val="tx1"/>
                </a:solidFill>
              </a:rPr>
              <a:t>Connexion par email + mot de passe → session crée automatiquement</a:t>
            </a:r>
          </a:p>
          <a:p>
            <a:pPr marL="0" indent="0">
              <a:buNone/>
            </a:pPr>
            <a:r>
              <a:rPr lang="fr-FR" sz="3300">
                <a:solidFill>
                  <a:schemeClr val="tx1"/>
                </a:solidFill>
              </a:rPr>
              <a:t>Mots de passe chiffrés avec </a:t>
            </a:r>
            <a:r>
              <a:rPr lang="fr-FR" sz="3300" b="1">
                <a:solidFill>
                  <a:srgbClr val="FF0000"/>
                </a:solidFill>
              </a:rPr>
              <a:t>BCrypt</a:t>
            </a:r>
          </a:p>
        </p:txBody>
      </p:sp>
      <p:sp>
        <p:nvSpPr>
          <p:cNvPr id="4" name="Espace réservé du numéro de diapositive 3">
            <a:extLst>
              <a:ext uri="{FF2B5EF4-FFF2-40B4-BE49-F238E27FC236}">
                <a16:creationId xmlns:a16="http://schemas.microsoft.com/office/drawing/2014/main" id="{8655E616-CD34-78C5-3982-562C78C07E77}"/>
              </a:ext>
            </a:extLst>
          </p:cNvPr>
          <p:cNvSpPr>
            <a:spLocks noGrp="1"/>
          </p:cNvSpPr>
          <p:nvPr>
            <p:ph type="sldNum" sz="quarter" idx="12"/>
          </p:nvPr>
        </p:nvSpPr>
        <p:spPr>
          <a:xfrm>
            <a:off x="12083907" y="9090025"/>
            <a:ext cx="717693" cy="511175"/>
          </a:xfrm>
        </p:spPr>
        <p:txBody>
          <a:bodyPr/>
          <a:lstStyle/>
          <a:p>
            <a:fld id="{69E57DC2-970A-4B3E-BB1C-7A09969E49DF}" type="slidenum">
              <a:rPr lang="en-US" sz="2800" b="1" smtClean="0">
                <a:solidFill>
                  <a:schemeClr val="tx1">
                    <a:lumMod val="95000"/>
                    <a:lumOff val="5000"/>
                  </a:schemeClr>
                </a:solidFill>
              </a:rPr>
              <a:t>12</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167782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C979E4C-75DB-293D-3DAF-35E7A2DCF84E}"/>
              </a:ext>
            </a:extLst>
          </p:cNvPr>
          <p:cNvSpPr>
            <a:spLocks noGrp="1"/>
          </p:cNvSpPr>
          <p:nvPr>
            <p:ph idx="1"/>
          </p:nvPr>
        </p:nvSpPr>
        <p:spPr>
          <a:xfrm>
            <a:off x="2169460" y="6099387"/>
            <a:ext cx="8355106" cy="3315594"/>
          </a:xfrm>
        </p:spPr>
        <p:txBody>
          <a:bodyPr>
            <a:normAutofit/>
          </a:bodyPr>
          <a:lstStyle/>
          <a:p>
            <a:pPr algn="ctr"/>
            <a:endParaRPr lang="fr-FR" sz="3000" b="1">
              <a:solidFill>
                <a:schemeClr val="tx1">
                  <a:lumMod val="95000"/>
                  <a:lumOff val="5000"/>
                </a:schemeClr>
              </a:solidFill>
            </a:endParaRPr>
          </a:p>
          <a:p>
            <a:pPr algn="ctr"/>
            <a:r>
              <a:rPr lang="fr-FR" sz="3000" b="1">
                <a:solidFill>
                  <a:schemeClr val="tx1">
                    <a:lumMod val="95000"/>
                    <a:lumOff val="5000"/>
                  </a:schemeClr>
                </a:solidFill>
              </a:rPr>
              <a:t>Service</a:t>
            </a:r>
            <a:r>
              <a:rPr lang="fr-FR" sz="3000">
                <a:solidFill>
                  <a:schemeClr val="tx1">
                    <a:lumMod val="95000"/>
                    <a:lumOff val="5000"/>
                  </a:schemeClr>
                </a:solidFill>
              </a:rPr>
              <a:t>: </a:t>
            </a:r>
            <a:r>
              <a:rPr lang="fr-FR" sz="3000" b="1">
                <a:solidFill>
                  <a:srgbClr val="FF0000"/>
                </a:solidFill>
              </a:rPr>
              <a:t>MailServiceImplements</a:t>
            </a:r>
            <a:r>
              <a:rPr lang="fr-FR" sz="3000">
                <a:solidFill>
                  <a:schemeClr val="tx1">
                    <a:lumMod val="95000"/>
                    <a:lumOff val="5000"/>
                  </a:schemeClr>
                </a:solidFill>
              </a:rPr>
              <a:t> qui utilise </a:t>
            </a:r>
          </a:p>
          <a:p>
            <a:pPr marL="0" indent="0" algn="ctr">
              <a:buNone/>
            </a:pPr>
            <a:r>
              <a:rPr lang="fr-FR" sz="3000" b="1">
                <a:solidFill>
                  <a:srgbClr val="FF0000"/>
                </a:solidFill>
              </a:rPr>
              <a:t>   JavaMailSender </a:t>
            </a:r>
            <a:r>
              <a:rPr lang="fr-FR" sz="3000">
                <a:solidFill>
                  <a:schemeClr val="tx1"/>
                </a:solidFill>
              </a:rPr>
              <a:t>: Dépendance Spring Boot</a:t>
            </a:r>
          </a:p>
          <a:p>
            <a:pPr marL="0" indent="0" algn="ctr">
              <a:buNone/>
            </a:pPr>
            <a:endParaRPr lang="fr-FR" sz="3000">
              <a:solidFill>
                <a:schemeClr val="tx1"/>
              </a:solidFill>
            </a:endParaRPr>
          </a:p>
          <a:p>
            <a:pPr algn="ctr">
              <a:buFont typeface="Wingdings 3" panose="05040102010807070707" pitchFamily="18" charset="2"/>
              <a:buChar char="u"/>
            </a:pPr>
            <a:r>
              <a:rPr lang="fr-FR" sz="3000">
                <a:solidFill>
                  <a:schemeClr val="tx1">
                    <a:lumMod val="95000"/>
                    <a:lumOff val="5000"/>
                  </a:schemeClr>
                </a:solidFill>
              </a:rPr>
              <a:t>Lien de Réinitialisation : </a:t>
            </a:r>
            <a:r>
              <a:rPr lang="fr-FR" sz="3000" b="1">
                <a:solidFill>
                  <a:schemeClr val="tx1">
                    <a:lumMod val="95000"/>
                    <a:lumOff val="5000"/>
                  </a:schemeClr>
                </a:solidFill>
              </a:rPr>
              <a:t>24 h</a:t>
            </a:r>
          </a:p>
          <a:p>
            <a:pPr marL="0" indent="0" algn="ctr">
              <a:buNone/>
            </a:pPr>
            <a:endParaRPr lang="fr-FR" sz="3000">
              <a:solidFill>
                <a:srgbClr val="FF0000"/>
              </a:solidFill>
            </a:endParaRPr>
          </a:p>
          <a:p>
            <a:pPr marL="0" indent="0" algn="ctr">
              <a:buNone/>
            </a:pPr>
            <a:endParaRPr lang="fr-FR" sz="3000">
              <a:solidFill>
                <a:schemeClr val="tx1"/>
              </a:solidFill>
            </a:endParaRPr>
          </a:p>
        </p:txBody>
      </p:sp>
      <p:sp>
        <p:nvSpPr>
          <p:cNvPr id="4" name="Titre 1">
            <a:extLst>
              <a:ext uri="{FF2B5EF4-FFF2-40B4-BE49-F238E27FC236}">
                <a16:creationId xmlns:a16="http://schemas.microsoft.com/office/drawing/2014/main" id="{F2762F70-4456-567C-70D6-0AC5075F6820}"/>
              </a:ext>
            </a:extLst>
          </p:cNvPr>
          <p:cNvSpPr>
            <a:spLocks noGrp="1"/>
          </p:cNvSpPr>
          <p:nvPr>
            <p:ph type="title"/>
          </p:nvPr>
        </p:nvSpPr>
        <p:spPr>
          <a:xfrm>
            <a:off x="691895" y="186219"/>
            <a:ext cx="10722865" cy="847344"/>
          </a:xfrm>
        </p:spPr>
        <p:txBody>
          <a:bodyPr>
            <a:normAutofit/>
          </a:bodyPr>
          <a:lstStyle/>
          <a:p>
            <a:pPr algn="ctr"/>
            <a:r>
              <a:rPr lang="fr-FR" sz="4800" b="1">
                <a:solidFill>
                  <a:schemeClr val="tx1"/>
                </a:solidFill>
              </a:rPr>
              <a:t>Réinitialisation du mot de passe </a:t>
            </a:r>
            <a:endParaRPr lang="fr-FR" sz="4800"/>
          </a:p>
        </p:txBody>
      </p:sp>
      <p:pic>
        <p:nvPicPr>
          <p:cNvPr id="5" name="Espace réservé du contenu 4" descr="Une image contenant Graphique, Police, graphisme, logo&#10;&#10;Le contenu généré par l’IA peut être incorrect.">
            <a:extLst>
              <a:ext uri="{FF2B5EF4-FFF2-40B4-BE49-F238E27FC236}">
                <a16:creationId xmlns:a16="http://schemas.microsoft.com/office/drawing/2014/main" id="{11D339DC-523E-2351-94EE-CD689F569CB2}"/>
              </a:ext>
            </a:extLst>
          </p:cNvPr>
          <p:cNvPicPr>
            <a:picLocks noChangeAspect="1"/>
          </p:cNvPicPr>
          <p:nvPr/>
        </p:nvPicPr>
        <p:blipFill>
          <a:blip r:embed="rId3"/>
          <a:stretch>
            <a:fillRect/>
          </a:stretch>
        </p:blipFill>
        <p:spPr>
          <a:xfrm>
            <a:off x="4797869" y="1288759"/>
            <a:ext cx="3205861" cy="945061"/>
          </a:xfrm>
          <a:prstGeom prst="rect">
            <a:avLst/>
          </a:prstGeom>
        </p:spPr>
      </p:pic>
      <p:sp>
        <p:nvSpPr>
          <p:cNvPr id="6" name="ZoneTexte 5">
            <a:extLst>
              <a:ext uri="{FF2B5EF4-FFF2-40B4-BE49-F238E27FC236}">
                <a16:creationId xmlns:a16="http://schemas.microsoft.com/office/drawing/2014/main" id="{959439EF-4493-053F-C368-8418D7FFFC63}"/>
              </a:ext>
            </a:extLst>
          </p:cNvPr>
          <p:cNvSpPr txBox="1"/>
          <p:nvPr/>
        </p:nvSpPr>
        <p:spPr>
          <a:xfrm>
            <a:off x="4174286" y="2252717"/>
            <a:ext cx="4453025" cy="954107"/>
          </a:xfrm>
          <a:prstGeom prst="rect">
            <a:avLst/>
          </a:prstGeom>
          <a:noFill/>
        </p:spPr>
        <p:txBody>
          <a:bodyPr wrap="square" rtlCol="0">
            <a:spAutoFit/>
          </a:bodyPr>
          <a:lstStyle/>
          <a:p>
            <a:pPr algn="ctr"/>
            <a:r>
              <a:rPr lang="fr-FR" sz="2800" b="1" i="1">
                <a:solidFill>
                  <a:srgbClr val="00A249"/>
                </a:solidFill>
              </a:rPr>
              <a:t>Service Français : </a:t>
            </a:r>
          </a:p>
          <a:p>
            <a:pPr algn="ctr"/>
            <a:r>
              <a:rPr lang="fr-FR" sz="2800" b="1"/>
              <a:t>Envoie de Mail</a:t>
            </a:r>
          </a:p>
        </p:txBody>
      </p:sp>
      <p:sp>
        <p:nvSpPr>
          <p:cNvPr id="11" name="ZoneTexte 10">
            <a:extLst>
              <a:ext uri="{FF2B5EF4-FFF2-40B4-BE49-F238E27FC236}">
                <a16:creationId xmlns:a16="http://schemas.microsoft.com/office/drawing/2014/main" id="{C9C04F19-1963-7B80-EFC1-A7C85B2D7C21}"/>
              </a:ext>
            </a:extLst>
          </p:cNvPr>
          <p:cNvSpPr txBox="1"/>
          <p:nvPr/>
        </p:nvSpPr>
        <p:spPr>
          <a:xfrm>
            <a:off x="1940813" y="3529721"/>
            <a:ext cx="9473947" cy="2246769"/>
          </a:xfrm>
          <a:prstGeom prst="rect">
            <a:avLst/>
          </a:prstGeom>
          <a:solidFill>
            <a:schemeClr val="tx1"/>
          </a:solidFill>
        </p:spPr>
        <p:txBody>
          <a:bodyPr wrap="square">
            <a:spAutoFit/>
          </a:bodyPr>
          <a:lstStyle/>
          <a:p>
            <a:r>
              <a:rPr lang="fr-FR" sz="2800" b="0">
                <a:solidFill>
                  <a:srgbClr val="7CA668"/>
                </a:solidFill>
                <a:effectLst/>
                <a:latin typeface="Consolas" panose="020B0609020204030204" pitchFamily="49" charset="0"/>
              </a:rPr>
              <a:t># Mail</a:t>
            </a:r>
            <a:endParaRPr lang="fr-FR" sz="2800" b="0">
              <a:solidFill>
                <a:srgbClr val="FFFFFF"/>
              </a:solidFill>
              <a:effectLst/>
              <a:latin typeface="Consolas" panose="020B0609020204030204" pitchFamily="49" charset="0"/>
            </a:endParaRPr>
          </a:p>
          <a:p>
            <a:r>
              <a:rPr lang="fr-FR" sz="2800" b="0">
                <a:solidFill>
                  <a:srgbClr val="FFFFFF"/>
                </a:solidFill>
                <a:effectLst/>
                <a:latin typeface="Consolas" panose="020B0609020204030204" pitchFamily="49" charset="0"/>
              </a:rPr>
              <a:t>spring.mail.host=</a:t>
            </a:r>
            <a:r>
              <a:rPr lang="fr-FR" sz="2800" b="1">
                <a:solidFill>
                  <a:srgbClr val="1AFA35"/>
                </a:solidFill>
                <a:effectLst/>
                <a:latin typeface="Consolas" panose="020B0609020204030204" pitchFamily="49" charset="0"/>
              </a:rPr>
              <a:t>smtp</a:t>
            </a:r>
            <a:r>
              <a:rPr lang="fr-FR" sz="2800" b="0">
                <a:solidFill>
                  <a:srgbClr val="CE9178"/>
                </a:solidFill>
                <a:effectLst/>
                <a:latin typeface="Consolas" panose="020B0609020204030204" pitchFamily="49" charset="0"/>
              </a:rPr>
              <a:t>-relay.brevo.com</a:t>
            </a:r>
            <a:endParaRPr lang="fr-FR" sz="2800" b="0">
              <a:solidFill>
                <a:srgbClr val="FFFFFF"/>
              </a:solidFill>
              <a:effectLst/>
              <a:latin typeface="Consolas" panose="020B0609020204030204" pitchFamily="49" charset="0"/>
            </a:endParaRPr>
          </a:p>
          <a:p>
            <a:r>
              <a:rPr lang="fr-FR" sz="2800" b="0">
                <a:solidFill>
                  <a:srgbClr val="FFFFFF"/>
                </a:solidFill>
                <a:effectLst/>
                <a:latin typeface="Consolas" panose="020B0609020204030204" pitchFamily="49" charset="0"/>
              </a:rPr>
              <a:t>spring.mail.port=</a:t>
            </a:r>
            <a:r>
              <a:rPr lang="fr-FR" sz="2800" b="0">
                <a:solidFill>
                  <a:srgbClr val="CE9178"/>
                </a:solidFill>
                <a:effectLst/>
                <a:latin typeface="Consolas" panose="020B0609020204030204" pitchFamily="49" charset="0"/>
              </a:rPr>
              <a:t>587</a:t>
            </a:r>
            <a:endParaRPr lang="fr-FR" sz="2800" b="0">
              <a:solidFill>
                <a:srgbClr val="FFFFFF"/>
              </a:solidFill>
              <a:effectLst/>
              <a:latin typeface="Consolas" panose="020B0609020204030204" pitchFamily="49" charset="0"/>
            </a:endParaRPr>
          </a:p>
          <a:p>
            <a:r>
              <a:rPr lang="fr-FR" sz="2800" b="0">
                <a:solidFill>
                  <a:srgbClr val="FFFFFF"/>
                </a:solidFill>
                <a:effectLst/>
                <a:latin typeface="Consolas" panose="020B0609020204030204" pitchFamily="49" charset="0"/>
              </a:rPr>
              <a:t>spring.mail.username=</a:t>
            </a:r>
            <a:r>
              <a:rPr lang="fr-FR" sz="2800" b="0">
                <a:solidFill>
                  <a:srgbClr val="CE9178"/>
                </a:solidFill>
                <a:effectLst/>
                <a:latin typeface="Consolas" panose="020B0609020204030204" pitchFamily="49" charset="0"/>
              </a:rPr>
              <a:t>9583ad001@smtp-brevo.com</a:t>
            </a:r>
            <a:endParaRPr lang="fr-FR" sz="2800" b="0">
              <a:solidFill>
                <a:srgbClr val="FFFFFF"/>
              </a:solidFill>
              <a:effectLst/>
              <a:latin typeface="Consolas" panose="020B0609020204030204" pitchFamily="49" charset="0"/>
            </a:endParaRPr>
          </a:p>
          <a:p>
            <a:r>
              <a:rPr lang="fr-FR" sz="2800" b="0">
                <a:solidFill>
                  <a:srgbClr val="FFFFFF"/>
                </a:solidFill>
                <a:effectLst/>
                <a:latin typeface="Consolas" panose="020B0609020204030204" pitchFamily="49" charset="0"/>
              </a:rPr>
              <a:t>spring.mail.password=</a:t>
            </a:r>
            <a:r>
              <a:rPr lang="fr-FR" sz="2800" b="0">
                <a:solidFill>
                  <a:srgbClr val="CE9178"/>
                </a:solidFill>
                <a:effectLst/>
                <a:latin typeface="Consolas" panose="020B0609020204030204" pitchFamily="49" charset="0"/>
              </a:rPr>
              <a:t>${SPRING_MAIL_PASSWORD}</a:t>
            </a:r>
            <a:endParaRPr lang="fr-FR" sz="2800" b="0">
              <a:solidFill>
                <a:srgbClr val="FFFFFF"/>
              </a:solidFill>
              <a:effectLst/>
              <a:latin typeface="Consolas" panose="020B0609020204030204" pitchFamily="49" charset="0"/>
            </a:endParaRPr>
          </a:p>
        </p:txBody>
      </p:sp>
      <p:sp>
        <p:nvSpPr>
          <p:cNvPr id="2" name="Espace réservé du numéro de diapositive 1">
            <a:extLst>
              <a:ext uri="{FF2B5EF4-FFF2-40B4-BE49-F238E27FC236}">
                <a16:creationId xmlns:a16="http://schemas.microsoft.com/office/drawing/2014/main" id="{91D47DA2-F3E8-D52F-7D26-0365C03BEA6A}"/>
              </a:ext>
            </a:extLst>
          </p:cNvPr>
          <p:cNvSpPr>
            <a:spLocks noGrp="1"/>
          </p:cNvSpPr>
          <p:nvPr>
            <p:ph type="sldNum" sz="quarter" idx="12"/>
          </p:nvPr>
        </p:nvSpPr>
        <p:spPr>
          <a:xfrm>
            <a:off x="12083907" y="8903806"/>
            <a:ext cx="717693" cy="511175"/>
          </a:xfrm>
        </p:spPr>
        <p:txBody>
          <a:bodyPr/>
          <a:lstStyle/>
          <a:p>
            <a:fld id="{69E57DC2-970A-4B3E-BB1C-7A09969E49DF}" type="slidenum">
              <a:rPr lang="en-US" sz="2800" b="1" smtClean="0">
                <a:solidFill>
                  <a:schemeClr val="tx1">
                    <a:lumMod val="95000"/>
                    <a:lumOff val="5000"/>
                  </a:schemeClr>
                </a:solidFill>
              </a:rPr>
              <a:t>13</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116125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4AC89F-3019-E8CD-985C-B2CA59D121EB}"/>
              </a:ext>
            </a:extLst>
          </p:cNvPr>
          <p:cNvSpPr/>
          <p:nvPr/>
        </p:nvSpPr>
        <p:spPr>
          <a:xfrm>
            <a:off x="-689741" y="-152400"/>
            <a:ext cx="15503236" cy="1007382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831C62B3-35C9-2492-B89F-3B91073D801C}"/>
              </a:ext>
            </a:extLst>
          </p:cNvPr>
          <p:cNvSpPr>
            <a:spLocks noGrp="1"/>
          </p:cNvSpPr>
          <p:nvPr>
            <p:ph type="title"/>
          </p:nvPr>
        </p:nvSpPr>
        <p:spPr>
          <a:xfrm>
            <a:off x="3129356" y="0"/>
            <a:ext cx="7000087" cy="896112"/>
          </a:xfrm>
        </p:spPr>
        <p:txBody>
          <a:bodyPr>
            <a:normAutofit fontScale="90000"/>
          </a:bodyPr>
          <a:lstStyle/>
          <a:p>
            <a:pPr algn="ctr"/>
            <a:r>
              <a:rPr lang="fr-FR" sz="4400" b="1" u="sng"/>
              <a:t>Gestion des produits</a:t>
            </a:r>
            <a:br>
              <a:rPr lang="fr-FR" sz="4400" b="1" u="sng"/>
            </a:br>
            <a:br>
              <a:rPr lang="fr-FR" sz="4400" b="1" u="sng"/>
            </a:br>
            <a:endParaRPr lang="fr-FR" sz="2500" b="1" u="sng">
              <a:solidFill>
                <a:schemeClr val="tx1"/>
              </a:solidFill>
            </a:endParaRPr>
          </a:p>
        </p:txBody>
      </p:sp>
      <p:sp>
        <p:nvSpPr>
          <p:cNvPr id="3" name="Espace réservé du contenu 2">
            <a:extLst>
              <a:ext uri="{FF2B5EF4-FFF2-40B4-BE49-F238E27FC236}">
                <a16:creationId xmlns:a16="http://schemas.microsoft.com/office/drawing/2014/main" id="{DADA9656-71E9-6492-DF0B-1443FC11A011}"/>
              </a:ext>
            </a:extLst>
          </p:cNvPr>
          <p:cNvSpPr>
            <a:spLocks noGrp="1"/>
          </p:cNvSpPr>
          <p:nvPr>
            <p:ph idx="1"/>
          </p:nvPr>
        </p:nvSpPr>
        <p:spPr>
          <a:xfrm>
            <a:off x="0" y="1135701"/>
            <a:ext cx="12406744" cy="8785721"/>
          </a:xfrm>
        </p:spPr>
        <p:txBody>
          <a:bodyPr>
            <a:normAutofit/>
          </a:bodyPr>
          <a:lstStyle/>
          <a:p>
            <a:r>
              <a:rPr lang="fr-FR" sz="2800">
                <a:solidFill>
                  <a:schemeClr val="tx1">
                    <a:lumMod val="95000"/>
                    <a:lumOff val="5000"/>
                  </a:schemeClr>
                </a:solidFill>
              </a:rPr>
              <a:t> </a:t>
            </a:r>
            <a:r>
              <a:rPr lang="fr-FR" sz="2800" b="1">
                <a:solidFill>
                  <a:srgbClr val="FF0000"/>
                </a:solidFill>
              </a:rPr>
              <a:t>Product </a:t>
            </a:r>
            <a:r>
              <a:rPr lang="fr-FR" sz="2800">
                <a:solidFill>
                  <a:schemeClr val="tx1">
                    <a:lumMod val="95000"/>
                    <a:lumOff val="5000"/>
                  </a:schemeClr>
                </a:solidFill>
              </a:rPr>
              <a:t>: </a:t>
            </a:r>
            <a:r>
              <a:rPr lang="fr-FR" sz="2800" b="1">
                <a:solidFill>
                  <a:schemeClr val="tx1">
                    <a:lumMod val="95000"/>
                    <a:lumOff val="5000"/>
                  </a:schemeClr>
                </a:solidFill>
              </a:rPr>
              <a:t>modèle</a:t>
            </a:r>
            <a:r>
              <a:rPr lang="fr-FR" sz="2800">
                <a:solidFill>
                  <a:schemeClr val="tx1">
                    <a:lumMod val="95000"/>
                    <a:lumOff val="5000"/>
                  </a:schemeClr>
                </a:solidFill>
              </a:rPr>
              <a:t> avec nom, code-barres, poids, prix, quantité, statut,      catégorie </a:t>
            </a:r>
          </a:p>
          <a:p>
            <a:pPr marL="0" indent="0">
              <a:buNone/>
            </a:pPr>
            <a:r>
              <a:rPr lang="fr-FR" sz="2800">
                <a:solidFill>
                  <a:schemeClr val="tx1">
                    <a:lumMod val="95000"/>
                    <a:lumOff val="5000"/>
                  </a:schemeClr>
                </a:solidFill>
              </a:rPr>
              <a:t>     → lien avec les scans pour la traçabilité</a:t>
            </a:r>
          </a:p>
          <a:p>
            <a:endParaRPr lang="fr-FR" sz="2800">
              <a:solidFill>
                <a:schemeClr val="tx1">
                  <a:lumMod val="95000"/>
                  <a:lumOff val="5000"/>
                </a:schemeClr>
              </a:solidFill>
            </a:endParaRPr>
          </a:p>
          <a:p>
            <a:r>
              <a:rPr lang="fr-FR" sz="2800" b="1">
                <a:solidFill>
                  <a:srgbClr val="FF0000"/>
                </a:solidFill>
              </a:rPr>
              <a:t>   ProductService</a:t>
            </a:r>
            <a:r>
              <a:rPr lang="fr-FR" sz="2800">
                <a:solidFill>
                  <a:schemeClr val="tx1">
                    <a:lumMod val="95000"/>
                    <a:lumOff val="5000"/>
                  </a:schemeClr>
                </a:solidFill>
              </a:rPr>
              <a:t> : </a:t>
            </a:r>
            <a:r>
              <a:rPr lang="fr-FR" sz="2800" b="1">
                <a:solidFill>
                  <a:schemeClr val="tx1">
                    <a:lumMod val="95000"/>
                    <a:lumOff val="5000"/>
                  </a:schemeClr>
                </a:solidFill>
              </a:rPr>
              <a:t>logique métier </a:t>
            </a:r>
          </a:p>
          <a:p>
            <a:pPr marL="0" indent="0">
              <a:buNone/>
            </a:pPr>
            <a:r>
              <a:rPr lang="fr-FR" sz="2800">
                <a:solidFill>
                  <a:schemeClr val="tx1">
                    <a:lumMod val="95000"/>
                    <a:lumOff val="5000"/>
                  </a:schemeClr>
                </a:solidFill>
              </a:rPr>
              <a:t>      → ajout/mise à jour par code-barres </a:t>
            </a:r>
          </a:p>
          <a:p>
            <a:pPr marL="0" indent="0">
              <a:buNone/>
            </a:pPr>
            <a:r>
              <a:rPr lang="fr-FR" sz="2800">
                <a:solidFill>
                  <a:schemeClr val="tx1">
                    <a:lumMod val="95000"/>
                    <a:lumOff val="5000"/>
                  </a:schemeClr>
                </a:solidFill>
              </a:rPr>
              <a:t>      → statut automatique du stock </a:t>
            </a:r>
          </a:p>
          <a:p>
            <a:pPr marL="0" indent="0">
              <a:buNone/>
            </a:pPr>
            <a:r>
              <a:rPr lang="fr-FR" sz="2800">
                <a:solidFill>
                  <a:schemeClr val="tx1">
                    <a:lumMod val="95000"/>
                    <a:lumOff val="5000"/>
                  </a:schemeClr>
                </a:solidFill>
              </a:rPr>
              <a:t>      → suppression si stock disponible </a:t>
            </a:r>
          </a:p>
          <a:p>
            <a:pPr marL="0" indent="0">
              <a:buNone/>
            </a:pPr>
            <a:r>
              <a:rPr lang="fr-FR" sz="2800">
                <a:solidFill>
                  <a:schemeClr val="tx1">
                    <a:lumMod val="95000"/>
                    <a:lumOff val="5000"/>
                  </a:schemeClr>
                </a:solidFill>
              </a:rPr>
              <a:t>      → calcul du stock total</a:t>
            </a:r>
          </a:p>
          <a:p>
            <a:endParaRPr lang="fr-FR" sz="2800">
              <a:solidFill>
                <a:schemeClr val="tx1">
                  <a:lumMod val="95000"/>
                  <a:lumOff val="5000"/>
                </a:schemeClr>
              </a:solidFill>
            </a:endParaRPr>
          </a:p>
          <a:p>
            <a:r>
              <a:rPr lang="fr-FR" sz="2800" b="1">
                <a:solidFill>
                  <a:srgbClr val="FF0000"/>
                </a:solidFill>
              </a:rPr>
              <a:t>  ProductController</a:t>
            </a:r>
            <a:r>
              <a:rPr lang="fr-FR" sz="2800">
                <a:solidFill>
                  <a:schemeClr val="tx1">
                    <a:lumMod val="95000"/>
                    <a:lumOff val="5000"/>
                  </a:schemeClr>
                </a:solidFill>
              </a:rPr>
              <a:t> : </a:t>
            </a:r>
            <a:r>
              <a:rPr lang="fr-FR" sz="2800" b="1">
                <a:solidFill>
                  <a:schemeClr val="tx1">
                    <a:lumMod val="95000"/>
                    <a:lumOff val="5000"/>
                  </a:schemeClr>
                </a:solidFill>
              </a:rPr>
              <a:t>routes /products </a:t>
            </a:r>
          </a:p>
          <a:p>
            <a:pPr marL="0" indent="0">
              <a:buNone/>
            </a:pPr>
            <a:r>
              <a:rPr lang="fr-FR" sz="2800">
                <a:solidFill>
                  <a:schemeClr val="tx1">
                    <a:lumMod val="95000"/>
                    <a:lumOff val="5000"/>
                  </a:schemeClr>
                </a:solidFill>
              </a:rPr>
              <a:t>      → affichage de la liste + nombre de scans </a:t>
            </a:r>
          </a:p>
          <a:p>
            <a:pPr marL="0" indent="0">
              <a:buNone/>
            </a:pPr>
            <a:r>
              <a:rPr lang="fr-FR" sz="2800">
                <a:solidFill>
                  <a:schemeClr val="tx1">
                    <a:lumMod val="95000"/>
                    <a:lumOff val="5000"/>
                  </a:schemeClr>
                </a:solidFill>
              </a:rPr>
              <a:t>      → suppression via scan </a:t>
            </a:r>
          </a:p>
          <a:p>
            <a:pPr marL="0" indent="0">
              <a:buNone/>
            </a:pPr>
            <a:r>
              <a:rPr lang="fr-FR" sz="2800">
                <a:solidFill>
                  <a:schemeClr val="tx1">
                    <a:lumMod val="95000"/>
                    <a:lumOff val="5000"/>
                  </a:schemeClr>
                </a:solidFill>
              </a:rPr>
              <a:t>      → rafraîchissement des statuts du stock</a:t>
            </a:r>
          </a:p>
          <a:p>
            <a:endParaRPr lang="fr-FR" sz="2400">
              <a:solidFill>
                <a:schemeClr val="tx1">
                  <a:lumMod val="95000"/>
                  <a:lumOff val="5000"/>
                </a:schemeClr>
              </a:solidFill>
            </a:endParaRPr>
          </a:p>
        </p:txBody>
      </p:sp>
      <p:sp>
        <p:nvSpPr>
          <p:cNvPr id="6" name="ZoneTexte 5">
            <a:extLst>
              <a:ext uri="{FF2B5EF4-FFF2-40B4-BE49-F238E27FC236}">
                <a16:creationId xmlns:a16="http://schemas.microsoft.com/office/drawing/2014/main" id="{E6E214A0-B5A6-0644-508C-41762C1EE2F3}"/>
              </a:ext>
            </a:extLst>
          </p:cNvPr>
          <p:cNvSpPr txBox="1"/>
          <p:nvPr/>
        </p:nvSpPr>
        <p:spPr>
          <a:xfrm>
            <a:off x="7597409" y="3710923"/>
            <a:ext cx="5204191" cy="2492990"/>
          </a:xfrm>
          <a:prstGeom prst="rect">
            <a:avLst/>
          </a:prstGeom>
          <a:noFill/>
        </p:spPr>
        <p:txBody>
          <a:bodyPr wrap="square" rtlCol="0">
            <a:spAutoFit/>
          </a:bodyPr>
          <a:lstStyle/>
          <a:p>
            <a:pPr marL="457200" indent="-457200">
              <a:buClr>
                <a:srgbClr val="C00000"/>
              </a:buClr>
              <a:buSzPct val="80000"/>
              <a:buFont typeface="Wingdings 3" panose="05040102010807070707" pitchFamily="18" charset="2"/>
              <a:buChar char="u"/>
            </a:pPr>
            <a:r>
              <a:rPr lang="fr-FR" sz="3200">
                <a:solidFill>
                  <a:schemeClr val="tx1">
                    <a:lumMod val="95000"/>
                    <a:lumOff val="5000"/>
                  </a:schemeClr>
                </a:solidFill>
              </a:rPr>
              <a:t>   Interface </a:t>
            </a:r>
            <a:r>
              <a:rPr lang="fr-FR" sz="3200" b="1">
                <a:solidFill>
                  <a:srgbClr val="FF0000"/>
                </a:solidFill>
              </a:rPr>
              <a:t>Thymeleaf</a:t>
            </a:r>
            <a:r>
              <a:rPr lang="fr-FR" sz="3200">
                <a:solidFill>
                  <a:schemeClr val="tx1">
                    <a:lumMod val="95000"/>
                    <a:lumOff val="5000"/>
                  </a:schemeClr>
                </a:solidFill>
              </a:rPr>
              <a:t> </a:t>
            </a:r>
          </a:p>
          <a:p>
            <a:pPr marL="0" indent="0">
              <a:buNone/>
            </a:pPr>
            <a:r>
              <a:rPr lang="fr-FR" sz="3200">
                <a:solidFill>
                  <a:schemeClr val="tx1">
                    <a:lumMod val="95000"/>
                    <a:lumOff val="5000"/>
                  </a:schemeClr>
                </a:solidFill>
              </a:rPr>
              <a:t>  → tableau clair avec nom, catégorie, poids, prix, quantité, statut </a:t>
            </a:r>
          </a:p>
          <a:p>
            <a:pPr marL="0" indent="0">
              <a:buNone/>
            </a:pPr>
            <a:r>
              <a:rPr lang="fr-FR" sz="2800">
                <a:solidFill>
                  <a:schemeClr val="tx1">
                    <a:lumMod val="95000"/>
                    <a:lumOff val="5000"/>
                  </a:schemeClr>
                </a:solidFill>
              </a:rPr>
              <a:t>  </a:t>
            </a:r>
            <a:endParaRPr lang="fr-FR"/>
          </a:p>
        </p:txBody>
      </p:sp>
      <p:pic>
        <p:nvPicPr>
          <p:cNvPr id="8" name="Espace réservé du contenu 8" descr="Outils avec un remplissage uni">
            <a:extLst>
              <a:ext uri="{FF2B5EF4-FFF2-40B4-BE49-F238E27FC236}">
                <a16:creationId xmlns:a16="http://schemas.microsoft.com/office/drawing/2014/main" id="{2C3CCACB-09A0-B71F-3D61-1C5BD06F48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964" y="3477662"/>
            <a:ext cx="337050" cy="337050"/>
          </a:xfrm>
          <a:prstGeom prst="rect">
            <a:avLst/>
          </a:prstGeom>
        </p:spPr>
      </p:pic>
      <p:pic>
        <p:nvPicPr>
          <p:cNvPr id="9" name="Graphique 8" descr="Liste avec un remplissage uni">
            <a:extLst>
              <a:ext uri="{FF2B5EF4-FFF2-40B4-BE49-F238E27FC236}">
                <a16:creationId xmlns:a16="http://schemas.microsoft.com/office/drawing/2014/main" id="{3A45E52E-49E9-01AE-70D6-AD5F9DE548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2267" y="1248989"/>
            <a:ext cx="337049" cy="337049"/>
          </a:xfrm>
          <a:prstGeom prst="rect">
            <a:avLst/>
          </a:prstGeom>
        </p:spPr>
      </p:pic>
      <p:pic>
        <p:nvPicPr>
          <p:cNvPr id="10" name="Image 9" descr="Une image contenant noir, obscurité&#10;&#10;Le contenu généré par l’IA peut être incorrect.">
            <a:extLst>
              <a:ext uri="{FF2B5EF4-FFF2-40B4-BE49-F238E27FC236}">
                <a16:creationId xmlns:a16="http://schemas.microsoft.com/office/drawing/2014/main" id="{5DE1907C-AF40-F63E-AF41-0F120164321E}"/>
              </a:ext>
            </a:extLst>
          </p:cNvPr>
          <p:cNvPicPr>
            <a:picLocks noChangeAspect="1"/>
          </p:cNvPicPr>
          <p:nvPr/>
        </p:nvPicPr>
        <p:blipFill>
          <a:blip r:embed="rId7"/>
          <a:stretch>
            <a:fillRect/>
          </a:stretch>
        </p:blipFill>
        <p:spPr>
          <a:xfrm>
            <a:off x="346289" y="7062590"/>
            <a:ext cx="421391" cy="421391"/>
          </a:xfrm>
          <a:prstGeom prst="rect">
            <a:avLst/>
          </a:prstGeom>
        </p:spPr>
      </p:pic>
      <p:pic>
        <p:nvPicPr>
          <p:cNvPr id="11" name="Graphique 10" descr="Palette avec un remplissage uni">
            <a:extLst>
              <a:ext uri="{FF2B5EF4-FFF2-40B4-BE49-F238E27FC236}">
                <a16:creationId xmlns:a16="http://schemas.microsoft.com/office/drawing/2014/main" id="{B703486C-204A-1555-5754-A9EAA80DE2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57868" y="3728891"/>
            <a:ext cx="455788" cy="455788"/>
          </a:xfrm>
          <a:prstGeom prst="rect">
            <a:avLst/>
          </a:prstGeom>
        </p:spPr>
      </p:pic>
      <p:sp>
        <p:nvSpPr>
          <p:cNvPr id="4" name="Espace réservé du numéro de diapositive 3">
            <a:extLst>
              <a:ext uri="{FF2B5EF4-FFF2-40B4-BE49-F238E27FC236}">
                <a16:creationId xmlns:a16="http://schemas.microsoft.com/office/drawing/2014/main" id="{5A59B06B-A726-8390-14F2-F506DCFAF069}"/>
              </a:ext>
            </a:extLst>
          </p:cNvPr>
          <p:cNvSpPr>
            <a:spLocks noGrp="1"/>
          </p:cNvSpPr>
          <p:nvPr>
            <p:ph type="sldNum" sz="quarter" idx="12"/>
          </p:nvPr>
        </p:nvSpPr>
        <p:spPr>
          <a:xfrm>
            <a:off x="11689051" y="9090025"/>
            <a:ext cx="717693" cy="511175"/>
          </a:xfrm>
        </p:spPr>
        <p:txBody>
          <a:bodyPr/>
          <a:lstStyle/>
          <a:p>
            <a:fld id="{69E57DC2-970A-4B3E-BB1C-7A09969E49DF}" type="slidenum">
              <a:rPr lang="en-US" sz="2800" b="1" smtClean="0">
                <a:solidFill>
                  <a:schemeClr val="tx1">
                    <a:lumMod val="95000"/>
                    <a:lumOff val="5000"/>
                  </a:schemeClr>
                </a:solidFill>
              </a:rPr>
              <a:t>14</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4247930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D5027F-8B65-AD45-076F-DAD518B8A91F}"/>
              </a:ext>
            </a:extLst>
          </p:cNvPr>
          <p:cNvSpPr>
            <a:spLocks noGrp="1"/>
          </p:cNvSpPr>
          <p:nvPr>
            <p:ph type="title"/>
          </p:nvPr>
        </p:nvSpPr>
        <p:spPr>
          <a:xfrm>
            <a:off x="1370434" y="0"/>
            <a:ext cx="9217151" cy="856198"/>
          </a:xfrm>
        </p:spPr>
        <p:txBody>
          <a:bodyPr>
            <a:normAutofit/>
          </a:bodyPr>
          <a:lstStyle/>
          <a:p>
            <a:r>
              <a:rPr lang="fr-FR" sz="4400" b="1" u="sng"/>
              <a:t>Scan et traçabilité :</a:t>
            </a:r>
            <a:r>
              <a:rPr lang="fr-FR" sz="4400" b="1"/>
              <a:t> </a:t>
            </a:r>
            <a:r>
              <a:rPr lang="fr-FR" sz="3600" b="1">
                <a:solidFill>
                  <a:schemeClr val="tx1">
                    <a:lumMod val="95000"/>
                    <a:lumOff val="5000"/>
                  </a:schemeClr>
                </a:solidFill>
              </a:rPr>
              <a:t>Vue d’ensemble </a:t>
            </a:r>
            <a:endParaRPr lang="fr-FR" sz="4000" b="1">
              <a:solidFill>
                <a:schemeClr val="tx1">
                  <a:lumMod val="95000"/>
                  <a:lumOff val="5000"/>
                </a:schemeClr>
              </a:solidFill>
            </a:endParaRPr>
          </a:p>
        </p:txBody>
      </p:sp>
      <p:sp>
        <p:nvSpPr>
          <p:cNvPr id="3" name="Espace réservé du contenu 2">
            <a:extLst>
              <a:ext uri="{FF2B5EF4-FFF2-40B4-BE49-F238E27FC236}">
                <a16:creationId xmlns:a16="http://schemas.microsoft.com/office/drawing/2014/main" id="{4612F7BF-789E-33AA-1D05-1E6E43C623FF}"/>
              </a:ext>
            </a:extLst>
          </p:cNvPr>
          <p:cNvSpPr>
            <a:spLocks noGrp="1"/>
          </p:cNvSpPr>
          <p:nvPr>
            <p:ph idx="1"/>
          </p:nvPr>
        </p:nvSpPr>
        <p:spPr>
          <a:xfrm>
            <a:off x="946894" y="856198"/>
            <a:ext cx="11779902" cy="8441749"/>
          </a:xfrm>
        </p:spPr>
        <p:txBody>
          <a:bodyPr>
            <a:normAutofit/>
          </a:bodyPr>
          <a:lstStyle/>
          <a:p>
            <a:r>
              <a:rPr lang="fr-FR" sz="2800" b="1">
                <a:solidFill>
                  <a:srgbClr val="FF0000"/>
                </a:solidFill>
              </a:rPr>
              <a:t>   ScanService</a:t>
            </a:r>
            <a:r>
              <a:rPr lang="fr-FR" sz="2800">
                <a:solidFill>
                  <a:srgbClr val="FF0000"/>
                </a:solidFill>
              </a:rPr>
              <a:t> </a:t>
            </a:r>
            <a:r>
              <a:rPr lang="fr-FR" sz="2800">
                <a:solidFill>
                  <a:schemeClr val="tx1">
                    <a:lumMod val="95000"/>
                    <a:lumOff val="5000"/>
                  </a:schemeClr>
                </a:solidFill>
              </a:rPr>
              <a:t>: </a:t>
            </a:r>
          </a:p>
          <a:p>
            <a:pPr>
              <a:buFont typeface="Arial" panose="020B0604020202020204" pitchFamily="34" charset="0"/>
              <a:buChar char="•"/>
            </a:pPr>
            <a:r>
              <a:rPr lang="fr-FR" sz="2800">
                <a:solidFill>
                  <a:schemeClr val="tx1">
                    <a:lumMod val="95000"/>
                    <a:lumOff val="5000"/>
                  </a:schemeClr>
                </a:solidFill>
              </a:rPr>
              <a:t>Enregistre chaque scan avec la date et le produit</a:t>
            </a:r>
          </a:p>
          <a:p>
            <a:pPr>
              <a:buFont typeface="Arial" panose="020B0604020202020204" pitchFamily="34" charset="0"/>
              <a:buChar char="•"/>
            </a:pPr>
            <a:r>
              <a:rPr lang="fr-FR" sz="2800">
                <a:solidFill>
                  <a:schemeClr val="tx1">
                    <a:lumMod val="95000"/>
                    <a:lumOff val="5000"/>
                  </a:schemeClr>
                </a:solidFill>
              </a:rPr>
              <a:t>Vérifie l’existence du produit et l’identité de l’utilisateur</a:t>
            </a:r>
          </a:p>
          <a:p>
            <a:pPr>
              <a:buFont typeface="Arial" panose="020B0604020202020204" pitchFamily="34" charset="0"/>
              <a:buChar char="•"/>
            </a:pPr>
            <a:r>
              <a:rPr lang="fr-FR" sz="2800">
                <a:solidFill>
                  <a:schemeClr val="tx1">
                    <a:lumMod val="95000"/>
                    <a:lumOff val="5000"/>
                  </a:schemeClr>
                </a:solidFill>
              </a:rPr>
              <a:t>Permet de consulter l’historique des scans</a:t>
            </a:r>
          </a:p>
          <a:p>
            <a:pPr>
              <a:buFont typeface="Arial" panose="020B0604020202020204" pitchFamily="34" charset="0"/>
              <a:buChar char="•"/>
            </a:pPr>
            <a:endParaRPr lang="fr-FR" sz="2800">
              <a:solidFill>
                <a:schemeClr val="tx1">
                  <a:lumMod val="95000"/>
                  <a:lumOff val="5000"/>
                </a:schemeClr>
              </a:solidFill>
            </a:endParaRPr>
          </a:p>
          <a:p>
            <a:r>
              <a:rPr lang="fr-FR" sz="2800" b="1">
                <a:solidFill>
                  <a:srgbClr val="FF0000"/>
                </a:solidFill>
              </a:rPr>
              <a:t>  ScanController</a:t>
            </a:r>
            <a:r>
              <a:rPr lang="fr-FR" sz="2800">
                <a:solidFill>
                  <a:schemeClr val="tx1">
                    <a:lumMod val="95000"/>
                    <a:lumOff val="5000"/>
                  </a:schemeClr>
                </a:solidFill>
              </a:rPr>
              <a:t> : </a:t>
            </a:r>
          </a:p>
          <a:p>
            <a:pPr>
              <a:buFont typeface="Arial" panose="020B0604020202020204" pitchFamily="34" charset="0"/>
              <a:buChar char="•"/>
            </a:pPr>
            <a:r>
              <a:rPr lang="fr-FR" sz="2800">
                <a:solidFill>
                  <a:schemeClr val="tx1">
                    <a:lumMod val="95000"/>
                    <a:lumOff val="5000"/>
                  </a:schemeClr>
                </a:solidFill>
              </a:rPr>
              <a:t>Gère les routes </a:t>
            </a:r>
            <a:r>
              <a:rPr lang="fr-FR" sz="2800" b="1">
                <a:solidFill>
                  <a:srgbClr val="FF0000"/>
                </a:solidFill>
              </a:rPr>
              <a:t>/scans </a:t>
            </a:r>
            <a:r>
              <a:rPr lang="fr-FR" sz="2800">
                <a:solidFill>
                  <a:schemeClr val="tx1">
                    <a:lumMod val="95000"/>
                    <a:lumOff val="5000"/>
                  </a:schemeClr>
                </a:solidFill>
              </a:rPr>
              <a:t>: affichage, enregistrement, réinitialisation</a:t>
            </a:r>
          </a:p>
          <a:p>
            <a:pPr>
              <a:buFont typeface="Arial" panose="020B0604020202020204" pitchFamily="34" charset="0"/>
              <a:buChar char="•"/>
            </a:pPr>
            <a:r>
              <a:rPr lang="fr-FR" sz="2800">
                <a:solidFill>
                  <a:schemeClr val="tx1">
                    <a:lumMod val="95000"/>
                    <a:lumOff val="5000"/>
                  </a:schemeClr>
                </a:solidFill>
              </a:rPr>
              <a:t>Récupère l’utilisateur connecté</a:t>
            </a:r>
          </a:p>
          <a:p>
            <a:pPr>
              <a:buFont typeface="Arial" panose="020B0604020202020204" pitchFamily="34" charset="0"/>
              <a:buChar char="•"/>
            </a:pPr>
            <a:r>
              <a:rPr lang="fr-FR" sz="2800">
                <a:solidFill>
                  <a:schemeClr val="tx1">
                    <a:lumMod val="95000"/>
                    <a:lumOff val="5000"/>
                  </a:schemeClr>
                </a:solidFill>
              </a:rPr>
              <a:t>Ajoute les produits scannés dans un panier temporaire</a:t>
            </a:r>
          </a:p>
          <a:p>
            <a:pPr>
              <a:buFont typeface="Arial" panose="020B0604020202020204" pitchFamily="34" charset="0"/>
              <a:buChar char="•"/>
            </a:pPr>
            <a:r>
              <a:rPr lang="fr-FR" sz="2800">
                <a:solidFill>
                  <a:schemeClr val="tx1">
                    <a:lumMod val="95000"/>
                    <a:lumOff val="5000"/>
                  </a:schemeClr>
                </a:solidFill>
              </a:rPr>
              <a:t>Calcule automatiquement le total à payer</a:t>
            </a:r>
          </a:p>
          <a:p>
            <a:pPr>
              <a:buFont typeface="Arial" panose="020B0604020202020204" pitchFamily="34" charset="0"/>
              <a:buChar char="•"/>
            </a:pPr>
            <a:r>
              <a:rPr lang="fr-FR" sz="2800">
                <a:solidFill>
                  <a:schemeClr val="tx1">
                    <a:lumMod val="95000"/>
                    <a:lumOff val="5000"/>
                  </a:schemeClr>
                </a:solidFill>
              </a:rPr>
              <a:t>Deux actions : ✅ paiement / 🗑️ vider le panier</a:t>
            </a:r>
          </a:p>
          <a:p>
            <a:pPr>
              <a:buFont typeface="Arial" panose="020B0604020202020204" pitchFamily="34" charset="0"/>
              <a:buChar char="•"/>
            </a:pPr>
            <a:endParaRPr lang="fr-FR" sz="2800">
              <a:solidFill>
                <a:schemeClr val="tx1">
                  <a:lumMod val="95000"/>
                  <a:lumOff val="5000"/>
                </a:schemeClr>
              </a:solidFill>
            </a:endParaRPr>
          </a:p>
          <a:p>
            <a:r>
              <a:rPr lang="fr-FR" sz="2800">
                <a:solidFill>
                  <a:schemeClr val="tx1">
                    <a:lumMod val="95000"/>
                    <a:lumOff val="5000"/>
                  </a:schemeClr>
                </a:solidFill>
              </a:rPr>
              <a:t>   Interface </a:t>
            </a:r>
            <a:r>
              <a:rPr lang="fr-FR" sz="2800" b="1">
                <a:solidFill>
                  <a:srgbClr val="FF0000"/>
                </a:solidFill>
              </a:rPr>
              <a:t>Thymeleaf</a:t>
            </a:r>
            <a:r>
              <a:rPr lang="fr-FR" sz="2800">
                <a:solidFill>
                  <a:schemeClr val="tx1">
                    <a:lumMod val="95000"/>
                    <a:lumOff val="5000"/>
                  </a:schemeClr>
                </a:solidFill>
              </a:rPr>
              <a:t> : Scan via douchette ou saisie manuelle</a:t>
            </a:r>
          </a:p>
          <a:p>
            <a:pPr>
              <a:buFont typeface="Arial" panose="020B0604020202020204" pitchFamily="34" charset="0"/>
              <a:buChar char="•"/>
            </a:pPr>
            <a:r>
              <a:rPr lang="fr-FR" sz="2800">
                <a:solidFill>
                  <a:schemeClr val="tx1">
                    <a:lumMod val="95000"/>
                    <a:lumOff val="5000"/>
                  </a:schemeClr>
                </a:solidFill>
              </a:rPr>
              <a:t>Affichage du produit scanné + panier</a:t>
            </a:r>
          </a:p>
        </p:txBody>
      </p:sp>
      <p:pic>
        <p:nvPicPr>
          <p:cNvPr id="4" name="Espace réservé du contenu 8" descr="Outils avec un remplissage uni">
            <a:extLst>
              <a:ext uri="{FF2B5EF4-FFF2-40B4-BE49-F238E27FC236}">
                <a16:creationId xmlns:a16="http://schemas.microsoft.com/office/drawing/2014/main" id="{09FC66BA-2619-3079-4010-285F2B7820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0657" y="948355"/>
            <a:ext cx="358831" cy="358831"/>
          </a:xfrm>
          <a:prstGeom prst="rect">
            <a:avLst/>
          </a:prstGeom>
        </p:spPr>
      </p:pic>
      <p:pic>
        <p:nvPicPr>
          <p:cNvPr id="5" name="Image 4" descr="Une image contenant noir, obscurité&#10;&#10;Le contenu généré par l’IA peut être incorrect.">
            <a:extLst>
              <a:ext uri="{FF2B5EF4-FFF2-40B4-BE49-F238E27FC236}">
                <a16:creationId xmlns:a16="http://schemas.microsoft.com/office/drawing/2014/main" id="{98A16266-7114-0BEA-C7C0-173286EE9696}"/>
              </a:ext>
            </a:extLst>
          </p:cNvPr>
          <p:cNvPicPr>
            <a:picLocks noChangeAspect="1"/>
          </p:cNvPicPr>
          <p:nvPr/>
        </p:nvPicPr>
        <p:blipFill>
          <a:blip r:embed="rId5"/>
          <a:stretch>
            <a:fillRect/>
          </a:stretch>
        </p:blipFill>
        <p:spPr>
          <a:xfrm>
            <a:off x="1297125" y="3954112"/>
            <a:ext cx="422363" cy="422363"/>
          </a:xfrm>
          <a:prstGeom prst="rect">
            <a:avLst/>
          </a:prstGeom>
        </p:spPr>
      </p:pic>
      <p:pic>
        <p:nvPicPr>
          <p:cNvPr id="6" name="Graphique 5" descr="Palette avec un remplissage uni">
            <a:extLst>
              <a:ext uri="{FF2B5EF4-FFF2-40B4-BE49-F238E27FC236}">
                <a16:creationId xmlns:a16="http://schemas.microsoft.com/office/drawing/2014/main" id="{2CDE5E7C-5949-86AF-186E-2B3F9C1805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2178" y="8140355"/>
            <a:ext cx="455788" cy="455788"/>
          </a:xfrm>
          <a:prstGeom prst="rect">
            <a:avLst/>
          </a:prstGeom>
        </p:spPr>
      </p:pic>
      <p:sp>
        <p:nvSpPr>
          <p:cNvPr id="7" name="Espace réservé du numéro de diapositive 6">
            <a:extLst>
              <a:ext uri="{FF2B5EF4-FFF2-40B4-BE49-F238E27FC236}">
                <a16:creationId xmlns:a16="http://schemas.microsoft.com/office/drawing/2014/main" id="{3009043C-2D6A-2C6F-2942-C1FE15336C6C}"/>
              </a:ext>
            </a:extLst>
          </p:cNvPr>
          <p:cNvSpPr>
            <a:spLocks noGrp="1"/>
          </p:cNvSpPr>
          <p:nvPr>
            <p:ph type="sldNum" sz="quarter" idx="12"/>
          </p:nvPr>
        </p:nvSpPr>
        <p:spPr>
          <a:xfrm>
            <a:off x="12083907" y="9042359"/>
            <a:ext cx="717693" cy="511175"/>
          </a:xfrm>
        </p:spPr>
        <p:txBody>
          <a:bodyPr/>
          <a:lstStyle/>
          <a:p>
            <a:fld id="{69E57DC2-970A-4B3E-BB1C-7A09969E49DF}" type="slidenum">
              <a:rPr lang="en-US" sz="2800" b="1" smtClean="0">
                <a:solidFill>
                  <a:schemeClr val="tx1">
                    <a:lumMod val="95000"/>
                    <a:lumOff val="5000"/>
                  </a:schemeClr>
                </a:solidFill>
              </a:rPr>
              <a:t>15</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168203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3A60-F09B-4C1E-5670-C05756E94CE7}"/>
              </a:ext>
            </a:extLst>
          </p:cNvPr>
          <p:cNvSpPr>
            <a:spLocks noGrp="1"/>
          </p:cNvSpPr>
          <p:nvPr>
            <p:ph type="title"/>
          </p:nvPr>
        </p:nvSpPr>
        <p:spPr>
          <a:xfrm>
            <a:off x="3554436" y="-38810"/>
            <a:ext cx="5692727" cy="1116037"/>
          </a:xfrm>
        </p:spPr>
        <p:txBody>
          <a:bodyPr>
            <a:normAutofit/>
          </a:bodyPr>
          <a:lstStyle/>
          <a:p>
            <a:pPr algn="ctr"/>
            <a:r>
              <a:rPr lang="fr-FR" sz="4800" b="1" u="sng"/>
              <a:t>Scanner physique</a:t>
            </a:r>
          </a:p>
        </p:txBody>
      </p:sp>
      <p:sp>
        <p:nvSpPr>
          <p:cNvPr id="4" name="ZoneTexte 3">
            <a:extLst>
              <a:ext uri="{FF2B5EF4-FFF2-40B4-BE49-F238E27FC236}">
                <a16:creationId xmlns:a16="http://schemas.microsoft.com/office/drawing/2014/main" id="{1618B2B5-BA6E-23F6-46DE-DAC15F355FD8}"/>
              </a:ext>
            </a:extLst>
          </p:cNvPr>
          <p:cNvSpPr txBox="1"/>
          <p:nvPr/>
        </p:nvSpPr>
        <p:spPr>
          <a:xfrm>
            <a:off x="3010159" y="913398"/>
            <a:ext cx="7567225" cy="538609"/>
          </a:xfrm>
          <a:prstGeom prst="rect">
            <a:avLst/>
          </a:prstGeom>
          <a:noFill/>
        </p:spPr>
        <p:txBody>
          <a:bodyPr wrap="square" rtlCol="0">
            <a:spAutoFit/>
          </a:bodyPr>
          <a:lstStyle/>
          <a:p>
            <a:r>
              <a:rPr lang="fr-FR" sz="2900" b="1"/>
              <a:t>Matériel utilisé : </a:t>
            </a:r>
            <a:r>
              <a:rPr lang="fr-FR" sz="2900" b="1">
                <a:solidFill>
                  <a:srgbClr val="002060"/>
                </a:solidFill>
              </a:rPr>
              <a:t>Datalogic Touch TD1100</a:t>
            </a:r>
          </a:p>
        </p:txBody>
      </p:sp>
      <p:sp>
        <p:nvSpPr>
          <p:cNvPr id="5" name="Rectangle 1">
            <a:extLst>
              <a:ext uri="{FF2B5EF4-FFF2-40B4-BE49-F238E27FC236}">
                <a16:creationId xmlns:a16="http://schemas.microsoft.com/office/drawing/2014/main" id="{9E05CB8E-FFEB-6C80-EFCC-44F80DD80177}"/>
              </a:ext>
            </a:extLst>
          </p:cNvPr>
          <p:cNvSpPr>
            <a:spLocks noGrp="1" noChangeArrowheads="1"/>
          </p:cNvSpPr>
          <p:nvPr>
            <p:ph idx="1"/>
          </p:nvPr>
        </p:nvSpPr>
        <p:spPr bwMode="auto">
          <a:xfrm>
            <a:off x="655991" y="1684452"/>
            <a:ext cx="1148961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3000" b="0" i="0" u="none" strike="noStrike" cap="none" normalizeH="0" baseline="0">
                <a:ln>
                  <a:noFill/>
                </a:ln>
                <a:solidFill>
                  <a:schemeClr val="tx1"/>
                </a:solidFill>
                <a:effectLst/>
              </a:rPr>
              <a:t>     Scanner prêté par le </a:t>
            </a:r>
            <a:r>
              <a:rPr kumimoji="0" lang="fr-FR" altLang="fr-FR" sz="3000" b="1" i="0" u="none" strike="noStrike" cap="none" normalizeH="0" baseline="0">
                <a:ln>
                  <a:noFill/>
                </a:ln>
                <a:solidFill>
                  <a:schemeClr val="tx1"/>
                </a:solidFill>
                <a:effectLst/>
              </a:rPr>
              <a:t>formateur</a:t>
            </a:r>
            <a:r>
              <a:rPr kumimoji="0" lang="fr-FR" altLang="fr-FR" sz="3000" b="0" i="0" u="none" strike="noStrike" cap="none" normalizeH="0" baseline="0">
                <a:ln>
                  <a:noFill/>
                </a:ln>
                <a:solidFill>
                  <a:schemeClr val="tx1"/>
                </a:solidFill>
                <a:effectLst/>
              </a:rPr>
              <a:t>, relié à l’ordinateur par </a:t>
            </a:r>
            <a:r>
              <a:rPr kumimoji="0" lang="fr-FR" altLang="fr-FR" sz="3000" b="1" i="0" u="none" strike="noStrike" cap="none" normalizeH="0" baseline="0">
                <a:ln>
                  <a:noFill/>
                </a:ln>
                <a:solidFill>
                  <a:schemeClr val="tx1"/>
                </a:solidFill>
                <a:effectLst/>
              </a:rPr>
              <a:t>câble</a:t>
            </a:r>
          </a:p>
          <a:p>
            <a:pPr marL="0" marR="0" lvl="0" indent="0" algn="l" defTabSz="914400" rtl="0" eaLnBrk="0" fontAlgn="base" latinLnBrk="0" hangingPunct="0">
              <a:lnSpc>
                <a:spcPct val="100000"/>
              </a:lnSpc>
              <a:spcBef>
                <a:spcPct val="0"/>
              </a:spcBef>
              <a:spcAft>
                <a:spcPct val="0"/>
              </a:spcAft>
              <a:buClrTx/>
              <a:buSzTx/>
              <a:buNone/>
              <a:tabLst/>
            </a:pPr>
            <a:endParaRPr lang="fr-FR" altLang="fr-FR" sz="300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000" b="0" i="0" u="none" strike="noStrike" cap="none" normalizeH="0" baseline="0">
                <a:ln>
                  <a:noFill/>
                </a:ln>
                <a:solidFill>
                  <a:schemeClr val="tx1"/>
                </a:solidFill>
                <a:effectLst/>
              </a:rPr>
              <a:t>     Lecture des codes-barres par </a:t>
            </a:r>
            <a:r>
              <a:rPr kumimoji="0" lang="fr-FR" altLang="fr-FR" sz="3000" b="1" i="0" u="none" strike="noStrike" cap="none" normalizeH="0" baseline="0">
                <a:ln>
                  <a:noFill/>
                </a:ln>
                <a:solidFill>
                  <a:schemeClr val="tx1"/>
                </a:solidFill>
                <a:effectLst/>
              </a:rPr>
              <a:t>contact direct</a:t>
            </a:r>
          </a:p>
          <a:p>
            <a:pPr marL="0" marR="0" lvl="0" indent="0" algn="l" defTabSz="914400" rtl="0" eaLnBrk="0" fontAlgn="base" latinLnBrk="0" hangingPunct="0">
              <a:lnSpc>
                <a:spcPct val="100000"/>
              </a:lnSpc>
              <a:spcBef>
                <a:spcPct val="0"/>
              </a:spcBef>
              <a:spcAft>
                <a:spcPct val="0"/>
              </a:spcAft>
              <a:buClrTx/>
              <a:buSzTx/>
              <a:buNone/>
              <a:tabLst/>
            </a:pPr>
            <a:endParaRPr lang="fr-FR" altLang="fr-FR" sz="300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000" b="0" i="0" u="none" strike="noStrike" cap="none" normalizeH="0" baseline="0">
                <a:ln>
                  <a:noFill/>
                </a:ln>
                <a:solidFill>
                  <a:schemeClr val="tx1"/>
                </a:solidFill>
                <a:effectLst/>
              </a:rPr>
              <a:t>     Fonctionne </a:t>
            </a:r>
            <a:r>
              <a:rPr kumimoji="0" lang="fr-FR" altLang="fr-FR" sz="3000" b="1" i="0" u="none" strike="noStrike" cap="none" normalizeH="0" baseline="0">
                <a:ln>
                  <a:noFill/>
                </a:ln>
                <a:solidFill>
                  <a:schemeClr val="tx1"/>
                </a:solidFill>
                <a:effectLst/>
              </a:rPr>
              <a:t>sans configuration complexe</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3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000" b="0" i="0" u="none" strike="noStrike" cap="none" normalizeH="0" baseline="0">
                <a:ln>
                  <a:noFill/>
                </a:ln>
                <a:solidFill>
                  <a:schemeClr val="tx1"/>
                </a:solidFill>
                <a:effectLst/>
              </a:rPr>
              <a:t>     </a:t>
            </a:r>
            <a:r>
              <a:rPr kumimoji="0" lang="fr-FR" altLang="fr-FR" sz="3000" b="1" i="0" u="none" strike="noStrike" cap="none" normalizeH="0" baseline="0">
                <a:ln>
                  <a:noFill/>
                </a:ln>
                <a:solidFill>
                  <a:schemeClr val="tx1"/>
                </a:solidFill>
                <a:effectLst/>
              </a:rPr>
              <a:t>Léger</a:t>
            </a:r>
            <a:r>
              <a:rPr kumimoji="0" lang="fr-FR" altLang="fr-FR" sz="3000" b="0" i="0" u="none" strike="noStrike" cap="none" normalizeH="0" baseline="0">
                <a:ln>
                  <a:noFill/>
                </a:ln>
                <a:solidFill>
                  <a:schemeClr val="tx1"/>
                </a:solidFill>
                <a:effectLst/>
              </a:rPr>
              <a:t>, </a:t>
            </a:r>
            <a:r>
              <a:rPr kumimoji="0" lang="fr-FR" altLang="fr-FR" sz="3000" b="1" i="0" u="none" strike="noStrike" cap="none" normalizeH="0" baseline="0">
                <a:ln>
                  <a:noFill/>
                </a:ln>
                <a:solidFill>
                  <a:schemeClr val="tx1"/>
                </a:solidFill>
                <a:effectLst/>
              </a:rPr>
              <a:t>rapide</a:t>
            </a:r>
            <a:r>
              <a:rPr kumimoji="0" lang="fr-FR" altLang="fr-FR" sz="3000" b="0" i="0" u="none" strike="noStrike" cap="none" normalizeH="0" baseline="0">
                <a:ln>
                  <a:noFill/>
                </a:ln>
                <a:solidFill>
                  <a:schemeClr val="tx1"/>
                </a:solidFill>
                <a:effectLst/>
              </a:rPr>
              <a:t> → idéal pour les environnements </a:t>
            </a:r>
          </a:p>
          <a:p>
            <a:pPr marL="0" marR="0" lvl="0" indent="0" algn="l" defTabSz="914400" rtl="0" eaLnBrk="0" fontAlgn="base" latinLnBrk="0" hangingPunct="0">
              <a:lnSpc>
                <a:spcPct val="100000"/>
              </a:lnSpc>
              <a:spcBef>
                <a:spcPct val="0"/>
              </a:spcBef>
              <a:spcAft>
                <a:spcPct val="0"/>
              </a:spcAft>
              <a:buClrTx/>
              <a:buSzTx/>
              <a:buNone/>
              <a:tabLst/>
            </a:pPr>
            <a:r>
              <a:rPr lang="fr-FR" altLang="fr-FR" sz="3000">
                <a:solidFill>
                  <a:schemeClr val="tx1"/>
                </a:solidFill>
              </a:rPr>
              <a:t>     </a:t>
            </a:r>
            <a:r>
              <a:rPr kumimoji="0" lang="fr-FR" altLang="fr-FR" sz="3000" b="0" i="0" u="none" strike="noStrike" cap="none" normalizeH="0" baseline="0">
                <a:ln>
                  <a:noFill/>
                </a:ln>
                <a:solidFill>
                  <a:schemeClr val="tx1"/>
                </a:solidFill>
                <a:effectLst/>
              </a:rPr>
              <a:t>comme les </a:t>
            </a:r>
            <a:r>
              <a:rPr kumimoji="0" lang="fr-FR" altLang="fr-FR" sz="3000" b="1" i="0" u="none" strike="noStrike" cap="none" normalizeH="0" baseline="0">
                <a:ln>
                  <a:noFill/>
                </a:ln>
                <a:solidFill>
                  <a:schemeClr val="tx1"/>
                </a:solidFill>
                <a:effectLst/>
              </a:rPr>
              <a:t>boucheries</a:t>
            </a:r>
          </a:p>
        </p:txBody>
      </p:sp>
      <p:pic>
        <p:nvPicPr>
          <p:cNvPr id="6" name="Image 5">
            <a:extLst>
              <a:ext uri="{FF2B5EF4-FFF2-40B4-BE49-F238E27FC236}">
                <a16:creationId xmlns:a16="http://schemas.microsoft.com/office/drawing/2014/main" id="{09216C34-F2F5-DF10-6D5D-091B4DD295D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450397" y="2602659"/>
            <a:ext cx="493819" cy="493819"/>
          </a:xfrm>
          <a:prstGeom prst="rect">
            <a:avLst/>
          </a:prstGeom>
        </p:spPr>
      </p:pic>
      <p:pic>
        <p:nvPicPr>
          <p:cNvPr id="8" name="Image 7" descr="Une image contenant noir, obscurité&#10;&#10;Le contenu généré par l’IA peut être incorrect.">
            <a:extLst>
              <a:ext uri="{FF2B5EF4-FFF2-40B4-BE49-F238E27FC236}">
                <a16:creationId xmlns:a16="http://schemas.microsoft.com/office/drawing/2014/main" id="{7B260019-2993-2F41-E298-D0667A4D4CC8}"/>
              </a:ext>
            </a:extLst>
          </p:cNvPr>
          <p:cNvPicPr>
            <a:picLocks noChangeAspect="1"/>
          </p:cNvPicPr>
          <p:nvPr/>
        </p:nvPicPr>
        <p:blipFill>
          <a:blip r:embed="rId5"/>
          <a:stretch>
            <a:fillRect/>
          </a:stretch>
        </p:blipFill>
        <p:spPr>
          <a:xfrm>
            <a:off x="452493" y="1643445"/>
            <a:ext cx="594636" cy="594636"/>
          </a:xfrm>
          <a:prstGeom prst="rect">
            <a:avLst/>
          </a:prstGeom>
        </p:spPr>
      </p:pic>
      <p:pic>
        <p:nvPicPr>
          <p:cNvPr id="12" name="Image 11" descr="Une image contenant noir, obscurité&#10;&#10;Le contenu généré par l’IA peut être incorrect.">
            <a:extLst>
              <a:ext uri="{FF2B5EF4-FFF2-40B4-BE49-F238E27FC236}">
                <a16:creationId xmlns:a16="http://schemas.microsoft.com/office/drawing/2014/main" id="{E3DC48A7-FC53-DD66-2F7B-6D7047695D47}"/>
              </a:ext>
            </a:extLst>
          </p:cNvPr>
          <p:cNvPicPr>
            <a:picLocks noChangeAspect="1"/>
          </p:cNvPicPr>
          <p:nvPr/>
        </p:nvPicPr>
        <p:blipFill>
          <a:blip r:embed="rId6"/>
          <a:stretch>
            <a:fillRect/>
          </a:stretch>
        </p:blipFill>
        <p:spPr>
          <a:xfrm>
            <a:off x="420616" y="4390068"/>
            <a:ext cx="553379" cy="553379"/>
          </a:xfrm>
          <a:prstGeom prst="rect">
            <a:avLst/>
          </a:prstGeom>
        </p:spPr>
      </p:pic>
      <p:sp>
        <p:nvSpPr>
          <p:cNvPr id="13" name="Graphique 9" descr="Engrenage avec un remplissage uni">
            <a:extLst>
              <a:ext uri="{FF2B5EF4-FFF2-40B4-BE49-F238E27FC236}">
                <a16:creationId xmlns:a16="http://schemas.microsoft.com/office/drawing/2014/main" id="{F0959FAC-5928-46CD-B748-00D7F85CA6AF}"/>
              </a:ext>
            </a:extLst>
          </p:cNvPr>
          <p:cNvSpPr/>
          <p:nvPr/>
        </p:nvSpPr>
        <p:spPr>
          <a:xfrm>
            <a:off x="391898" y="3461056"/>
            <a:ext cx="528181" cy="527405"/>
          </a:xfrm>
          <a:custGeom>
            <a:avLst/>
            <a:gdLst>
              <a:gd name="connsiteX0" fmla="*/ 263703 w 528181"/>
              <a:gd name="connsiteY0" fmla="*/ 356775 h 527405"/>
              <a:gd name="connsiteX1" fmla="*/ 170631 w 528181"/>
              <a:gd name="connsiteY1" fmla="*/ 263703 h 527405"/>
              <a:gd name="connsiteX2" fmla="*/ 263703 w 528181"/>
              <a:gd name="connsiteY2" fmla="*/ 170631 h 527405"/>
              <a:gd name="connsiteX3" fmla="*/ 356775 w 528181"/>
              <a:gd name="connsiteY3" fmla="*/ 263703 h 527405"/>
              <a:gd name="connsiteX4" fmla="*/ 263703 w 528181"/>
              <a:gd name="connsiteY4" fmla="*/ 356775 h 527405"/>
              <a:gd name="connsiteX5" fmla="*/ 473114 w 528181"/>
              <a:gd name="connsiteY5" fmla="*/ 205533 h 527405"/>
              <a:gd name="connsiteX6" fmla="*/ 452949 w 528181"/>
              <a:gd name="connsiteY6" fmla="*/ 157446 h 527405"/>
              <a:gd name="connsiteX7" fmla="*/ 472339 w 528181"/>
              <a:gd name="connsiteY7" fmla="*/ 99276 h 527405"/>
              <a:gd name="connsiteX8" fmla="*/ 428129 w 528181"/>
              <a:gd name="connsiteY8" fmla="*/ 55067 h 527405"/>
              <a:gd name="connsiteX9" fmla="*/ 369960 w 528181"/>
              <a:gd name="connsiteY9" fmla="*/ 74457 h 527405"/>
              <a:gd name="connsiteX10" fmla="*/ 321097 w 528181"/>
              <a:gd name="connsiteY10" fmla="*/ 54292 h 527405"/>
              <a:gd name="connsiteX11" fmla="*/ 294727 w 528181"/>
              <a:gd name="connsiteY11" fmla="*/ 0 h 527405"/>
              <a:gd name="connsiteX12" fmla="*/ 232679 w 528181"/>
              <a:gd name="connsiteY12" fmla="*/ 0 h 527405"/>
              <a:gd name="connsiteX13" fmla="*/ 205533 w 528181"/>
              <a:gd name="connsiteY13" fmla="*/ 54292 h 527405"/>
              <a:gd name="connsiteX14" fmla="*/ 157446 w 528181"/>
              <a:gd name="connsiteY14" fmla="*/ 74457 h 527405"/>
              <a:gd name="connsiteX15" fmla="*/ 99276 w 528181"/>
              <a:gd name="connsiteY15" fmla="*/ 55067 h 527405"/>
              <a:gd name="connsiteX16" fmla="*/ 55067 w 528181"/>
              <a:gd name="connsiteY16" fmla="*/ 99276 h 527405"/>
              <a:gd name="connsiteX17" fmla="*/ 74457 w 528181"/>
              <a:gd name="connsiteY17" fmla="*/ 157446 h 527405"/>
              <a:gd name="connsiteX18" fmla="*/ 54292 w 528181"/>
              <a:gd name="connsiteY18" fmla="*/ 206309 h 527405"/>
              <a:gd name="connsiteX19" fmla="*/ 0 w 528181"/>
              <a:gd name="connsiteY19" fmla="*/ 232679 h 527405"/>
              <a:gd name="connsiteX20" fmla="*/ 0 w 528181"/>
              <a:gd name="connsiteY20" fmla="*/ 294727 h 527405"/>
              <a:gd name="connsiteX21" fmla="*/ 54292 w 528181"/>
              <a:gd name="connsiteY21" fmla="*/ 321873 h 527405"/>
              <a:gd name="connsiteX22" fmla="*/ 74457 w 528181"/>
              <a:gd name="connsiteY22" fmla="*/ 369960 h 527405"/>
              <a:gd name="connsiteX23" fmla="*/ 55067 w 528181"/>
              <a:gd name="connsiteY23" fmla="*/ 428129 h 527405"/>
              <a:gd name="connsiteX24" fmla="*/ 99276 w 528181"/>
              <a:gd name="connsiteY24" fmla="*/ 472339 h 527405"/>
              <a:gd name="connsiteX25" fmla="*/ 157446 w 528181"/>
              <a:gd name="connsiteY25" fmla="*/ 452949 h 527405"/>
              <a:gd name="connsiteX26" fmla="*/ 206309 w 528181"/>
              <a:gd name="connsiteY26" fmla="*/ 473114 h 527405"/>
              <a:gd name="connsiteX27" fmla="*/ 233455 w 528181"/>
              <a:gd name="connsiteY27" fmla="*/ 527406 h 527405"/>
              <a:gd name="connsiteX28" fmla="*/ 295502 w 528181"/>
              <a:gd name="connsiteY28" fmla="*/ 527406 h 527405"/>
              <a:gd name="connsiteX29" fmla="*/ 322648 w 528181"/>
              <a:gd name="connsiteY29" fmla="*/ 473114 h 527405"/>
              <a:gd name="connsiteX30" fmla="*/ 370735 w 528181"/>
              <a:gd name="connsiteY30" fmla="*/ 452949 h 527405"/>
              <a:gd name="connsiteX31" fmla="*/ 428905 w 528181"/>
              <a:gd name="connsiteY31" fmla="*/ 472339 h 527405"/>
              <a:gd name="connsiteX32" fmla="*/ 473114 w 528181"/>
              <a:gd name="connsiteY32" fmla="*/ 428129 h 527405"/>
              <a:gd name="connsiteX33" fmla="*/ 453724 w 528181"/>
              <a:gd name="connsiteY33" fmla="*/ 369960 h 527405"/>
              <a:gd name="connsiteX34" fmla="*/ 473890 w 528181"/>
              <a:gd name="connsiteY34" fmla="*/ 321097 h 527405"/>
              <a:gd name="connsiteX35" fmla="*/ 528181 w 528181"/>
              <a:gd name="connsiteY35" fmla="*/ 293951 h 527405"/>
              <a:gd name="connsiteX36" fmla="*/ 528181 w 528181"/>
              <a:gd name="connsiteY36" fmla="*/ 231903 h 527405"/>
              <a:gd name="connsiteX37" fmla="*/ 473114 w 528181"/>
              <a:gd name="connsiteY37" fmla="*/ 205533 h 52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28181" h="527405">
                <a:moveTo>
                  <a:pt x="263703" y="356775"/>
                </a:moveTo>
                <a:cubicBezTo>
                  <a:pt x="212514" y="356775"/>
                  <a:pt x="170631" y="314892"/>
                  <a:pt x="170631" y="263703"/>
                </a:cubicBezTo>
                <a:cubicBezTo>
                  <a:pt x="170631" y="212514"/>
                  <a:pt x="212514" y="170631"/>
                  <a:pt x="263703" y="170631"/>
                </a:cubicBezTo>
                <a:cubicBezTo>
                  <a:pt x="314892" y="170631"/>
                  <a:pt x="356775" y="212514"/>
                  <a:pt x="356775" y="263703"/>
                </a:cubicBezTo>
                <a:cubicBezTo>
                  <a:pt x="356775" y="314892"/>
                  <a:pt x="314892" y="356775"/>
                  <a:pt x="263703" y="356775"/>
                </a:cubicBezTo>
                <a:close/>
                <a:moveTo>
                  <a:pt x="473114" y="205533"/>
                </a:moveTo>
                <a:cubicBezTo>
                  <a:pt x="468461" y="188470"/>
                  <a:pt x="461480" y="172183"/>
                  <a:pt x="452949" y="157446"/>
                </a:cubicBezTo>
                <a:lnTo>
                  <a:pt x="472339" y="99276"/>
                </a:lnTo>
                <a:lnTo>
                  <a:pt x="428129" y="55067"/>
                </a:lnTo>
                <a:lnTo>
                  <a:pt x="369960" y="74457"/>
                </a:lnTo>
                <a:cubicBezTo>
                  <a:pt x="354448" y="65926"/>
                  <a:pt x="338160" y="58945"/>
                  <a:pt x="321097" y="54292"/>
                </a:cubicBezTo>
                <a:lnTo>
                  <a:pt x="294727" y="0"/>
                </a:lnTo>
                <a:lnTo>
                  <a:pt x="232679" y="0"/>
                </a:lnTo>
                <a:lnTo>
                  <a:pt x="205533" y="54292"/>
                </a:lnTo>
                <a:cubicBezTo>
                  <a:pt x="188470" y="58945"/>
                  <a:pt x="172183" y="65926"/>
                  <a:pt x="157446" y="74457"/>
                </a:cubicBezTo>
                <a:lnTo>
                  <a:pt x="99276" y="55067"/>
                </a:lnTo>
                <a:lnTo>
                  <a:pt x="55067" y="99276"/>
                </a:lnTo>
                <a:lnTo>
                  <a:pt x="74457" y="157446"/>
                </a:lnTo>
                <a:cubicBezTo>
                  <a:pt x="65926" y="172958"/>
                  <a:pt x="58945" y="189246"/>
                  <a:pt x="54292" y="206309"/>
                </a:cubicBezTo>
                <a:lnTo>
                  <a:pt x="0" y="232679"/>
                </a:lnTo>
                <a:lnTo>
                  <a:pt x="0" y="294727"/>
                </a:lnTo>
                <a:lnTo>
                  <a:pt x="54292" y="321873"/>
                </a:lnTo>
                <a:cubicBezTo>
                  <a:pt x="58945" y="338936"/>
                  <a:pt x="65926" y="355223"/>
                  <a:pt x="74457" y="369960"/>
                </a:cubicBezTo>
                <a:lnTo>
                  <a:pt x="55067" y="428129"/>
                </a:lnTo>
                <a:lnTo>
                  <a:pt x="99276" y="472339"/>
                </a:lnTo>
                <a:lnTo>
                  <a:pt x="157446" y="452949"/>
                </a:lnTo>
                <a:cubicBezTo>
                  <a:pt x="172958" y="461480"/>
                  <a:pt x="189246" y="468461"/>
                  <a:pt x="206309" y="473114"/>
                </a:cubicBezTo>
                <a:lnTo>
                  <a:pt x="233455" y="527406"/>
                </a:lnTo>
                <a:lnTo>
                  <a:pt x="295502" y="527406"/>
                </a:lnTo>
                <a:lnTo>
                  <a:pt x="322648" y="473114"/>
                </a:lnTo>
                <a:cubicBezTo>
                  <a:pt x="339711" y="468461"/>
                  <a:pt x="355999" y="461480"/>
                  <a:pt x="370735" y="452949"/>
                </a:cubicBezTo>
                <a:lnTo>
                  <a:pt x="428905" y="472339"/>
                </a:lnTo>
                <a:lnTo>
                  <a:pt x="473114" y="428129"/>
                </a:lnTo>
                <a:lnTo>
                  <a:pt x="453724" y="369960"/>
                </a:lnTo>
                <a:cubicBezTo>
                  <a:pt x="462256" y="354448"/>
                  <a:pt x="469236" y="338160"/>
                  <a:pt x="473890" y="321097"/>
                </a:cubicBezTo>
                <a:lnTo>
                  <a:pt x="528181" y="293951"/>
                </a:lnTo>
                <a:lnTo>
                  <a:pt x="528181" y="231903"/>
                </a:lnTo>
                <a:lnTo>
                  <a:pt x="473114" y="205533"/>
                </a:lnTo>
                <a:close/>
              </a:path>
            </a:pathLst>
          </a:custGeom>
          <a:solidFill>
            <a:srgbClr val="000000"/>
          </a:solidFill>
          <a:ln w="7739" cap="flat">
            <a:noFill/>
            <a:prstDash val="solid"/>
            <a:miter/>
          </a:ln>
        </p:spPr>
        <p:txBody>
          <a:bodyPr rtlCol="0" anchor="ctr"/>
          <a:lstStyle/>
          <a:p>
            <a:endParaRPr lang="fr-FR"/>
          </a:p>
        </p:txBody>
      </p:sp>
      <p:pic>
        <p:nvPicPr>
          <p:cNvPr id="14" name="Image 13">
            <a:extLst>
              <a:ext uri="{FF2B5EF4-FFF2-40B4-BE49-F238E27FC236}">
                <a16:creationId xmlns:a16="http://schemas.microsoft.com/office/drawing/2014/main" id="{34F2B605-5119-5D39-D265-E285490C7092}"/>
              </a:ext>
            </a:extLst>
          </p:cNvPr>
          <p:cNvPicPr>
            <a:picLocks noChangeAspect="1"/>
          </p:cNvPicPr>
          <p:nvPr/>
        </p:nvPicPr>
        <p:blipFill>
          <a:blip r:embed="rId7"/>
          <a:srcRect t="18818" b="19045"/>
          <a:stretch/>
        </p:blipFill>
        <p:spPr>
          <a:xfrm>
            <a:off x="3010159" y="5619457"/>
            <a:ext cx="6237004" cy="3875508"/>
          </a:xfrm>
          <a:prstGeom prst="rect">
            <a:avLst/>
          </a:prstGeom>
        </p:spPr>
      </p:pic>
      <p:sp>
        <p:nvSpPr>
          <p:cNvPr id="3" name="Espace réservé du numéro de diapositive 2">
            <a:extLst>
              <a:ext uri="{FF2B5EF4-FFF2-40B4-BE49-F238E27FC236}">
                <a16:creationId xmlns:a16="http://schemas.microsoft.com/office/drawing/2014/main" id="{8563D87B-3B88-07C7-482E-4F745233F4F6}"/>
              </a:ext>
            </a:extLst>
          </p:cNvPr>
          <p:cNvSpPr>
            <a:spLocks noGrp="1"/>
          </p:cNvSpPr>
          <p:nvPr>
            <p:ph type="sldNum" sz="quarter" idx="12"/>
          </p:nvPr>
        </p:nvSpPr>
        <p:spPr>
          <a:xfrm>
            <a:off x="12083907" y="9090025"/>
            <a:ext cx="717693" cy="511175"/>
          </a:xfrm>
        </p:spPr>
        <p:txBody>
          <a:bodyPr/>
          <a:lstStyle/>
          <a:p>
            <a:fld id="{69E57DC2-970A-4B3E-BB1C-7A09969E49DF}" type="slidenum">
              <a:rPr lang="en-US" sz="2800" b="1" smtClean="0">
                <a:solidFill>
                  <a:schemeClr val="tx1">
                    <a:lumMod val="95000"/>
                    <a:lumOff val="5000"/>
                  </a:schemeClr>
                </a:solidFill>
              </a:rPr>
              <a:t>16</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2330570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FF60B3-F9D0-F94E-278B-17089678BCED}"/>
              </a:ext>
            </a:extLst>
          </p:cNvPr>
          <p:cNvSpPr>
            <a:spLocks noGrp="1"/>
          </p:cNvSpPr>
          <p:nvPr>
            <p:ph type="title"/>
          </p:nvPr>
        </p:nvSpPr>
        <p:spPr>
          <a:xfrm>
            <a:off x="4604823" y="41557"/>
            <a:ext cx="3859238" cy="928468"/>
          </a:xfrm>
        </p:spPr>
        <p:txBody>
          <a:bodyPr>
            <a:normAutofit/>
          </a:bodyPr>
          <a:lstStyle/>
          <a:p>
            <a:r>
              <a:rPr lang="fr-FR" sz="4400" b="1" u="sng"/>
              <a:t>Code-barres</a:t>
            </a:r>
            <a:endParaRPr lang="fr-FR" sz="4800" b="1" u="sng"/>
          </a:p>
        </p:txBody>
      </p:sp>
      <p:sp>
        <p:nvSpPr>
          <p:cNvPr id="3" name="Espace réservé du contenu 2">
            <a:extLst>
              <a:ext uri="{FF2B5EF4-FFF2-40B4-BE49-F238E27FC236}">
                <a16:creationId xmlns:a16="http://schemas.microsoft.com/office/drawing/2014/main" id="{7878ADBB-1F0B-1864-2810-478AB87F2DC3}"/>
              </a:ext>
            </a:extLst>
          </p:cNvPr>
          <p:cNvSpPr>
            <a:spLocks noGrp="1"/>
          </p:cNvSpPr>
          <p:nvPr>
            <p:ph idx="1"/>
          </p:nvPr>
        </p:nvSpPr>
        <p:spPr>
          <a:xfrm>
            <a:off x="1280679" y="1696147"/>
            <a:ext cx="10318654" cy="3481423"/>
          </a:xfrm>
        </p:spPr>
        <p:txBody>
          <a:bodyPr>
            <a:noAutofit/>
          </a:bodyPr>
          <a:lstStyle/>
          <a:p>
            <a:r>
              <a:rPr lang="fr-FR" sz="3200">
                <a:solidFill>
                  <a:schemeClr val="tx1">
                    <a:lumMod val="95000"/>
                    <a:lumOff val="5000"/>
                  </a:schemeClr>
                </a:solidFill>
              </a:rPr>
              <a:t>Composé de 13 chiffres</a:t>
            </a:r>
          </a:p>
          <a:p>
            <a:r>
              <a:rPr lang="fr-FR" sz="3200">
                <a:solidFill>
                  <a:schemeClr val="tx1">
                    <a:lumMod val="95000"/>
                    <a:lumOff val="5000"/>
                  </a:schemeClr>
                </a:solidFill>
              </a:rPr>
              <a:t>Standard international largement utilisé en agroalimentaire</a:t>
            </a:r>
          </a:p>
          <a:p>
            <a:r>
              <a:rPr lang="fr-FR" sz="3200">
                <a:solidFill>
                  <a:schemeClr val="tx1">
                    <a:lumMod val="95000"/>
                    <a:lumOff val="5000"/>
                  </a:schemeClr>
                </a:solidFill>
              </a:rPr>
              <a:t>Lecture fiable et rapide par les scanners physiques</a:t>
            </a:r>
          </a:p>
          <a:p>
            <a:r>
              <a:rPr lang="fr-FR" sz="3200">
                <a:solidFill>
                  <a:schemeClr val="tx1">
                    <a:lumMod val="95000"/>
                    <a:lumOff val="5000"/>
                  </a:schemeClr>
                </a:solidFill>
              </a:rPr>
              <a:t>Permet une identification précise des produits emballés</a:t>
            </a:r>
          </a:p>
        </p:txBody>
      </p:sp>
      <p:sp>
        <p:nvSpPr>
          <p:cNvPr id="4" name="ZoneTexte 3">
            <a:extLst>
              <a:ext uri="{FF2B5EF4-FFF2-40B4-BE49-F238E27FC236}">
                <a16:creationId xmlns:a16="http://schemas.microsoft.com/office/drawing/2014/main" id="{72E83B9C-903F-2F15-D0AD-3A8E31CFFF73}"/>
              </a:ext>
            </a:extLst>
          </p:cNvPr>
          <p:cNvSpPr txBox="1"/>
          <p:nvPr/>
        </p:nvSpPr>
        <p:spPr>
          <a:xfrm>
            <a:off x="4337537" y="970025"/>
            <a:ext cx="4126523" cy="523220"/>
          </a:xfrm>
          <a:prstGeom prst="rect">
            <a:avLst/>
          </a:prstGeom>
          <a:noFill/>
        </p:spPr>
        <p:txBody>
          <a:bodyPr wrap="square" rtlCol="0">
            <a:spAutoFit/>
          </a:bodyPr>
          <a:lstStyle/>
          <a:p>
            <a:r>
              <a:rPr lang="fr-FR" sz="2800" b="1"/>
              <a:t>Format utilisé </a:t>
            </a:r>
            <a:r>
              <a:rPr lang="fr-FR" sz="2800"/>
              <a:t>: EAN-13</a:t>
            </a:r>
          </a:p>
        </p:txBody>
      </p:sp>
      <p:pic>
        <p:nvPicPr>
          <p:cNvPr id="8" name="Image 7" descr="Une image contenant typographie, conception&#10;&#10;Le contenu généré par l’IA peut être incorrect.">
            <a:extLst>
              <a:ext uri="{FF2B5EF4-FFF2-40B4-BE49-F238E27FC236}">
                <a16:creationId xmlns:a16="http://schemas.microsoft.com/office/drawing/2014/main" id="{13693BFB-8DDB-716A-8980-CC391D88C67C}"/>
              </a:ext>
            </a:extLst>
          </p:cNvPr>
          <p:cNvPicPr>
            <a:picLocks noChangeAspect="1"/>
          </p:cNvPicPr>
          <p:nvPr/>
        </p:nvPicPr>
        <p:blipFill>
          <a:blip r:embed="rId3"/>
          <a:stretch>
            <a:fillRect/>
          </a:stretch>
        </p:blipFill>
        <p:spPr>
          <a:xfrm>
            <a:off x="2860344" y="5352098"/>
            <a:ext cx="6631785" cy="3684325"/>
          </a:xfrm>
          <a:prstGeom prst="rect">
            <a:avLst/>
          </a:prstGeom>
        </p:spPr>
      </p:pic>
      <p:sp>
        <p:nvSpPr>
          <p:cNvPr id="9" name="ZoneTexte 8">
            <a:extLst>
              <a:ext uri="{FF2B5EF4-FFF2-40B4-BE49-F238E27FC236}">
                <a16:creationId xmlns:a16="http://schemas.microsoft.com/office/drawing/2014/main" id="{D4AC3948-F468-FFF0-FFD1-3696D046C912}"/>
              </a:ext>
            </a:extLst>
          </p:cNvPr>
          <p:cNvSpPr txBox="1"/>
          <p:nvPr/>
        </p:nvSpPr>
        <p:spPr>
          <a:xfrm>
            <a:off x="3550189" y="9036423"/>
            <a:ext cx="6759388" cy="523220"/>
          </a:xfrm>
          <a:prstGeom prst="rect">
            <a:avLst/>
          </a:prstGeom>
          <a:noFill/>
          <a:ln>
            <a:noFill/>
          </a:ln>
        </p:spPr>
        <p:txBody>
          <a:bodyPr wrap="square" rtlCol="0">
            <a:spAutoFit/>
          </a:bodyPr>
          <a:lstStyle/>
          <a:p>
            <a:r>
              <a:rPr lang="fr-FR" sz="2800" b="1">
                <a:solidFill>
                  <a:srgbClr val="002060"/>
                </a:solidFill>
              </a:rPr>
              <a:t>Exemple de </a:t>
            </a:r>
            <a:r>
              <a:rPr lang="fr-FR" sz="2800" b="1" i="1">
                <a:solidFill>
                  <a:srgbClr val="002060"/>
                </a:solidFill>
              </a:rPr>
              <a:t>code-barres</a:t>
            </a:r>
            <a:r>
              <a:rPr lang="fr-FR" sz="2800" b="1">
                <a:solidFill>
                  <a:srgbClr val="002060"/>
                </a:solidFill>
              </a:rPr>
              <a:t> EAN-13</a:t>
            </a:r>
          </a:p>
        </p:txBody>
      </p:sp>
      <p:sp>
        <p:nvSpPr>
          <p:cNvPr id="5" name="Espace réservé du numéro de diapositive 4">
            <a:extLst>
              <a:ext uri="{FF2B5EF4-FFF2-40B4-BE49-F238E27FC236}">
                <a16:creationId xmlns:a16="http://schemas.microsoft.com/office/drawing/2014/main" id="{39FB0FFB-EA99-0DF8-4105-3923644B7798}"/>
              </a:ext>
            </a:extLst>
          </p:cNvPr>
          <p:cNvSpPr>
            <a:spLocks noGrp="1"/>
          </p:cNvSpPr>
          <p:nvPr>
            <p:ph type="sldNum" sz="quarter" idx="12"/>
          </p:nvPr>
        </p:nvSpPr>
        <p:spPr>
          <a:xfrm>
            <a:off x="11944651" y="9036423"/>
            <a:ext cx="717693" cy="511175"/>
          </a:xfrm>
        </p:spPr>
        <p:txBody>
          <a:bodyPr/>
          <a:lstStyle/>
          <a:p>
            <a:fld id="{69E57DC2-970A-4B3E-BB1C-7A09969E49DF}" type="slidenum">
              <a:rPr lang="en-US" sz="2800" b="1" smtClean="0">
                <a:solidFill>
                  <a:schemeClr val="tx1">
                    <a:lumMod val="95000"/>
                    <a:lumOff val="5000"/>
                  </a:schemeClr>
                </a:solidFill>
              </a:rPr>
              <a:t>17</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1806732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F7D43B-42FE-4EA4-F38B-3F0050E42FC5}"/>
              </a:ext>
            </a:extLst>
          </p:cNvPr>
          <p:cNvSpPr>
            <a:spLocks noGrp="1"/>
          </p:cNvSpPr>
          <p:nvPr>
            <p:ph type="title"/>
          </p:nvPr>
        </p:nvSpPr>
        <p:spPr>
          <a:xfrm>
            <a:off x="2121570" y="0"/>
            <a:ext cx="9901647" cy="975360"/>
          </a:xfrm>
        </p:spPr>
        <p:txBody>
          <a:bodyPr>
            <a:normAutofit/>
          </a:bodyPr>
          <a:lstStyle/>
          <a:p>
            <a:pPr algn="ctr"/>
            <a:r>
              <a:rPr lang="fr-FR" sz="4400" b="1" u="sng"/>
              <a:t>Configuration du scanner :</a:t>
            </a:r>
            <a:r>
              <a:rPr lang="fr-FR" sz="4400" b="1"/>
              <a:t>  </a:t>
            </a:r>
            <a:r>
              <a:rPr lang="fr-FR" sz="3600" b="1">
                <a:solidFill>
                  <a:schemeClr val="tx1">
                    <a:lumMod val="95000"/>
                    <a:lumOff val="5000"/>
                  </a:schemeClr>
                </a:solidFill>
              </a:rPr>
              <a:t>Logicielle</a:t>
            </a:r>
          </a:p>
        </p:txBody>
      </p:sp>
      <p:sp>
        <p:nvSpPr>
          <p:cNvPr id="3" name="Espace réservé du contenu 2">
            <a:extLst>
              <a:ext uri="{FF2B5EF4-FFF2-40B4-BE49-F238E27FC236}">
                <a16:creationId xmlns:a16="http://schemas.microsoft.com/office/drawing/2014/main" id="{4B9DAF8C-2975-3C5B-E47F-36B8F697F4FC}"/>
              </a:ext>
            </a:extLst>
          </p:cNvPr>
          <p:cNvSpPr>
            <a:spLocks noGrp="1"/>
          </p:cNvSpPr>
          <p:nvPr>
            <p:ph idx="1"/>
          </p:nvPr>
        </p:nvSpPr>
        <p:spPr>
          <a:xfrm>
            <a:off x="996004" y="2927879"/>
            <a:ext cx="10809589" cy="6520921"/>
          </a:xfrm>
        </p:spPr>
        <p:txBody>
          <a:bodyPr>
            <a:noAutofit/>
          </a:bodyPr>
          <a:lstStyle/>
          <a:p>
            <a:r>
              <a:rPr lang="fr-FR" sz="3200">
                <a:solidFill>
                  <a:schemeClr val="tx1">
                    <a:lumMod val="95000"/>
                    <a:lumOff val="5000"/>
                  </a:schemeClr>
                </a:solidFill>
              </a:rPr>
              <a:t>Utilisation d’un petit programme gratuit : </a:t>
            </a:r>
            <a:r>
              <a:rPr lang="fr-FR" sz="3200" b="1">
                <a:solidFill>
                  <a:srgbClr val="FF0000"/>
                </a:solidFill>
              </a:rPr>
              <a:t>AutoHotKey</a:t>
            </a:r>
          </a:p>
          <a:p>
            <a:r>
              <a:rPr lang="fr-FR" sz="3200">
                <a:solidFill>
                  <a:schemeClr val="tx1">
                    <a:lumMod val="95000"/>
                    <a:lumOff val="5000"/>
                  </a:schemeClr>
                </a:solidFill>
              </a:rPr>
              <a:t>Script personnalisé pour automatiser le scan</a:t>
            </a:r>
          </a:p>
          <a:p>
            <a:r>
              <a:rPr lang="fr-FR" sz="3200">
                <a:solidFill>
                  <a:schemeClr val="tx1">
                    <a:lumMod val="95000"/>
                    <a:lumOff val="5000"/>
                  </a:schemeClr>
                </a:solidFill>
              </a:rPr>
              <a:t>Fonctionne comme un </a:t>
            </a:r>
            <a:r>
              <a:rPr lang="fr-FR" sz="3200" b="1">
                <a:solidFill>
                  <a:srgbClr val="FF0000"/>
                </a:solidFill>
              </a:rPr>
              <a:t>clavier</a:t>
            </a:r>
          </a:p>
          <a:p>
            <a:endParaRPr lang="fr-FR" sz="3200" b="1">
              <a:solidFill>
                <a:schemeClr val="tx1">
                  <a:lumMod val="95000"/>
                  <a:lumOff val="5000"/>
                </a:schemeClr>
              </a:solidFill>
            </a:endParaRPr>
          </a:p>
          <a:p>
            <a:r>
              <a:rPr lang="fr-FR" sz="3200">
                <a:solidFill>
                  <a:schemeClr val="tx1">
                    <a:lumMod val="95000"/>
                    <a:lumOff val="5000"/>
                  </a:schemeClr>
                </a:solidFill>
              </a:rPr>
              <a:t>Le script permet de :</a:t>
            </a:r>
          </a:p>
          <a:p>
            <a:pPr>
              <a:buFont typeface="Arial" panose="020B0604020202020204" pitchFamily="34" charset="0"/>
              <a:buChar char="•"/>
            </a:pPr>
            <a:r>
              <a:rPr lang="fr-FR" sz="3200">
                <a:solidFill>
                  <a:schemeClr val="tx1">
                    <a:lumMod val="95000"/>
                    <a:lumOff val="5000"/>
                  </a:schemeClr>
                </a:solidFill>
              </a:rPr>
              <a:t>Ouvrir le </a:t>
            </a:r>
            <a:r>
              <a:rPr lang="fr-FR" sz="3200" b="1">
                <a:solidFill>
                  <a:srgbClr val="FF0000"/>
                </a:solidFill>
              </a:rPr>
              <a:t>port</a:t>
            </a:r>
            <a:r>
              <a:rPr lang="fr-FR" sz="3200">
                <a:solidFill>
                  <a:schemeClr val="tx1">
                    <a:lumMod val="95000"/>
                    <a:lumOff val="5000"/>
                  </a:schemeClr>
                </a:solidFill>
              </a:rPr>
              <a:t> série (</a:t>
            </a:r>
            <a:r>
              <a:rPr lang="fr-FR" sz="3200" b="1">
                <a:solidFill>
                  <a:schemeClr val="tx1">
                    <a:lumMod val="95000"/>
                    <a:lumOff val="5000"/>
                  </a:schemeClr>
                </a:solidFill>
              </a:rPr>
              <a:t>COM6</a:t>
            </a:r>
            <a:r>
              <a:rPr lang="fr-FR" sz="3200">
                <a:solidFill>
                  <a:schemeClr val="tx1">
                    <a:lumMod val="95000"/>
                    <a:lumOff val="5000"/>
                  </a:schemeClr>
                </a:solidFill>
              </a:rPr>
              <a:t>)</a:t>
            </a:r>
          </a:p>
          <a:p>
            <a:pPr>
              <a:buFont typeface="Arial" panose="020B0604020202020204" pitchFamily="34" charset="0"/>
              <a:buChar char="•"/>
            </a:pPr>
            <a:r>
              <a:rPr lang="fr-FR" sz="3200">
                <a:solidFill>
                  <a:schemeClr val="tx1">
                    <a:lumMod val="95000"/>
                    <a:lumOff val="5000"/>
                  </a:schemeClr>
                </a:solidFill>
              </a:rPr>
              <a:t>Régler la vitesse à </a:t>
            </a:r>
            <a:r>
              <a:rPr lang="fr-FR" sz="3200" b="1">
                <a:solidFill>
                  <a:srgbClr val="FF0000"/>
                </a:solidFill>
              </a:rPr>
              <a:t>9600 bauds</a:t>
            </a:r>
            <a:endParaRPr lang="fr-FR" sz="3200">
              <a:solidFill>
                <a:srgbClr val="FF0000"/>
              </a:solidFill>
            </a:endParaRPr>
          </a:p>
          <a:p>
            <a:pPr>
              <a:buFont typeface="Arial" panose="020B0604020202020204" pitchFamily="34" charset="0"/>
              <a:buChar char="•"/>
            </a:pPr>
            <a:r>
              <a:rPr lang="fr-FR" sz="3200">
                <a:solidFill>
                  <a:schemeClr val="tx1">
                    <a:lumMod val="95000"/>
                    <a:lumOff val="5000"/>
                  </a:schemeClr>
                </a:solidFill>
              </a:rPr>
              <a:t>Lire et convertir les données du scanner</a:t>
            </a:r>
          </a:p>
          <a:p>
            <a:pPr>
              <a:buFont typeface="Arial" panose="020B0604020202020204" pitchFamily="34" charset="0"/>
              <a:buChar char="•"/>
            </a:pPr>
            <a:r>
              <a:rPr lang="fr-FR" sz="3200">
                <a:solidFill>
                  <a:schemeClr val="tx1">
                    <a:lumMod val="95000"/>
                    <a:lumOff val="5000"/>
                  </a:schemeClr>
                </a:solidFill>
              </a:rPr>
              <a:t>Envoyer automatiquement le code dans le champ de saisie</a:t>
            </a:r>
          </a:p>
          <a:p>
            <a:endParaRPr lang="fr-FR" sz="3200">
              <a:solidFill>
                <a:schemeClr val="tx1">
                  <a:lumMod val="95000"/>
                  <a:lumOff val="5000"/>
                </a:schemeClr>
              </a:solidFill>
            </a:endParaRPr>
          </a:p>
        </p:txBody>
      </p:sp>
      <p:sp>
        <p:nvSpPr>
          <p:cNvPr id="5" name="ZoneTexte 4">
            <a:extLst>
              <a:ext uri="{FF2B5EF4-FFF2-40B4-BE49-F238E27FC236}">
                <a16:creationId xmlns:a16="http://schemas.microsoft.com/office/drawing/2014/main" id="{46A8030D-F914-3F70-2DFC-8FFB96BB243A}"/>
              </a:ext>
            </a:extLst>
          </p:cNvPr>
          <p:cNvSpPr txBox="1"/>
          <p:nvPr/>
        </p:nvSpPr>
        <p:spPr>
          <a:xfrm>
            <a:off x="2597225" y="1035117"/>
            <a:ext cx="8126185" cy="584775"/>
          </a:xfrm>
          <a:prstGeom prst="rect">
            <a:avLst/>
          </a:prstGeom>
          <a:noFill/>
        </p:spPr>
        <p:txBody>
          <a:bodyPr wrap="square">
            <a:spAutoFit/>
          </a:bodyPr>
          <a:lstStyle/>
          <a:p>
            <a:r>
              <a:rPr lang="fr-FR" sz="3200"/>
              <a:t>Configuration logicielle avec </a:t>
            </a:r>
            <a:r>
              <a:rPr lang="fr-FR" sz="3200" b="1">
                <a:solidFill>
                  <a:srgbClr val="FF0000"/>
                </a:solidFill>
              </a:rPr>
              <a:t>AutoHotKey</a:t>
            </a:r>
          </a:p>
        </p:txBody>
      </p:sp>
      <p:pic>
        <p:nvPicPr>
          <p:cNvPr id="8" name="Image 7" descr="Une image contenant symbole, Police, Graphique, conception&#10;&#10;Le contenu généré par l’IA peut être incorrect.">
            <a:extLst>
              <a:ext uri="{FF2B5EF4-FFF2-40B4-BE49-F238E27FC236}">
                <a16:creationId xmlns:a16="http://schemas.microsoft.com/office/drawing/2014/main" id="{A9941DDC-2015-3A85-5339-8D13771D2E98}"/>
              </a:ext>
            </a:extLst>
          </p:cNvPr>
          <p:cNvPicPr>
            <a:picLocks noChangeAspect="1"/>
          </p:cNvPicPr>
          <p:nvPr/>
        </p:nvPicPr>
        <p:blipFill>
          <a:blip r:embed="rId3"/>
          <a:stretch>
            <a:fillRect/>
          </a:stretch>
        </p:blipFill>
        <p:spPr>
          <a:xfrm>
            <a:off x="5781838" y="1572616"/>
            <a:ext cx="1237923" cy="1237923"/>
          </a:xfrm>
          <a:prstGeom prst="rect">
            <a:avLst/>
          </a:prstGeom>
        </p:spPr>
      </p:pic>
      <p:sp>
        <p:nvSpPr>
          <p:cNvPr id="4" name="Espace réservé du numéro de diapositive 3">
            <a:extLst>
              <a:ext uri="{FF2B5EF4-FFF2-40B4-BE49-F238E27FC236}">
                <a16:creationId xmlns:a16="http://schemas.microsoft.com/office/drawing/2014/main" id="{50EB7A51-6582-C69D-17EF-1F8F61A60D10}"/>
              </a:ext>
            </a:extLst>
          </p:cNvPr>
          <p:cNvSpPr>
            <a:spLocks noGrp="1"/>
          </p:cNvSpPr>
          <p:nvPr>
            <p:ph type="sldNum" sz="quarter" idx="12"/>
          </p:nvPr>
        </p:nvSpPr>
        <p:spPr>
          <a:xfrm>
            <a:off x="12023217" y="9090025"/>
            <a:ext cx="717693" cy="511175"/>
          </a:xfrm>
        </p:spPr>
        <p:txBody>
          <a:bodyPr/>
          <a:lstStyle/>
          <a:p>
            <a:fld id="{69E57DC2-970A-4B3E-BB1C-7A09969E49DF}" type="slidenum">
              <a:rPr lang="en-US" sz="2800" b="1" smtClean="0">
                <a:solidFill>
                  <a:schemeClr val="tx1">
                    <a:lumMod val="95000"/>
                    <a:lumOff val="5000"/>
                  </a:schemeClr>
                </a:solidFill>
              </a:rPr>
              <a:t>18</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4168732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DA46DB72-1E1F-51A0-04E6-B8ADB15D8D10}"/>
              </a:ext>
            </a:extLst>
          </p:cNvPr>
          <p:cNvSpPr>
            <a:spLocks noGrp="1"/>
          </p:cNvSpPr>
          <p:nvPr>
            <p:ph type="title"/>
          </p:nvPr>
        </p:nvSpPr>
        <p:spPr>
          <a:xfrm>
            <a:off x="1449976" y="167930"/>
            <a:ext cx="9901647" cy="1276821"/>
          </a:xfrm>
        </p:spPr>
        <p:txBody>
          <a:bodyPr>
            <a:noAutofit/>
          </a:bodyPr>
          <a:lstStyle/>
          <a:p>
            <a:pPr algn="ctr"/>
            <a:r>
              <a:rPr lang="fr-FR" sz="4000" b="1" u="sng"/>
              <a:t>Configuration du scanner :</a:t>
            </a:r>
            <a:r>
              <a:rPr lang="fr-FR" sz="4000" b="1"/>
              <a:t>  </a:t>
            </a:r>
            <a:br>
              <a:rPr lang="fr-FR" sz="4000" b="1"/>
            </a:br>
            <a:r>
              <a:rPr lang="fr-FR" sz="4000" b="1">
                <a:solidFill>
                  <a:schemeClr val="tx1">
                    <a:lumMod val="95000"/>
                    <a:lumOff val="5000"/>
                  </a:schemeClr>
                </a:solidFill>
              </a:rPr>
              <a:t>Physique</a:t>
            </a:r>
          </a:p>
        </p:txBody>
      </p:sp>
      <p:sp>
        <p:nvSpPr>
          <p:cNvPr id="7" name="Rectangle 6">
            <a:extLst>
              <a:ext uri="{FF2B5EF4-FFF2-40B4-BE49-F238E27FC236}">
                <a16:creationId xmlns:a16="http://schemas.microsoft.com/office/drawing/2014/main" id="{B42341BF-FF92-B9A3-9D42-7A912E810B1A}"/>
              </a:ext>
            </a:extLst>
          </p:cNvPr>
          <p:cNvSpPr/>
          <p:nvPr/>
        </p:nvSpPr>
        <p:spPr>
          <a:xfrm rot="20943561">
            <a:off x="-1382764" y="5490964"/>
            <a:ext cx="1850571" cy="483325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4A6039E6-ECE1-8353-C067-1956745B5F86}"/>
              </a:ext>
            </a:extLst>
          </p:cNvPr>
          <p:cNvSpPr>
            <a:spLocks noGrp="1"/>
          </p:cNvSpPr>
          <p:nvPr>
            <p:ph idx="1"/>
          </p:nvPr>
        </p:nvSpPr>
        <p:spPr>
          <a:xfrm>
            <a:off x="0" y="1693606"/>
            <a:ext cx="10123714" cy="7907593"/>
          </a:xfrm>
        </p:spPr>
        <p:txBody>
          <a:bodyPr>
            <a:normAutofit/>
          </a:bodyPr>
          <a:lstStyle/>
          <a:p>
            <a:pPr marL="0" indent="0">
              <a:buNone/>
            </a:pPr>
            <a:r>
              <a:rPr lang="fr-FR" sz="2800" b="1">
                <a:solidFill>
                  <a:schemeClr val="tx1">
                    <a:lumMod val="95000"/>
                    <a:lumOff val="5000"/>
                  </a:schemeClr>
                </a:solidFill>
              </a:rPr>
              <a:t>     Paramétrage via codes-barres : </a:t>
            </a:r>
          </a:p>
          <a:p>
            <a:r>
              <a:rPr lang="fr-FR" sz="2800" b="1">
                <a:solidFill>
                  <a:schemeClr val="tx1">
                    <a:lumMod val="95000"/>
                    <a:lumOff val="5000"/>
                  </a:schemeClr>
                </a:solidFill>
              </a:rPr>
              <a:t>Scanner le code-barres </a:t>
            </a:r>
            <a:r>
              <a:rPr lang="fr-FR" sz="2800" b="1">
                <a:solidFill>
                  <a:srgbClr val="C00000"/>
                </a:solidFill>
              </a:rPr>
              <a:t>Configuration par défaut</a:t>
            </a:r>
          </a:p>
          <a:p>
            <a:pPr marL="0" indent="0">
              <a:buNone/>
            </a:pPr>
            <a:r>
              <a:rPr lang="fr-FR" sz="2800">
                <a:solidFill>
                  <a:schemeClr val="tx1">
                    <a:lumMod val="95000"/>
                    <a:lumOff val="5000"/>
                  </a:schemeClr>
                </a:solidFill>
              </a:rPr>
              <a:t>→ Réinitialise le scanner avec des réglages standards </a:t>
            </a:r>
          </a:p>
          <a:p>
            <a:pPr marL="0" indent="0">
              <a:buNone/>
            </a:pPr>
            <a:r>
              <a:rPr lang="fr-FR" sz="2800">
                <a:solidFill>
                  <a:schemeClr val="tx1">
                    <a:lumMod val="95000"/>
                    <a:lumOff val="5000"/>
                  </a:schemeClr>
                </a:solidFill>
              </a:rPr>
              <a:t>→ Évite les erreurs ou conflits</a:t>
            </a:r>
          </a:p>
          <a:p>
            <a:pPr marL="0" indent="0">
              <a:buNone/>
            </a:pPr>
            <a:endParaRPr lang="fr-FR" sz="2800">
              <a:solidFill>
                <a:schemeClr val="tx1">
                  <a:lumMod val="95000"/>
                  <a:lumOff val="5000"/>
                </a:schemeClr>
              </a:solidFill>
            </a:endParaRPr>
          </a:p>
          <a:p>
            <a:pPr marL="0" indent="0">
              <a:buNone/>
            </a:pPr>
            <a:endParaRPr lang="fr-FR" sz="2800">
              <a:solidFill>
                <a:schemeClr val="tx1">
                  <a:lumMod val="95000"/>
                  <a:lumOff val="5000"/>
                </a:schemeClr>
              </a:solidFill>
            </a:endParaRPr>
          </a:p>
          <a:p>
            <a:r>
              <a:rPr lang="fr-FR" sz="2800" b="1">
                <a:solidFill>
                  <a:schemeClr val="tx1">
                    <a:lumMod val="95000"/>
                    <a:lumOff val="5000"/>
                  </a:schemeClr>
                </a:solidFill>
              </a:rPr>
              <a:t>Scanner le code-barres </a:t>
            </a:r>
            <a:r>
              <a:rPr lang="fr-FR" sz="2800" b="1">
                <a:solidFill>
                  <a:srgbClr val="C00000"/>
                </a:solidFill>
              </a:rPr>
              <a:t>RS232 Standard</a:t>
            </a:r>
          </a:p>
          <a:p>
            <a:pPr marL="0" indent="0">
              <a:buNone/>
            </a:pPr>
            <a:r>
              <a:rPr lang="fr-FR" sz="2800">
                <a:solidFill>
                  <a:schemeClr val="tx1">
                    <a:lumMod val="95000"/>
                    <a:lumOff val="5000"/>
                  </a:schemeClr>
                </a:solidFill>
              </a:rPr>
              <a:t>→ Active le mode de communication série </a:t>
            </a:r>
          </a:p>
          <a:p>
            <a:pPr marL="0" indent="0">
              <a:buNone/>
            </a:pPr>
            <a:r>
              <a:rPr lang="fr-FR" sz="2800">
                <a:solidFill>
                  <a:schemeClr val="tx1">
                    <a:lumMod val="95000"/>
                    <a:lumOff val="5000"/>
                  </a:schemeClr>
                </a:solidFill>
              </a:rPr>
              <a:t>→ Permet au scanner de communiquer avec </a:t>
            </a:r>
          </a:p>
          <a:p>
            <a:pPr marL="0" indent="0">
              <a:buNone/>
            </a:pPr>
            <a:r>
              <a:rPr lang="fr-FR" sz="2800">
                <a:solidFill>
                  <a:schemeClr val="tx1">
                    <a:lumMod val="95000"/>
                    <a:lumOff val="5000"/>
                  </a:schemeClr>
                </a:solidFill>
              </a:rPr>
              <a:t>    le script AutoHotKey via le port COM</a:t>
            </a:r>
          </a:p>
        </p:txBody>
      </p:sp>
      <p:pic>
        <p:nvPicPr>
          <p:cNvPr id="5" name="Espace réservé du contenu 8" descr="Outils avec un remplissage uni">
            <a:extLst>
              <a:ext uri="{FF2B5EF4-FFF2-40B4-BE49-F238E27FC236}">
                <a16:creationId xmlns:a16="http://schemas.microsoft.com/office/drawing/2014/main" id="{645B91FE-0307-FEBB-AE72-69C90A3589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693607"/>
            <a:ext cx="523916" cy="523916"/>
          </a:xfrm>
          <a:prstGeom prst="rect">
            <a:avLst/>
          </a:prstGeom>
        </p:spPr>
      </p:pic>
      <p:pic>
        <p:nvPicPr>
          <p:cNvPr id="6" name="Image 5">
            <a:extLst>
              <a:ext uri="{FF2B5EF4-FFF2-40B4-BE49-F238E27FC236}">
                <a16:creationId xmlns:a16="http://schemas.microsoft.com/office/drawing/2014/main" id="{C18D8A9E-8609-4CF1-3D6C-06970F4AD30D}"/>
              </a:ext>
            </a:extLst>
          </p:cNvPr>
          <p:cNvPicPr>
            <a:picLocks noChangeAspect="1"/>
          </p:cNvPicPr>
          <p:nvPr/>
        </p:nvPicPr>
        <p:blipFill>
          <a:blip r:embed="rId5"/>
          <a:stretch>
            <a:fillRect/>
          </a:stretch>
        </p:blipFill>
        <p:spPr>
          <a:xfrm>
            <a:off x="9061953" y="2227077"/>
            <a:ext cx="3608665" cy="1276821"/>
          </a:xfrm>
          <a:prstGeom prst="rect">
            <a:avLst/>
          </a:prstGeom>
          <a:ln w="76200">
            <a:solidFill>
              <a:schemeClr val="tx1"/>
            </a:solidFill>
          </a:ln>
        </p:spPr>
      </p:pic>
      <p:pic>
        <p:nvPicPr>
          <p:cNvPr id="8" name="Image 7">
            <a:extLst>
              <a:ext uri="{FF2B5EF4-FFF2-40B4-BE49-F238E27FC236}">
                <a16:creationId xmlns:a16="http://schemas.microsoft.com/office/drawing/2014/main" id="{D63ADA86-C773-E886-4701-8520F6008EF1}"/>
              </a:ext>
            </a:extLst>
          </p:cNvPr>
          <p:cNvPicPr>
            <a:picLocks noChangeAspect="1"/>
          </p:cNvPicPr>
          <p:nvPr/>
        </p:nvPicPr>
        <p:blipFill rotWithShape="1">
          <a:blip r:embed="rId6">
            <a:extLst>
              <a:ext uri="{28A0092B-C50C-407E-A947-70E740481C1C}">
                <a14:useLocalDpi xmlns:a14="http://schemas.microsoft.com/office/drawing/2010/main" val="0"/>
              </a:ext>
            </a:extLst>
          </a:blip>
          <a:srcRect t="5671" r="4930"/>
          <a:stretch/>
        </p:blipFill>
        <p:spPr bwMode="auto">
          <a:xfrm>
            <a:off x="9017368" y="5566879"/>
            <a:ext cx="3653250" cy="985669"/>
          </a:xfrm>
          <a:prstGeom prst="rect">
            <a:avLst/>
          </a:prstGeom>
          <a:ln w="76200">
            <a:solidFill>
              <a:schemeClr val="tx1">
                <a:lumMod val="95000"/>
                <a:lumOff val="5000"/>
              </a:schemeClr>
            </a:solidFill>
          </a:ln>
          <a:extLst>
            <a:ext uri="{53640926-AAD7-44D8-BBD7-CCE9431645EC}">
              <a14:shadowObscured xmlns:a14="http://schemas.microsoft.com/office/drawing/2010/main"/>
            </a:ext>
          </a:extLst>
        </p:spPr>
      </p:pic>
      <p:sp>
        <p:nvSpPr>
          <p:cNvPr id="2" name="Espace réservé du numéro de diapositive 1">
            <a:extLst>
              <a:ext uri="{FF2B5EF4-FFF2-40B4-BE49-F238E27FC236}">
                <a16:creationId xmlns:a16="http://schemas.microsoft.com/office/drawing/2014/main" id="{8E2AA03D-BAED-1B92-FB3D-A96FB5D8B900}"/>
              </a:ext>
            </a:extLst>
          </p:cNvPr>
          <p:cNvSpPr>
            <a:spLocks noGrp="1"/>
          </p:cNvSpPr>
          <p:nvPr>
            <p:ph type="sldNum" sz="quarter" idx="12"/>
          </p:nvPr>
        </p:nvSpPr>
        <p:spPr>
          <a:xfrm>
            <a:off x="11948318" y="9090024"/>
            <a:ext cx="717693" cy="511175"/>
          </a:xfrm>
        </p:spPr>
        <p:txBody>
          <a:bodyPr/>
          <a:lstStyle/>
          <a:p>
            <a:fld id="{69E57DC2-970A-4B3E-BB1C-7A09969E49DF}" type="slidenum">
              <a:rPr lang="en-US" sz="2800" b="1" smtClean="0">
                <a:solidFill>
                  <a:schemeClr val="tx1">
                    <a:lumMod val="95000"/>
                    <a:lumOff val="5000"/>
                  </a:schemeClr>
                </a:solidFill>
              </a:rPr>
              <a:t>19</a:t>
            </a:fld>
            <a:endParaRPr lang="en-US" b="1">
              <a:solidFill>
                <a:schemeClr val="tx1">
                  <a:lumMod val="95000"/>
                  <a:lumOff val="5000"/>
                </a:schemeClr>
              </a:solidFill>
            </a:endParaRPr>
          </a:p>
        </p:txBody>
      </p:sp>
    </p:spTree>
    <p:extLst>
      <p:ext uri="{BB962C8B-B14F-4D97-AF65-F5344CB8AC3E}">
        <p14:creationId xmlns:p14="http://schemas.microsoft.com/office/powerpoint/2010/main" val="1135509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1FF0E1-E632-5D46-6765-1A4EC27589AD}"/>
              </a:ext>
            </a:extLst>
          </p:cNvPr>
          <p:cNvSpPr>
            <a:spLocks noGrp="1"/>
          </p:cNvSpPr>
          <p:nvPr>
            <p:ph type="title"/>
          </p:nvPr>
        </p:nvSpPr>
        <p:spPr>
          <a:xfrm>
            <a:off x="1805000" y="212660"/>
            <a:ext cx="9191599" cy="1432560"/>
          </a:xfrm>
        </p:spPr>
        <p:txBody>
          <a:bodyPr>
            <a:normAutofit fontScale="90000"/>
          </a:bodyPr>
          <a:lstStyle/>
          <a:p>
            <a:pPr algn="ctr"/>
            <a:r>
              <a:rPr lang="fr-FR" sz="4800" b="1" u="sng"/>
              <a:t>Fonctionnement côté interface web</a:t>
            </a:r>
          </a:p>
        </p:txBody>
      </p:sp>
      <p:sp>
        <p:nvSpPr>
          <p:cNvPr id="3" name="Espace réservé du contenu 2">
            <a:extLst>
              <a:ext uri="{FF2B5EF4-FFF2-40B4-BE49-F238E27FC236}">
                <a16:creationId xmlns:a16="http://schemas.microsoft.com/office/drawing/2014/main" id="{2B3ACB27-BDDC-DD86-7FFC-F9A50EE257D8}"/>
              </a:ext>
            </a:extLst>
          </p:cNvPr>
          <p:cNvSpPr>
            <a:spLocks noGrp="1"/>
          </p:cNvSpPr>
          <p:nvPr>
            <p:ph idx="1"/>
          </p:nvPr>
        </p:nvSpPr>
        <p:spPr>
          <a:xfrm>
            <a:off x="1051408" y="1958027"/>
            <a:ext cx="10695115" cy="4537980"/>
          </a:xfrm>
        </p:spPr>
        <p:txBody>
          <a:bodyPr>
            <a:noAutofit/>
          </a:bodyPr>
          <a:lstStyle/>
          <a:p>
            <a:r>
              <a:rPr lang="fr-FR" sz="3600" b="1">
                <a:solidFill>
                  <a:schemeClr val="tx1">
                    <a:lumMod val="95000"/>
                    <a:lumOff val="5000"/>
                  </a:schemeClr>
                </a:solidFill>
              </a:rPr>
              <a:t>Détection automatique du scan</a:t>
            </a:r>
          </a:p>
          <a:p>
            <a:pPr>
              <a:buFont typeface="Arial" panose="020B0604020202020204" pitchFamily="34" charset="0"/>
              <a:buChar char="•"/>
            </a:pPr>
            <a:r>
              <a:rPr lang="fr-FR" sz="3600">
                <a:solidFill>
                  <a:schemeClr val="tx1">
                    <a:lumMod val="95000"/>
                    <a:lumOff val="5000"/>
                  </a:schemeClr>
                </a:solidFill>
              </a:rPr>
              <a:t>Script </a:t>
            </a:r>
            <a:r>
              <a:rPr lang="fr-FR" sz="3600" b="1">
                <a:solidFill>
                  <a:srgbClr val="FF0000"/>
                </a:solidFill>
              </a:rPr>
              <a:t>JavaScript</a:t>
            </a:r>
            <a:r>
              <a:rPr lang="fr-FR" sz="3600">
                <a:solidFill>
                  <a:schemeClr val="tx1">
                    <a:lumMod val="95000"/>
                    <a:lumOff val="5000"/>
                  </a:schemeClr>
                </a:solidFill>
              </a:rPr>
              <a:t> intégré dans la </a:t>
            </a:r>
            <a:r>
              <a:rPr lang="fr-FR" sz="3600" b="1">
                <a:solidFill>
                  <a:srgbClr val="FF0000"/>
                </a:solidFill>
              </a:rPr>
              <a:t>page HTML</a:t>
            </a:r>
          </a:p>
          <a:p>
            <a:pPr>
              <a:buFont typeface="Arial" panose="020B0604020202020204" pitchFamily="34" charset="0"/>
              <a:buChar char="•"/>
            </a:pPr>
            <a:r>
              <a:rPr lang="fr-FR" sz="3600">
                <a:solidFill>
                  <a:schemeClr val="tx1">
                    <a:lumMod val="95000"/>
                    <a:lumOff val="5000"/>
                  </a:schemeClr>
                </a:solidFill>
              </a:rPr>
              <a:t>Si delta &lt; </a:t>
            </a:r>
            <a:r>
              <a:rPr lang="fr-FR" sz="3600" b="1">
                <a:solidFill>
                  <a:srgbClr val="FF0000"/>
                </a:solidFill>
              </a:rPr>
              <a:t>50 ms </a:t>
            </a:r>
            <a:r>
              <a:rPr lang="fr-FR" sz="3600">
                <a:solidFill>
                  <a:schemeClr val="tx1">
                    <a:lumMod val="95000"/>
                    <a:lumOff val="5000"/>
                  </a:schemeClr>
                </a:solidFill>
              </a:rPr>
              <a:t>→ scan détecté → formulaire envoyé </a:t>
            </a:r>
            <a:r>
              <a:rPr lang="fr-FR" sz="3600" b="1">
                <a:solidFill>
                  <a:srgbClr val="FF0000"/>
                </a:solidFill>
              </a:rPr>
              <a:t>automatiquement</a:t>
            </a:r>
          </a:p>
          <a:p>
            <a:pPr>
              <a:buFont typeface="Arial" panose="020B0604020202020204" pitchFamily="34" charset="0"/>
              <a:buChar char="•"/>
            </a:pPr>
            <a:r>
              <a:rPr lang="fr-FR" sz="3600">
                <a:solidFill>
                  <a:schemeClr val="tx1">
                    <a:lumMod val="95000"/>
                    <a:lumOff val="5000"/>
                  </a:schemeClr>
                </a:solidFill>
              </a:rPr>
              <a:t>Sinon → saisie manuelle → validation par </a:t>
            </a:r>
            <a:r>
              <a:rPr lang="fr-FR" sz="3600" b="1">
                <a:solidFill>
                  <a:srgbClr val="FF0000"/>
                </a:solidFill>
              </a:rPr>
              <a:t>Entrée</a:t>
            </a:r>
          </a:p>
          <a:p>
            <a:pPr>
              <a:buFont typeface="Arial" panose="020B0604020202020204" pitchFamily="34" charset="0"/>
              <a:buChar char="•"/>
            </a:pPr>
            <a:r>
              <a:rPr lang="fr-FR" sz="3600">
                <a:solidFill>
                  <a:schemeClr val="tx1">
                    <a:lumMod val="95000"/>
                    <a:lumOff val="5000"/>
                  </a:schemeClr>
                </a:solidFill>
              </a:rPr>
              <a:t>Vérification du format : </a:t>
            </a:r>
            <a:r>
              <a:rPr lang="fr-FR" sz="3600" b="1">
                <a:solidFill>
                  <a:srgbClr val="FF0000"/>
                </a:solidFill>
              </a:rPr>
              <a:t>13 chiffres </a:t>
            </a:r>
            <a:r>
              <a:rPr lang="fr-FR" sz="3600" b="1">
                <a:solidFill>
                  <a:schemeClr val="tx1">
                    <a:lumMod val="95000"/>
                    <a:lumOff val="5000"/>
                  </a:schemeClr>
                </a:solidFill>
              </a:rPr>
              <a:t>obligatoires</a:t>
            </a:r>
            <a:endParaRPr lang="fr-FR" sz="3600">
              <a:solidFill>
                <a:schemeClr val="tx1">
                  <a:lumMod val="95000"/>
                  <a:lumOff val="5000"/>
                </a:schemeClr>
              </a:solidFill>
            </a:endParaRPr>
          </a:p>
          <a:p>
            <a:endParaRPr lang="fr-FR" sz="3600"/>
          </a:p>
        </p:txBody>
      </p:sp>
      <p:pic>
        <p:nvPicPr>
          <p:cNvPr id="4" name="Image 3">
            <a:extLst>
              <a:ext uri="{FF2B5EF4-FFF2-40B4-BE49-F238E27FC236}">
                <a16:creationId xmlns:a16="http://schemas.microsoft.com/office/drawing/2014/main" id="{CECC483D-EF56-0F38-C8A9-8CD05FF471E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0" y="212660"/>
            <a:ext cx="2540766" cy="1432560"/>
          </a:xfrm>
          <a:prstGeom prst="rect">
            <a:avLst/>
          </a:prstGeom>
        </p:spPr>
      </p:pic>
      <p:sp>
        <p:nvSpPr>
          <p:cNvPr id="6" name="ZoneTexte 5">
            <a:extLst>
              <a:ext uri="{FF2B5EF4-FFF2-40B4-BE49-F238E27FC236}">
                <a16:creationId xmlns:a16="http://schemas.microsoft.com/office/drawing/2014/main" id="{8DBA7AE9-36AC-BF2B-E819-3F488E6FAE29}"/>
              </a:ext>
            </a:extLst>
          </p:cNvPr>
          <p:cNvSpPr txBox="1"/>
          <p:nvPr/>
        </p:nvSpPr>
        <p:spPr>
          <a:xfrm>
            <a:off x="1482948" y="7581920"/>
            <a:ext cx="9835704" cy="1508105"/>
          </a:xfrm>
          <a:prstGeom prst="rect">
            <a:avLst/>
          </a:prstGeom>
          <a:solidFill>
            <a:schemeClr val="tx1"/>
          </a:solidFill>
        </p:spPr>
        <p:txBody>
          <a:bodyPr wrap="square">
            <a:spAutoFit/>
          </a:bodyPr>
          <a:lstStyle/>
          <a:p>
            <a:r>
              <a:rPr lang="fr-FR" sz="2800" b="0">
                <a:solidFill>
                  <a:srgbClr val="C586C0"/>
                </a:solidFill>
                <a:effectLst/>
                <a:latin typeface="Consolas" panose="020B0609020204030204" pitchFamily="49" charset="0"/>
              </a:rPr>
              <a:t>if</a:t>
            </a:r>
            <a:r>
              <a:rPr lang="fr-FR" sz="2800" b="0">
                <a:solidFill>
                  <a:srgbClr val="FFFFFF"/>
                </a:solidFill>
                <a:effectLst/>
                <a:latin typeface="Consolas" panose="020B0609020204030204" pitchFamily="49" charset="0"/>
              </a:rPr>
              <a:t> (</a:t>
            </a:r>
            <a:r>
              <a:rPr lang="fr-FR" sz="2800" b="0">
                <a:solidFill>
                  <a:srgbClr val="9CDCFE"/>
                </a:solidFill>
                <a:effectLst/>
                <a:latin typeface="Consolas" panose="020B0609020204030204" pitchFamily="49" charset="0"/>
              </a:rPr>
              <a:t>delta</a:t>
            </a:r>
            <a:r>
              <a:rPr lang="fr-FR" sz="2800" b="0">
                <a:solidFill>
                  <a:srgbClr val="FFFFFF"/>
                </a:solidFill>
                <a:effectLst/>
                <a:latin typeface="Consolas" panose="020B0609020204030204" pitchFamily="49" charset="0"/>
              </a:rPr>
              <a:t> </a:t>
            </a:r>
            <a:r>
              <a:rPr lang="fr-FR" sz="2800" b="0">
                <a:solidFill>
                  <a:srgbClr val="D4D4D4"/>
                </a:solidFill>
                <a:effectLst/>
                <a:latin typeface="Consolas" panose="020B0609020204030204" pitchFamily="49" charset="0"/>
              </a:rPr>
              <a:t>&lt;</a:t>
            </a:r>
            <a:r>
              <a:rPr lang="fr-FR" sz="2800" b="0">
                <a:solidFill>
                  <a:srgbClr val="FFFFFF"/>
                </a:solidFill>
                <a:effectLst/>
                <a:latin typeface="Consolas" panose="020B0609020204030204" pitchFamily="49" charset="0"/>
              </a:rPr>
              <a:t> </a:t>
            </a:r>
            <a:r>
              <a:rPr lang="fr-FR" sz="3600" b="1">
                <a:solidFill>
                  <a:srgbClr val="1AFA35"/>
                </a:solidFill>
                <a:effectLst/>
                <a:latin typeface="Consolas" panose="020B0609020204030204" pitchFamily="49" charset="0"/>
              </a:rPr>
              <a:t>50</a:t>
            </a:r>
            <a:r>
              <a:rPr lang="fr-FR" sz="2800" b="0">
                <a:solidFill>
                  <a:srgbClr val="FFFFFF"/>
                </a:solidFill>
                <a:effectLst/>
                <a:latin typeface="Consolas" panose="020B0609020204030204" pitchFamily="49" charset="0"/>
              </a:rPr>
              <a:t> </a:t>
            </a:r>
            <a:r>
              <a:rPr lang="fr-FR" sz="2800" b="0">
                <a:solidFill>
                  <a:srgbClr val="D4D4D4"/>
                </a:solidFill>
                <a:effectLst/>
                <a:latin typeface="Consolas" panose="020B0609020204030204" pitchFamily="49" charset="0"/>
              </a:rPr>
              <a:t>&amp;&amp;</a:t>
            </a:r>
            <a:r>
              <a:rPr lang="fr-FR" sz="2800" b="0">
                <a:solidFill>
                  <a:srgbClr val="FFFFFF"/>
                </a:solidFill>
                <a:effectLst/>
                <a:latin typeface="Consolas" panose="020B0609020204030204" pitchFamily="49" charset="0"/>
              </a:rPr>
              <a:t> </a:t>
            </a:r>
            <a:r>
              <a:rPr lang="fr-FR" sz="2800" b="0">
                <a:solidFill>
                  <a:srgbClr val="9CDCFE"/>
                </a:solidFill>
                <a:effectLst/>
                <a:latin typeface="Consolas" panose="020B0609020204030204" pitchFamily="49" charset="0"/>
              </a:rPr>
              <a:t>input</a:t>
            </a:r>
            <a:r>
              <a:rPr lang="fr-FR" sz="2800" b="0">
                <a:solidFill>
                  <a:srgbClr val="FFFFFF"/>
                </a:solidFill>
                <a:effectLst/>
                <a:latin typeface="Consolas" panose="020B0609020204030204" pitchFamily="49" charset="0"/>
              </a:rPr>
              <a:t>.</a:t>
            </a:r>
            <a:r>
              <a:rPr lang="fr-FR" sz="2800" b="0">
                <a:solidFill>
                  <a:srgbClr val="9CDCFE"/>
                </a:solidFill>
                <a:effectLst/>
                <a:latin typeface="Consolas" panose="020B0609020204030204" pitchFamily="49" charset="0"/>
              </a:rPr>
              <a:t>value</a:t>
            </a:r>
            <a:r>
              <a:rPr lang="fr-FR" sz="2800" b="0">
                <a:solidFill>
                  <a:srgbClr val="FFFFFF"/>
                </a:solidFill>
                <a:effectLst/>
                <a:latin typeface="Consolas" panose="020B0609020204030204" pitchFamily="49" charset="0"/>
              </a:rPr>
              <a:t>.</a:t>
            </a:r>
            <a:r>
              <a:rPr lang="fr-FR" sz="2800" b="0">
                <a:solidFill>
                  <a:srgbClr val="9CDCFE"/>
                </a:solidFill>
                <a:effectLst/>
                <a:latin typeface="Consolas" panose="020B0609020204030204" pitchFamily="49" charset="0"/>
              </a:rPr>
              <a:t>length</a:t>
            </a:r>
            <a:r>
              <a:rPr lang="fr-FR" sz="2800" b="0">
                <a:solidFill>
                  <a:srgbClr val="FFFFFF"/>
                </a:solidFill>
                <a:effectLst/>
                <a:latin typeface="Consolas" panose="020B0609020204030204" pitchFamily="49" charset="0"/>
              </a:rPr>
              <a:t> </a:t>
            </a:r>
            <a:r>
              <a:rPr lang="fr-FR" sz="2800" b="0">
                <a:solidFill>
                  <a:srgbClr val="D4D4D4"/>
                </a:solidFill>
                <a:effectLst/>
                <a:latin typeface="Consolas" panose="020B0609020204030204" pitchFamily="49" charset="0"/>
              </a:rPr>
              <a:t>==</a:t>
            </a:r>
            <a:r>
              <a:rPr lang="fr-FR" sz="2800" b="0">
                <a:solidFill>
                  <a:srgbClr val="FFFFFF"/>
                </a:solidFill>
                <a:effectLst/>
                <a:latin typeface="Consolas" panose="020B0609020204030204" pitchFamily="49" charset="0"/>
              </a:rPr>
              <a:t> </a:t>
            </a:r>
            <a:r>
              <a:rPr lang="fr-FR" sz="3600" b="1">
                <a:solidFill>
                  <a:srgbClr val="1AFA35"/>
                </a:solidFill>
                <a:effectLst/>
                <a:latin typeface="Consolas" panose="020B0609020204030204" pitchFamily="49" charset="0"/>
              </a:rPr>
              <a:t>13</a:t>
            </a:r>
            <a:r>
              <a:rPr lang="fr-FR" sz="2800" b="0">
                <a:solidFill>
                  <a:srgbClr val="FFFFFF"/>
                </a:solidFill>
                <a:effectLst/>
                <a:latin typeface="Consolas" panose="020B0609020204030204" pitchFamily="49" charset="0"/>
              </a:rPr>
              <a:t>) {</a:t>
            </a:r>
          </a:p>
          <a:p>
            <a:r>
              <a:rPr lang="fr-FR" sz="2800" b="0">
                <a:solidFill>
                  <a:srgbClr val="FFFFFF"/>
                </a:solidFill>
                <a:effectLst/>
                <a:latin typeface="Consolas" panose="020B0609020204030204" pitchFamily="49" charset="0"/>
              </a:rPr>
              <a:t>        </a:t>
            </a:r>
            <a:r>
              <a:rPr lang="fr-FR" sz="2800" b="0">
                <a:solidFill>
                  <a:srgbClr val="9CDCFE"/>
                </a:solidFill>
                <a:effectLst/>
                <a:latin typeface="Consolas" panose="020B0609020204030204" pitchFamily="49" charset="0"/>
              </a:rPr>
              <a:t>scanForm</a:t>
            </a:r>
            <a:r>
              <a:rPr lang="fr-FR" sz="2800" b="0">
                <a:solidFill>
                  <a:srgbClr val="FFFFFF"/>
                </a:solidFill>
                <a:effectLst/>
                <a:latin typeface="Consolas" panose="020B0609020204030204" pitchFamily="49" charset="0"/>
              </a:rPr>
              <a:t>.</a:t>
            </a:r>
            <a:r>
              <a:rPr lang="fr-FR" sz="2800" b="0">
                <a:solidFill>
                  <a:srgbClr val="DCDCAA"/>
                </a:solidFill>
                <a:effectLst/>
                <a:latin typeface="Consolas" panose="020B0609020204030204" pitchFamily="49" charset="0"/>
              </a:rPr>
              <a:t>submit</a:t>
            </a:r>
            <a:r>
              <a:rPr lang="fr-FR" sz="2800" b="0">
                <a:solidFill>
                  <a:srgbClr val="FFFFFF"/>
                </a:solidFill>
                <a:effectLst/>
                <a:latin typeface="Consolas" panose="020B0609020204030204" pitchFamily="49" charset="0"/>
              </a:rPr>
              <a:t>();</a:t>
            </a:r>
          </a:p>
          <a:p>
            <a:r>
              <a:rPr lang="fr-FR" sz="2800" b="0">
                <a:solidFill>
                  <a:srgbClr val="FFFFFF"/>
                </a:solidFill>
                <a:effectLst/>
                <a:latin typeface="Consolas" panose="020B0609020204030204" pitchFamily="49" charset="0"/>
              </a:rPr>
              <a:t>        }</a:t>
            </a:r>
          </a:p>
        </p:txBody>
      </p:sp>
      <p:sp>
        <p:nvSpPr>
          <p:cNvPr id="7" name="ZoneTexte 6">
            <a:extLst>
              <a:ext uri="{FF2B5EF4-FFF2-40B4-BE49-F238E27FC236}">
                <a16:creationId xmlns:a16="http://schemas.microsoft.com/office/drawing/2014/main" id="{3918855D-F9C2-65C6-415D-2D945C89842C}"/>
              </a:ext>
            </a:extLst>
          </p:cNvPr>
          <p:cNvSpPr txBox="1"/>
          <p:nvPr/>
        </p:nvSpPr>
        <p:spPr>
          <a:xfrm>
            <a:off x="2862819" y="6901937"/>
            <a:ext cx="6498126" cy="523220"/>
          </a:xfrm>
          <a:prstGeom prst="rect">
            <a:avLst/>
          </a:prstGeom>
          <a:noFill/>
        </p:spPr>
        <p:txBody>
          <a:bodyPr wrap="none" rtlCol="0">
            <a:spAutoFit/>
          </a:bodyPr>
          <a:lstStyle/>
          <a:p>
            <a:r>
              <a:rPr lang="fr-FR" sz="2800" b="1" i="1">
                <a:solidFill>
                  <a:srgbClr val="002060"/>
                </a:solidFill>
              </a:rPr>
              <a:t>Voici la logique principale du script :</a:t>
            </a:r>
          </a:p>
        </p:txBody>
      </p:sp>
      <p:sp>
        <p:nvSpPr>
          <p:cNvPr id="5" name="Espace réservé du numéro de diapositive 4">
            <a:extLst>
              <a:ext uri="{FF2B5EF4-FFF2-40B4-BE49-F238E27FC236}">
                <a16:creationId xmlns:a16="http://schemas.microsoft.com/office/drawing/2014/main" id="{00BA09E8-52EF-36B2-3BD9-09B76F18435D}"/>
              </a:ext>
            </a:extLst>
          </p:cNvPr>
          <p:cNvSpPr>
            <a:spLocks noGrp="1"/>
          </p:cNvSpPr>
          <p:nvPr>
            <p:ph type="sldNum" sz="quarter" idx="12"/>
          </p:nvPr>
        </p:nvSpPr>
        <p:spPr>
          <a:xfrm>
            <a:off x="12083907" y="9090025"/>
            <a:ext cx="717693" cy="511175"/>
          </a:xfrm>
        </p:spPr>
        <p:txBody>
          <a:bodyPr/>
          <a:lstStyle/>
          <a:p>
            <a:fld id="{69E57DC2-970A-4B3E-BB1C-7A09969E49DF}" type="slidenum">
              <a:rPr lang="en-US" sz="2800" b="1" smtClean="0">
                <a:solidFill>
                  <a:schemeClr val="tx1">
                    <a:lumMod val="95000"/>
                    <a:lumOff val="5000"/>
                  </a:schemeClr>
                </a:solidFill>
              </a:rPr>
              <a:t>20</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594928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8C7683-176C-973F-8C28-1FD957899B32}"/>
              </a:ext>
            </a:extLst>
          </p:cNvPr>
          <p:cNvSpPr>
            <a:spLocks noGrp="1"/>
          </p:cNvSpPr>
          <p:nvPr>
            <p:ph type="title"/>
          </p:nvPr>
        </p:nvSpPr>
        <p:spPr>
          <a:xfrm>
            <a:off x="3799882" y="0"/>
            <a:ext cx="5201836" cy="707572"/>
          </a:xfrm>
        </p:spPr>
        <p:txBody>
          <a:bodyPr>
            <a:normAutofit/>
          </a:bodyPr>
          <a:lstStyle/>
          <a:p>
            <a:r>
              <a:rPr lang="fr-FR" sz="4000" b="1" u="sng"/>
              <a:t>Gestion du paiement</a:t>
            </a:r>
          </a:p>
        </p:txBody>
      </p:sp>
      <p:sp>
        <p:nvSpPr>
          <p:cNvPr id="3" name="Espace réservé du contenu 2">
            <a:extLst>
              <a:ext uri="{FF2B5EF4-FFF2-40B4-BE49-F238E27FC236}">
                <a16:creationId xmlns:a16="http://schemas.microsoft.com/office/drawing/2014/main" id="{5B19CBA6-358C-5D37-B5E9-C6983CF57D3F}"/>
              </a:ext>
            </a:extLst>
          </p:cNvPr>
          <p:cNvSpPr>
            <a:spLocks noGrp="1"/>
          </p:cNvSpPr>
          <p:nvPr>
            <p:ph idx="1"/>
          </p:nvPr>
        </p:nvSpPr>
        <p:spPr>
          <a:xfrm>
            <a:off x="609151" y="707572"/>
            <a:ext cx="15979140" cy="9670868"/>
          </a:xfrm>
        </p:spPr>
        <p:txBody>
          <a:bodyPr>
            <a:noAutofit/>
          </a:bodyPr>
          <a:lstStyle/>
          <a:p>
            <a:r>
              <a:rPr lang="fr-FR" sz="3300" b="1">
                <a:solidFill>
                  <a:srgbClr val="C00000"/>
                </a:solidFill>
              </a:rPr>
              <a:t>Fonctionnement global</a:t>
            </a:r>
          </a:p>
          <a:p>
            <a:pPr>
              <a:buFont typeface="Arial" panose="020B0604020202020204" pitchFamily="34" charset="0"/>
              <a:buChar char="•"/>
            </a:pPr>
            <a:r>
              <a:rPr lang="fr-FR" sz="3300">
                <a:solidFill>
                  <a:schemeClr val="tx1"/>
                </a:solidFill>
              </a:rPr>
              <a:t>Paiement </a:t>
            </a:r>
            <a:r>
              <a:rPr lang="fr-FR" sz="3300" b="1">
                <a:solidFill>
                  <a:schemeClr val="tx1"/>
                </a:solidFill>
              </a:rPr>
              <a:t>sur place</a:t>
            </a:r>
            <a:r>
              <a:rPr lang="fr-FR" sz="3300">
                <a:solidFill>
                  <a:schemeClr val="tx1"/>
                </a:solidFill>
              </a:rPr>
              <a:t>, sans carte ni service externe</a:t>
            </a:r>
          </a:p>
          <a:p>
            <a:pPr>
              <a:buFont typeface="Arial" panose="020B0604020202020204" pitchFamily="34" charset="0"/>
              <a:buChar char="•"/>
            </a:pPr>
            <a:r>
              <a:rPr lang="fr-FR" sz="3300">
                <a:solidFill>
                  <a:schemeClr val="tx1"/>
                </a:solidFill>
              </a:rPr>
              <a:t>Pas de données bancaires → moins de risques</a:t>
            </a:r>
          </a:p>
          <a:p>
            <a:pPr>
              <a:buFont typeface="Arial" panose="020B0604020202020204" pitchFamily="34" charset="0"/>
              <a:buChar char="•"/>
            </a:pPr>
            <a:r>
              <a:rPr lang="fr-FR" sz="3300">
                <a:solidFill>
                  <a:schemeClr val="tx1"/>
                </a:solidFill>
              </a:rPr>
              <a:t>Paiement déclenché via </a:t>
            </a:r>
            <a:r>
              <a:rPr lang="fr-FR" sz="3300" b="1">
                <a:solidFill>
                  <a:schemeClr val="tx1"/>
                </a:solidFill>
              </a:rPr>
              <a:t>“Passer au paiement”</a:t>
            </a:r>
            <a:endParaRPr lang="fr-FR" sz="3300">
              <a:solidFill>
                <a:schemeClr val="tx1"/>
              </a:solidFill>
            </a:endParaRPr>
          </a:p>
          <a:p>
            <a:pPr>
              <a:buFont typeface="Wingdings 3" panose="05040102010807070707" pitchFamily="18" charset="2"/>
              <a:buChar char="u"/>
            </a:pPr>
            <a:r>
              <a:rPr lang="fr-FR" sz="3300" b="1">
                <a:solidFill>
                  <a:srgbClr val="FF0000"/>
                </a:solidFill>
              </a:rPr>
              <a:t>PaymentService</a:t>
            </a:r>
            <a:r>
              <a:rPr lang="fr-FR" sz="3300" b="1">
                <a:solidFill>
                  <a:schemeClr val="tx1"/>
                </a:solidFill>
              </a:rPr>
              <a:t> : </a:t>
            </a:r>
            <a:r>
              <a:rPr lang="fr-FR" altLang="fr-FR" sz="3300">
                <a:solidFill>
                  <a:schemeClr val="tx1"/>
                </a:solidFill>
              </a:rPr>
              <a:t>-</a:t>
            </a:r>
            <a:r>
              <a:rPr kumimoji="0" lang="fr-FR" altLang="fr-FR" sz="3300" b="0" i="0" u="none" strike="noStrike" cap="none" normalizeH="0" baseline="0">
                <a:ln>
                  <a:noFill/>
                </a:ln>
                <a:solidFill>
                  <a:schemeClr val="tx1"/>
                </a:solidFill>
                <a:effectLst/>
              </a:rPr>
              <a:t>Calcule le total</a:t>
            </a: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300" b="0" i="0" u="none" strike="noStrike" cap="none" normalizeH="0" baseline="0">
                <a:ln>
                  <a:noFill/>
                </a:ln>
                <a:solidFill>
                  <a:schemeClr val="tx1"/>
                </a:solidFill>
                <a:effectLst/>
              </a:rPr>
              <a:t>    </a:t>
            </a:r>
            <a:r>
              <a:rPr lang="fr-FR" altLang="fr-FR" sz="3300">
                <a:solidFill>
                  <a:schemeClr val="tx1"/>
                </a:solidFill>
              </a:rPr>
              <a:t>- </a:t>
            </a:r>
            <a:r>
              <a:rPr kumimoji="0" lang="fr-FR" altLang="fr-FR" sz="3300" b="0" i="0" u="none" strike="noStrike" cap="none" normalizeH="0" baseline="0">
                <a:ln>
                  <a:noFill/>
                </a:ln>
                <a:solidFill>
                  <a:schemeClr val="tx1"/>
                </a:solidFill>
                <a:effectLst/>
              </a:rPr>
              <a:t>Contrôle le stock </a:t>
            </a:r>
          </a:p>
          <a:p>
            <a:pPr marL="0" marR="0" lvl="0" indent="0" algn="l" defTabSz="914400" rtl="0" eaLnBrk="0" fontAlgn="base" latinLnBrk="0" hangingPunct="0">
              <a:lnSpc>
                <a:spcPct val="100000"/>
              </a:lnSpc>
              <a:spcBef>
                <a:spcPct val="0"/>
              </a:spcBef>
              <a:spcAft>
                <a:spcPct val="0"/>
              </a:spcAft>
              <a:buClrTx/>
              <a:buSzTx/>
              <a:buNone/>
              <a:tabLst/>
            </a:pPr>
            <a:r>
              <a:rPr lang="fr-FR" altLang="fr-FR" sz="3300">
                <a:solidFill>
                  <a:schemeClr val="tx1"/>
                </a:solidFill>
              </a:rPr>
              <a:t>    </a:t>
            </a:r>
            <a:r>
              <a:rPr kumimoji="0" lang="fr-FR" altLang="fr-FR" sz="3300" b="0" i="0" u="none" strike="noStrike" cap="none" normalizeH="0" baseline="0">
                <a:ln>
                  <a:noFill/>
                </a:ln>
                <a:solidFill>
                  <a:schemeClr val="tx1"/>
                </a:solidFill>
                <a:effectLst/>
              </a:rPr>
              <a:t>- Enregistre le paiement</a:t>
            </a: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300" b="0" i="0" u="none" strike="noStrike" cap="none" normalizeH="0" baseline="0">
                <a:ln>
                  <a:noFill/>
                </a:ln>
                <a:solidFill>
                  <a:schemeClr val="tx1"/>
                </a:solidFill>
                <a:effectLst/>
              </a:rPr>
              <a:t>    - Met à jour le stock </a:t>
            </a:r>
          </a:p>
          <a:p>
            <a:pPr marL="0" marR="0" lvl="0" indent="0" algn="l" defTabSz="914400" rtl="0" eaLnBrk="0" fontAlgn="base" latinLnBrk="0" hangingPunct="0">
              <a:lnSpc>
                <a:spcPct val="100000"/>
              </a:lnSpc>
              <a:spcBef>
                <a:spcPct val="0"/>
              </a:spcBef>
              <a:spcAft>
                <a:spcPct val="0"/>
              </a:spcAft>
              <a:buClrTx/>
              <a:buSzTx/>
              <a:buNone/>
              <a:tabLst/>
            </a:pPr>
            <a:r>
              <a:rPr lang="fr-FR" altLang="fr-FR" sz="3300">
                <a:solidFill>
                  <a:schemeClr val="tx1"/>
                </a:solidFill>
              </a:rPr>
              <a:t>    </a:t>
            </a:r>
            <a:r>
              <a:rPr kumimoji="0" lang="fr-FR" altLang="fr-FR" sz="3300" b="0" i="0" u="none" strike="noStrike" cap="none" normalizeH="0" baseline="0">
                <a:ln>
                  <a:noFill/>
                </a:ln>
                <a:solidFill>
                  <a:schemeClr val="tx1"/>
                </a:solidFill>
                <a:effectLst/>
              </a:rPr>
              <a:t>- Génère et envoie la facture PDF</a:t>
            </a:r>
            <a:endParaRPr lang="fr-FR" sz="3300">
              <a:solidFill>
                <a:schemeClr val="tx1"/>
              </a:solidFill>
            </a:endParaRPr>
          </a:p>
          <a:p>
            <a:pPr>
              <a:buFont typeface="Wingdings 3" panose="05040102010807070707" pitchFamily="18" charset="2"/>
              <a:buChar char="u"/>
            </a:pPr>
            <a:r>
              <a:rPr lang="fr-FR" sz="3300" b="1">
                <a:solidFill>
                  <a:srgbClr val="FF0000"/>
                </a:solidFill>
              </a:rPr>
              <a:t>PaymentController</a:t>
            </a:r>
            <a:r>
              <a:rPr lang="fr-FR" sz="3300" b="1">
                <a:solidFill>
                  <a:schemeClr val="tx1"/>
                </a:solidFill>
              </a:rPr>
              <a:t> : </a:t>
            </a:r>
            <a:r>
              <a:rPr lang="fr-FR" sz="3300">
                <a:solidFill>
                  <a:schemeClr val="tx1"/>
                </a:solidFill>
              </a:rPr>
              <a:t>Affiche la page de paiement</a:t>
            </a:r>
          </a:p>
          <a:p>
            <a:pPr marL="0" indent="0">
              <a:buNone/>
            </a:pPr>
            <a:r>
              <a:rPr lang="fr-FR" sz="3300">
                <a:solidFill>
                  <a:schemeClr val="tx1"/>
                </a:solidFill>
              </a:rPr>
              <a:t>    Valide le paiement </a:t>
            </a:r>
          </a:p>
          <a:p>
            <a:pPr>
              <a:buFont typeface="Wingdings 3" panose="05040102010807070707" pitchFamily="18" charset="2"/>
              <a:buChar char="u"/>
            </a:pPr>
            <a:r>
              <a:rPr lang="fr-FR" sz="3300" b="1">
                <a:solidFill>
                  <a:srgbClr val="FF0000"/>
                </a:solidFill>
              </a:rPr>
              <a:t>Interface Thymeleaf </a:t>
            </a:r>
            <a:r>
              <a:rPr lang="fr-FR" sz="3300" b="1">
                <a:solidFill>
                  <a:schemeClr val="tx1"/>
                </a:solidFill>
              </a:rPr>
              <a:t>: </a:t>
            </a:r>
            <a:r>
              <a:rPr lang="fr-FR" sz="3300">
                <a:solidFill>
                  <a:schemeClr val="tx1"/>
                </a:solidFill>
              </a:rPr>
              <a:t>Panier + Total</a:t>
            </a:r>
          </a:p>
          <a:p>
            <a:pPr marL="0" indent="0">
              <a:buNone/>
            </a:pPr>
            <a:r>
              <a:rPr lang="fr-FR" sz="3300">
                <a:solidFill>
                  <a:schemeClr val="tx1"/>
                </a:solidFill>
              </a:rPr>
              <a:t>    Choix entre Carte ou Espèces</a:t>
            </a:r>
          </a:p>
          <a:p>
            <a:pPr marL="0" indent="0">
              <a:buNone/>
            </a:pPr>
            <a:r>
              <a:rPr lang="fr-FR" sz="3300">
                <a:solidFill>
                  <a:schemeClr val="tx1"/>
                </a:solidFill>
              </a:rPr>
              <a:t>    Bouton actif uniquement → Panier plein</a:t>
            </a:r>
          </a:p>
        </p:txBody>
      </p:sp>
      <p:sp>
        <p:nvSpPr>
          <p:cNvPr id="4" name="Espace réservé du numéro de diapositive 3">
            <a:extLst>
              <a:ext uri="{FF2B5EF4-FFF2-40B4-BE49-F238E27FC236}">
                <a16:creationId xmlns:a16="http://schemas.microsoft.com/office/drawing/2014/main" id="{3B244536-C3CB-6FCA-DF83-BE347974D6BE}"/>
              </a:ext>
            </a:extLst>
          </p:cNvPr>
          <p:cNvSpPr>
            <a:spLocks noGrp="1"/>
          </p:cNvSpPr>
          <p:nvPr>
            <p:ph type="sldNum" sz="quarter" idx="12"/>
          </p:nvPr>
        </p:nvSpPr>
        <p:spPr>
          <a:xfrm>
            <a:off x="12083907" y="8938452"/>
            <a:ext cx="717693" cy="511175"/>
          </a:xfrm>
        </p:spPr>
        <p:txBody>
          <a:bodyPr/>
          <a:lstStyle/>
          <a:p>
            <a:fld id="{69E57DC2-970A-4B3E-BB1C-7A09969E49DF}" type="slidenum">
              <a:rPr lang="en-US" sz="2800" b="1" smtClean="0">
                <a:solidFill>
                  <a:schemeClr val="tx1">
                    <a:lumMod val="95000"/>
                    <a:lumOff val="5000"/>
                  </a:schemeClr>
                </a:solidFill>
              </a:rPr>
              <a:t>21</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47021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CC4AD9-422B-3BC9-865D-F44F51B5FC76}"/>
              </a:ext>
            </a:extLst>
          </p:cNvPr>
          <p:cNvSpPr>
            <a:spLocks noGrp="1"/>
          </p:cNvSpPr>
          <p:nvPr>
            <p:ph type="title"/>
          </p:nvPr>
        </p:nvSpPr>
        <p:spPr>
          <a:xfrm>
            <a:off x="1798319" y="84804"/>
            <a:ext cx="9204961" cy="1058487"/>
          </a:xfrm>
        </p:spPr>
        <p:txBody>
          <a:bodyPr>
            <a:normAutofit/>
          </a:bodyPr>
          <a:lstStyle/>
          <a:p>
            <a:r>
              <a:rPr lang="fr-FR" sz="4800" b="1" u="sng"/>
              <a:t>Génération de la facture PDF</a:t>
            </a:r>
          </a:p>
        </p:txBody>
      </p:sp>
      <p:sp>
        <p:nvSpPr>
          <p:cNvPr id="3" name="Espace réservé du contenu 2">
            <a:extLst>
              <a:ext uri="{FF2B5EF4-FFF2-40B4-BE49-F238E27FC236}">
                <a16:creationId xmlns:a16="http://schemas.microsoft.com/office/drawing/2014/main" id="{7BB65CAF-9181-1719-90E8-755C9FA2CF3F}"/>
              </a:ext>
            </a:extLst>
          </p:cNvPr>
          <p:cNvSpPr>
            <a:spLocks noGrp="1"/>
          </p:cNvSpPr>
          <p:nvPr>
            <p:ph idx="1"/>
          </p:nvPr>
        </p:nvSpPr>
        <p:spPr>
          <a:xfrm>
            <a:off x="375138" y="1406823"/>
            <a:ext cx="11863754" cy="7871791"/>
          </a:xfrm>
        </p:spPr>
        <p:txBody>
          <a:bodyPr>
            <a:noAutofit/>
          </a:bodyPr>
          <a:lstStyle/>
          <a:p>
            <a:r>
              <a:rPr lang="fr-FR" sz="3600">
                <a:solidFill>
                  <a:schemeClr val="tx1"/>
                </a:solidFill>
              </a:rPr>
              <a:t>Facture générée automatiquement</a:t>
            </a:r>
          </a:p>
          <a:p>
            <a:pPr>
              <a:buFont typeface="Arial" panose="020B0604020202020204" pitchFamily="34" charset="0"/>
              <a:buChar char="•"/>
            </a:pPr>
            <a:r>
              <a:rPr lang="fr-FR" sz="3600" b="1">
                <a:solidFill>
                  <a:srgbClr val="FF0000"/>
                </a:solidFill>
              </a:rPr>
              <a:t>InvoiceService</a:t>
            </a:r>
            <a:r>
              <a:rPr lang="fr-FR" sz="3600">
                <a:solidFill>
                  <a:schemeClr val="tx1"/>
                </a:solidFill>
              </a:rPr>
              <a:t> : Création de la Facture PDF</a:t>
            </a:r>
          </a:p>
          <a:p>
            <a:pPr>
              <a:buFont typeface="Arial" panose="020B0604020202020204" pitchFamily="34" charset="0"/>
              <a:buChar char="•"/>
            </a:pPr>
            <a:r>
              <a:rPr lang="fr-FR" sz="3600">
                <a:solidFill>
                  <a:schemeClr val="tx1"/>
                </a:solidFill>
              </a:rPr>
              <a:t>Crée en mémoire avec </a:t>
            </a:r>
            <a:r>
              <a:rPr lang="fr-FR" sz="3600" b="1">
                <a:solidFill>
                  <a:schemeClr val="tx1"/>
                </a:solidFill>
              </a:rPr>
              <a:t>OpenPDF</a:t>
            </a:r>
            <a:endParaRPr lang="fr-FR" sz="3600">
              <a:solidFill>
                <a:schemeClr val="tx1"/>
              </a:solidFill>
            </a:endParaRPr>
          </a:p>
          <a:p>
            <a:pPr>
              <a:buFont typeface="Arial" panose="020B0604020202020204" pitchFamily="34" charset="0"/>
              <a:buChar char="•"/>
            </a:pPr>
            <a:r>
              <a:rPr lang="fr-FR" sz="3600">
                <a:solidFill>
                  <a:schemeClr val="tx1"/>
                </a:solidFill>
              </a:rPr>
              <a:t>Format PDF envoyé par email à l’employé</a:t>
            </a:r>
          </a:p>
          <a:p>
            <a:pPr>
              <a:buFont typeface="Arial" panose="020B0604020202020204" pitchFamily="34" charset="0"/>
              <a:buChar char="•"/>
            </a:pPr>
            <a:r>
              <a:rPr lang="fr-FR" sz="3600" b="1">
                <a:solidFill>
                  <a:schemeClr val="tx1"/>
                </a:solidFill>
              </a:rPr>
              <a:t>Numéro unique </a:t>
            </a:r>
            <a:r>
              <a:rPr lang="fr-FR" sz="3600">
                <a:solidFill>
                  <a:schemeClr val="tx1"/>
                </a:solidFill>
              </a:rPr>
              <a:t>: F[</a:t>
            </a:r>
            <a:r>
              <a:rPr lang="fr-FR" sz="3600" b="1">
                <a:solidFill>
                  <a:schemeClr val="tx1"/>
                </a:solidFill>
              </a:rPr>
              <a:t>année</a:t>
            </a:r>
            <a:r>
              <a:rPr lang="fr-FR" sz="3600">
                <a:solidFill>
                  <a:schemeClr val="tx1"/>
                </a:solidFill>
              </a:rPr>
              <a:t>]-[</a:t>
            </a:r>
            <a:r>
              <a:rPr lang="fr-FR" sz="3600" b="1">
                <a:solidFill>
                  <a:schemeClr val="tx1"/>
                </a:solidFill>
              </a:rPr>
              <a:t>ID paiement </a:t>
            </a:r>
            <a:r>
              <a:rPr lang="fr-FR" sz="3600">
                <a:solidFill>
                  <a:schemeClr val="tx1"/>
                </a:solidFill>
              </a:rPr>
              <a:t>sur </a:t>
            </a:r>
            <a:r>
              <a:rPr lang="fr-FR" sz="3600" b="1">
                <a:solidFill>
                  <a:schemeClr val="tx1"/>
                </a:solidFill>
              </a:rPr>
              <a:t>6 chiffres</a:t>
            </a:r>
            <a:r>
              <a:rPr lang="fr-FR" sz="3600">
                <a:solidFill>
                  <a:schemeClr val="tx1"/>
                </a:solidFill>
              </a:rPr>
              <a:t>] </a:t>
            </a:r>
          </a:p>
          <a:p>
            <a:pPr marL="0" indent="0">
              <a:buNone/>
            </a:pPr>
            <a:r>
              <a:rPr lang="fr-FR" sz="3600">
                <a:solidFill>
                  <a:schemeClr val="tx1"/>
                </a:solidFill>
              </a:rPr>
              <a:t>     →  Ex. : F2025-000017</a:t>
            </a:r>
          </a:p>
          <a:p>
            <a:pPr>
              <a:buFont typeface="Arial" panose="020B0604020202020204" pitchFamily="34" charset="0"/>
              <a:buChar char="•"/>
            </a:pPr>
            <a:r>
              <a:rPr lang="fr-FR" sz="3600">
                <a:solidFill>
                  <a:schemeClr val="tx1"/>
                </a:solidFill>
              </a:rPr>
              <a:t>Tableau de Byte [] → Envoie automatique par mail</a:t>
            </a:r>
          </a:p>
          <a:p>
            <a:pPr marL="0" indent="0">
              <a:buNone/>
            </a:pPr>
            <a:r>
              <a:rPr lang="fr-FR" sz="3600">
                <a:solidFill>
                  <a:schemeClr val="tx1"/>
                </a:solidFill>
              </a:rPr>
              <a:t>                                 → Sans sauvegarde</a:t>
            </a:r>
          </a:p>
          <a:p>
            <a:pPr>
              <a:buFont typeface="Wingdings 3" panose="05040102010807070707" pitchFamily="18" charset="2"/>
              <a:buChar char="u"/>
            </a:pPr>
            <a:r>
              <a:rPr lang="fr-FR" sz="3600" b="1">
                <a:solidFill>
                  <a:srgbClr val="FF0000"/>
                </a:solidFill>
              </a:rPr>
              <a:t>MailService, BREVO</a:t>
            </a:r>
          </a:p>
          <a:p>
            <a:pPr>
              <a:buFont typeface="Arial" panose="020B0604020202020204" pitchFamily="34" charset="0"/>
              <a:buChar char="•"/>
            </a:pPr>
            <a:r>
              <a:rPr lang="fr-FR" sz="3600">
                <a:solidFill>
                  <a:schemeClr val="tx1"/>
                </a:solidFill>
              </a:rPr>
              <a:t>Envoie automatique et Configuration</a:t>
            </a:r>
            <a:endParaRPr lang="fr-FR" sz="3600" b="1">
              <a:solidFill>
                <a:srgbClr val="FF0000"/>
              </a:solidFill>
            </a:endParaRPr>
          </a:p>
          <a:p>
            <a:pPr>
              <a:buFont typeface="Wingdings 3" panose="05040102010807070707" pitchFamily="18" charset="2"/>
              <a:buChar char="u"/>
            </a:pPr>
            <a:endParaRPr lang="fr-FR" sz="3600">
              <a:solidFill>
                <a:schemeClr val="tx1"/>
              </a:solidFill>
            </a:endParaRPr>
          </a:p>
          <a:p>
            <a:pPr marL="0" indent="0">
              <a:buNone/>
            </a:pPr>
            <a:endParaRPr lang="fr-FR" sz="3600">
              <a:solidFill>
                <a:schemeClr val="tx1"/>
              </a:solidFill>
            </a:endParaRPr>
          </a:p>
        </p:txBody>
      </p:sp>
      <p:sp>
        <p:nvSpPr>
          <p:cNvPr id="7" name="Espace réservé du numéro de diapositive 6">
            <a:extLst>
              <a:ext uri="{FF2B5EF4-FFF2-40B4-BE49-F238E27FC236}">
                <a16:creationId xmlns:a16="http://schemas.microsoft.com/office/drawing/2014/main" id="{CA3D584E-529B-7AC8-4748-CA0963C44633}"/>
              </a:ext>
            </a:extLst>
          </p:cNvPr>
          <p:cNvSpPr>
            <a:spLocks noGrp="1"/>
          </p:cNvSpPr>
          <p:nvPr>
            <p:ph type="sldNum" sz="quarter" idx="12"/>
          </p:nvPr>
        </p:nvSpPr>
        <p:spPr>
          <a:xfrm>
            <a:off x="12093329" y="9023026"/>
            <a:ext cx="717693" cy="511175"/>
          </a:xfrm>
        </p:spPr>
        <p:txBody>
          <a:bodyPr/>
          <a:lstStyle/>
          <a:p>
            <a:fld id="{69E57DC2-970A-4B3E-BB1C-7A09969E49DF}" type="slidenum">
              <a:rPr lang="en-US" sz="2800" b="1" smtClean="0">
                <a:solidFill>
                  <a:schemeClr val="tx1">
                    <a:lumMod val="95000"/>
                    <a:lumOff val="5000"/>
                  </a:schemeClr>
                </a:solidFill>
              </a:rPr>
              <a:t>22</a:t>
            </a:fld>
            <a:endParaRPr lang="en-US" sz="2000" b="1">
              <a:solidFill>
                <a:schemeClr val="tx1">
                  <a:lumMod val="95000"/>
                  <a:lumOff val="5000"/>
                </a:schemeClr>
              </a:solidFill>
            </a:endParaRPr>
          </a:p>
        </p:txBody>
      </p:sp>
      <p:grpSp>
        <p:nvGrpSpPr>
          <p:cNvPr id="6" name="Groupe 5">
            <a:extLst>
              <a:ext uri="{FF2B5EF4-FFF2-40B4-BE49-F238E27FC236}">
                <a16:creationId xmlns:a16="http://schemas.microsoft.com/office/drawing/2014/main" id="{E10D48DB-31D5-F890-FD60-263C78E426D3}"/>
              </a:ext>
            </a:extLst>
          </p:cNvPr>
          <p:cNvGrpSpPr/>
          <p:nvPr/>
        </p:nvGrpSpPr>
        <p:grpSpPr>
          <a:xfrm>
            <a:off x="0" y="-198955"/>
            <a:ext cx="12914372" cy="9797150"/>
            <a:chOff x="-1" y="-544286"/>
            <a:chExt cx="12914372" cy="9797150"/>
          </a:xfrm>
        </p:grpSpPr>
        <p:pic>
          <p:nvPicPr>
            <p:cNvPr id="42" name="Image 41">
              <a:extLst>
                <a:ext uri="{FF2B5EF4-FFF2-40B4-BE49-F238E27FC236}">
                  <a16:creationId xmlns:a16="http://schemas.microsoft.com/office/drawing/2014/main" id="{266D7839-F5F1-EE77-34ED-EDB457054DB0}"/>
                </a:ext>
              </a:extLst>
            </p:cNvPr>
            <p:cNvPicPr>
              <a:picLocks noChangeAspect="1"/>
            </p:cNvPicPr>
            <p:nvPr/>
          </p:nvPicPr>
          <p:blipFill>
            <a:blip r:embed="rId3"/>
            <a:stretch>
              <a:fillRect/>
            </a:stretch>
          </p:blipFill>
          <p:spPr>
            <a:xfrm>
              <a:off x="0" y="322586"/>
              <a:ext cx="12914371" cy="7871791"/>
            </a:xfrm>
            <a:prstGeom prst="rect">
              <a:avLst/>
            </a:prstGeom>
          </p:spPr>
        </p:pic>
        <p:sp>
          <p:nvSpPr>
            <p:cNvPr id="4" name="Rectangle 3">
              <a:extLst>
                <a:ext uri="{FF2B5EF4-FFF2-40B4-BE49-F238E27FC236}">
                  <a16:creationId xmlns:a16="http://schemas.microsoft.com/office/drawing/2014/main" id="{8750377A-CA34-EF08-F3EC-743D63E6E2DA}"/>
                </a:ext>
              </a:extLst>
            </p:cNvPr>
            <p:cNvSpPr/>
            <p:nvPr/>
          </p:nvSpPr>
          <p:spPr>
            <a:xfrm>
              <a:off x="0" y="-544286"/>
              <a:ext cx="12914371" cy="105848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B6670475-6209-0D6A-215C-B82FD0E3C3FF}"/>
                </a:ext>
              </a:extLst>
            </p:cNvPr>
            <p:cNvSpPr/>
            <p:nvPr/>
          </p:nvSpPr>
          <p:spPr>
            <a:xfrm>
              <a:off x="-1" y="8194377"/>
              <a:ext cx="12914371" cy="105848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73857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26E5F4-00AB-57A2-A3D2-EC02515C81FE}"/>
              </a:ext>
            </a:extLst>
          </p:cNvPr>
          <p:cNvSpPr>
            <a:spLocks noGrp="1"/>
          </p:cNvSpPr>
          <p:nvPr>
            <p:ph type="title"/>
          </p:nvPr>
        </p:nvSpPr>
        <p:spPr>
          <a:xfrm>
            <a:off x="457198" y="381291"/>
            <a:ext cx="10911841" cy="1524000"/>
          </a:xfrm>
        </p:spPr>
        <p:txBody>
          <a:bodyPr>
            <a:normAutofit/>
          </a:bodyPr>
          <a:lstStyle/>
          <a:p>
            <a:r>
              <a:rPr lang="fr-FR" sz="4800" b="1" u="sng"/>
              <a:t>Déploiement:</a:t>
            </a:r>
            <a:r>
              <a:rPr lang="fr-FR" sz="4800" b="1"/>
              <a:t> </a:t>
            </a:r>
            <a:r>
              <a:rPr lang="fr-FR" sz="3600" b="1">
                <a:solidFill>
                  <a:schemeClr val="tx1">
                    <a:lumMod val="95000"/>
                    <a:lumOff val="5000"/>
                  </a:schemeClr>
                </a:solidFill>
              </a:rPr>
              <a:t>Conteneurisation avec Docker</a:t>
            </a:r>
            <a:endParaRPr lang="fr-FR" sz="3600" b="1" u="sng">
              <a:solidFill>
                <a:schemeClr val="tx1">
                  <a:lumMod val="95000"/>
                  <a:lumOff val="5000"/>
                </a:schemeClr>
              </a:solidFill>
            </a:endParaRPr>
          </a:p>
        </p:txBody>
      </p:sp>
      <p:sp>
        <p:nvSpPr>
          <p:cNvPr id="3" name="Espace réservé du contenu 2">
            <a:extLst>
              <a:ext uri="{FF2B5EF4-FFF2-40B4-BE49-F238E27FC236}">
                <a16:creationId xmlns:a16="http://schemas.microsoft.com/office/drawing/2014/main" id="{8F909DD1-E7CF-699B-16FB-60625BDB5D25}"/>
              </a:ext>
            </a:extLst>
          </p:cNvPr>
          <p:cNvSpPr>
            <a:spLocks noGrp="1"/>
          </p:cNvSpPr>
          <p:nvPr>
            <p:ph idx="1"/>
          </p:nvPr>
        </p:nvSpPr>
        <p:spPr>
          <a:xfrm>
            <a:off x="986151" y="2488522"/>
            <a:ext cx="10382888" cy="6731387"/>
          </a:xfrm>
        </p:spPr>
        <p:txBody>
          <a:bodyPr>
            <a:noAutofit/>
          </a:bodyPr>
          <a:lstStyle/>
          <a:p>
            <a:r>
              <a:rPr lang="fr-FR" sz="4600" b="1">
                <a:solidFill>
                  <a:srgbClr val="FF0000"/>
                </a:solidFill>
              </a:rPr>
              <a:t>Pourquoi Docker ?</a:t>
            </a:r>
          </a:p>
          <a:p>
            <a:pPr>
              <a:buFont typeface="Arial" panose="020B0604020202020204" pitchFamily="34" charset="0"/>
              <a:buChar char="•"/>
            </a:pPr>
            <a:r>
              <a:rPr lang="fr-FR" sz="4600">
                <a:solidFill>
                  <a:schemeClr val="tx1">
                    <a:lumMod val="95000"/>
                    <a:lumOff val="5000"/>
                  </a:schemeClr>
                </a:solidFill>
              </a:rPr>
              <a:t>Lancer facilement n’importe ou</a:t>
            </a:r>
          </a:p>
          <a:p>
            <a:pPr>
              <a:buFont typeface="Arial" panose="020B0604020202020204" pitchFamily="34" charset="0"/>
              <a:buChar char="•"/>
            </a:pPr>
            <a:r>
              <a:rPr lang="fr-FR" sz="4600">
                <a:solidFill>
                  <a:schemeClr val="tx1">
                    <a:lumMod val="95000"/>
                    <a:lumOff val="5000"/>
                  </a:schemeClr>
                </a:solidFill>
              </a:rPr>
              <a:t>Fonctionnement identique partout</a:t>
            </a:r>
          </a:p>
          <a:p>
            <a:pPr>
              <a:buFont typeface="Arial" panose="020B0604020202020204" pitchFamily="34" charset="0"/>
              <a:buChar char="•"/>
            </a:pPr>
            <a:endParaRPr lang="fr-FR" sz="4600">
              <a:solidFill>
                <a:schemeClr val="tx1">
                  <a:lumMod val="95000"/>
                  <a:lumOff val="5000"/>
                </a:schemeClr>
              </a:solidFill>
            </a:endParaRPr>
          </a:p>
          <a:p>
            <a:r>
              <a:rPr lang="fr-FR" sz="4600" b="1">
                <a:solidFill>
                  <a:srgbClr val="FF0000"/>
                </a:solidFill>
              </a:rPr>
              <a:t>Dockerfile + Docker Compose</a:t>
            </a:r>
          </a:p>
          <a:p>
            <a:pPr>
              <a:buFont typeface="Arial" panose="020B0604020202020204" pitchFamily="34" charset="0"/>
              <a:buChar char="•"/>
            </a:pPr>
            <a:r>
              <a:rPr lang="fr-FR" sz="4600">
                <a:solidFill>
                  <a:schemeClr val="tx1">
                    <a:lumMod val="95000"/>
                    <a:lumOff val="5000"/>
                  </a:schemeClr>
                </a:solidFill>
              </a:rPr>
              <a:t>Dockerfile : Image Docker</a:t>
            </a:r>
          </a:p>
          <a:p>
            <a:pPr>
              <a:buFont typeface="Arial" panose="020B0604020202020204" pitchFamily="34" charset="0"/>
              <a:buChar char="•"/>
            </a:pPr>
            <a:r>
              <a:rPr lang="fr-FR" sz="4600">
                <a:solidFill>
                  <a:schemeClr val="tx1">
                    <a:lumMod val="95000"/>
                    <a:lumOff val="5000"/>
                  </a:schemeClr>
                </a:solidFill>
              </a:rPr>
              <a:t>Docker Compose : lancement de l’application et Base de données</a:t>
            </a:r>
          </a:p>
        </p:txBody>
      </p:sp>
      <p:pic>
        <p:nvPicPr>
          <p:cNvPr id="4" name="Image 3" descr="Une image contenant logo, clipart, Graphique, symbole&#10;&#10;Le contenu généré par l’IA peut être incorrect.">
            <a:extLst>
              <a:ext uri="{FF2B5EF4-FFF2-40B4-BE49-F238E27FC236}">
                <a16:creationId xmlns:a16="http://schemas.microsoft.com/office/drawing/2014/main" id="{39F742D1-2FF6-8052-3D48-DC83AAFDBC3A}"/>
              </a:ext>
            </a:extLst>
          </p:cNvPr>
          <p:cNvPicPr>
            <a:picLocks noChangeAspect="1"/>
          </p:cNvPicPr>
          <p:nvPr/>
        </p:nvPicPr>
        <p:blipFill>
          <a:blip r:embed="rId3" cstate="print">
            <a:extLst>
              <a:ext uri="{28A0092B-C50C-407E-A947-70E740481C1C}">
                <a14:useLocalDpi xmlns:a14="http://schemas.microsoft.com/office/drawing/2010/main" val="0"/>
              </a:ext>
            </a:extLst>
          </a:blip>
          <a:srcRect l="2824" t="12521" r="5104" b="19002"/>
          <a:stretch/>
        </p:blipFill>
        <p:spPr>
          <a:xfrm>
            <a:off x="6177594" y="1143291"/>
            <a:ext cx="1255296" cy="933590"/>
          </a:xfrm>
          <a:prstGeom prst="rect">
            <a:avLst/>
          </a:prstGeom>
        </p:spPr>
      </p:pic>
      <p:sp>
        <p:nvSpPr>
          <p:cNvPr id="5" name="Espace réservé du numéro de diapositive 4">
            <a:extLst>
              <a:ext uri="{FF2B5EF4-FFF2-40B4-BE49-F238E27FC236}">
                <a16:creationId xmlns:a16="http://schemas.microsoft.com/office/drawing/2014/main" id="{E305A772-292E-EC60-D36A-A1FE2397EE12}"/>
              </a:ext>
            </a:extLst>
          </p:cNvPr>
          <p:cNvSpPr>
            <a:spLocks noGrp="1"/>
          </p:cNvSpPr>
          <p:nvPr>
            <p:ph type="sldNum" sz="quarter" idx="12"/>
          </p:nvPr>
        </p:nvSpPr>
        <p:spPr>
          <a:xfrm>
            <a:off x="12083907" y="8964321"/>
            <a:ext cx="717693" cy="511175"/>
          </a:xfrm>
        </p:spPr>
        <p:txBody>
          <a:bodyPr/>
          <a:lstStyle/>
          <a:p>
            <a:fld id="{69E57DC2-970A-4B3E-BB1C-7A09969E49DF}" type="slidenum">
              <a:rPr lang="en-US" sz="2800" b="1" smtClean="0">
                <a:solidFill>
                  <a:schemeClr val="tx1">
                    <a:lumMod val="95000"/>
                    <a:lumOff val="5000"/>
                  </a:schemeClr>
                </a:solidFill>
              </a:rPr>
              <a:t>23</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3310584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371537-67C8-1F33-5A5C-25E92CAE7538}"/>
              </a:ext>
            </a:extLst>
          </p:cNvPr>
          <p:cNvSpPr>
            <a:spLocks noGrp="1"/>
          </p:cNvSpPr>
          <p:nvPr>
            <p:ph type="title"/>
          </p:nvPr>
        </p:nvSpPr>
        <p:spPr>
          <a:xfrm>
            <a:off x="2230631" y="368630"/>
            <a:ext cx="8886798" cy="1645920"/>
          </a:xfrm>
        </p:spPr>
        <p:txBody>
          <a:bodyPr>
            <a:normAutofit/>
          </a:bodyPr>
          <a:lstStyle/>
          <a:p>
            <a:pPr algn="ctr"/>
            <a:r>
              <a:rPr lang="fr-FR" sz="4300" b="1" u="sng"/>
              <a:t>Automatisation CI/CD avec GitHub Actions</a:t>
            </a:r>
          </a:p>
        </p:txBody>
      </p:sp>
      <p:sp>
        <p:nvSpPr>
          <p:cNvPr id="3" name="Espace réservé du contenu 2">
            <a:extLst>
              <a:ext uri="{FF2B5EF4-FFF2-40B4-BE49-F238E27FC236}">
                <a16:creationId xmlns:a16="http://schemas.microsoft.com/office/drawing/2014/main" id="{FAC641DA-98A4-4A67-F79F-8BA0BA3CA5B6}"/>
              </a:ext>
            </a:extLst>
          </p:cNvPr>
          <p:cNvSpPr>
            <a:spLocks noGrp="1"/>
          </p:cNvSpPr>
          <p:nvPr>
            <p:ph idx="1"/>
          </p:nvPr>
        </p:nvSpPr>
        <p:spPr>
          <a:xfrm>
            <a:off x="622934" y="2172127"/>
            <a:ext cx="11555731" cy="7973358"/>
          </a:xfrm>
        </p:spPr>
        <p:txBody>
          <a:bodyPr>
            <a:noAutofit/>
          </a:bodyPr>
          <a:lstStyle/>
          <a:p>
            <a:r>
              <a:rPr lang="fr-FR" sz="4200" b="1">
                <a:solidFill>
                  <a:srgbClr val="FF0000"/>
                </a:solidFill>
              </a:rPr>
              <a:t>Objectif de la pipeline CI/CD</a:t>
            </a:r>
          </a:p>
          <a:p>
            <a:pPr>
              <a:buFont typeface="Arial" panose="020B0604020202020204" pitchFamily="34" charset="0"/>
              <a:buChar char="•"/>
            </a:pPr>
            <a:r>
              <a:rPr lang="fr-FR" sz="4200">
                <a:solidFill>
                  <a:schemeClr val="tx1">
                    <a:lumMod val="95000"/>
                    <a:lumOff val="5000"/>
                  </a:schemeClr>
                </a:solidFill>
              </a:rPr>
              <a:t>Automatisation Tests / Déploiement</a:t>
            </a:r>
          </a:p>
          <a:p>
            <a:pPr>
              <a:buFont typeface="Arial" panose="020B0604020202020204" pitchFamily="34" charset="0"/>
              <a:buChar char="•"/>
            </a:pPr>
            <a:endParaRPr lang="fr-FR" sz="4200">
              <a:solidFill>
                <a:schemeClr val="tx1">
                  <a:lumMod val="95000"/>
                  <a:lumOff val="5000"/>
                </a:schemeClr>
              </a:solidFill>
            </a:endParaRPr>
          </a:p>
          <a:p>
            <a:r>
              <a:rPr lang="fr-FR" sz="4200" b="1">
                <a:solidFill>
                  <a:srgbClr val="FF0000"/>
                </a:solidFill>
              </a:rPr>
              <a:t>Fonctionnement de GitHub Actions</a:t>
            </a:r>
          </a:p>
          <a:p>
            <a:pPr>
              <a:buFont typeface="Arial" panose="020B0604020202020204" pitchFamily="34" charset="0"/>
              <a:buChar char="•"/>
            </a:pPr>
            <a:r>
              <a:rPr lang="fr-FR" sz="4200">
                <a:solidFill>
                  <a:schemeClr val="tx1">
                    <a:lumMod val="95000"/>
                    <a:lumOff val="5000"/>
                  </a:schemeClr>
                </a:solidFill>
              </a:rPr>
              <a:t>Push sur </a:t>
            </a:r>
            <a:r>
              <a:rPr lang="fr-FR" sz="4200" b="1">
                <a:solidFill>
                  <a:srgbClr val="FE0000"/>
                </a:solidFill>
              </a:rPr>
              <a:t>main</a:t>
            </a:r>
            <a:r>
              <a:rPr lang="fr-FR" sz="4200">
                <a:solidFill>
                  <a:srgbClr val="FE0000"/>
                </a:solidFill>
              </a:rPr>
              <a:t> </a:t>
            </a:r>
            <a:r>
              <a:rPr lang="fr-FR" sz="4200">
                <a:solidFill>
                  <a:schemeClr val="tx1">
                    <a:lumMod val="95000"/>
                    <a:lumOff val="5000"/>
                  </a:schemeClr>
                </a:solidFill>
              </a:rPr>
              <a:t>→ déclenchement automatique</a:t>
            </a:r>
          </a:p>
          <a:p>
            <a:pPr>
              <a:buFont typeface="Arial" panose="020B0604020202020204" pitchFamily="34" charset="0"/>
              <a:buChar char="•"/>
            </a:pPr>
            <a:r>
              <a:rPr lang="fr-FR" sz="4200">
                <a:solidFill>
                  <a:schemeClr val="tx1">
                    <a:lumMod val="95000"/>
                    <a:lumOff val="5000"/>
                  </a:schemeClr>
                </a:solidFill>
              </a:rPr>
              <a:t>Environnement propre : Java, Maven, Ubuntu</a:t>
            </a:r>
          </a:p>
          <a:p>
            <a:pPr>
              <a:buFont typeface="Arial" panose="020B0604020202020204" pitchFamily="34" charset="0"/>
              <a:buChar char="•"/>
            </a:pPr>
            <a:r>
              <a:rPr lang="fr-FR" sz="4200">
                <a:solidFill>
                  <a:schemeClr val="tx1">
                    <a:lumMod val="95000"/>
                    <a:lumOff val="5000"/>
                  </a:schemeClr>
                </a:solidFill>
              </a:rPr>
              <a:t>Vérification du code + génération du </a:t>
            </a:r>
            <a:r>
              <a:rPr lang="fr-FR" sz="4200" b="1">
                <a:solidFill>
                  <a:schemeClr val="tx1">
                    <a:lumMod val="95000"/>
                    <a:lumOff val="5000"/>
                  </a:schemeClr>
                </a:solidFill>
              </a:rPr>
              <a:t>.jar</a:t>
            </a:r>
          </a:p>
          <a:p>
            <a:pPr>
              <a:buFont typeface="Arial" panose="020B0604020202020204" pitchFamily="34" charset="0"/>
              <a:buChar char="•"/>
            </a:pPr>
            <a:r>
              <a:rPr lang="fr-FR" sz="4200">
                <a:solidFill>
                  <a:schemeClr val="tx1">
                    <a:lumMod val="95000"/>
                    <a:lumOff val="5000"/>
                  </a:schemeClr>
                </a:solidFill>
              </a:rPr>
              <a:t>Déploiement des conteneurs </a:t>
            </a:r>
            <a:r>
              <a:rPr lang="fr-FR" sz="4200" b="1">
                <a:solidFill>
                  <a:schemeClr val="tx1">
                    <a:lumMod val="95000"/>
                    <a:lumOff val="5000"/>
                  </a:schemeClr>
                </a:solidFill>
              </a:rPr>
              <a:t>Docker</a:t>
            </a:r>
            <a:r>
              <a:rPr lang="fr-FR" sz="4200">
                <a:solidFill>
                  <a:schemeClr val="tx1">
                    <a:lumMod val="95000"/>
                    <a:lumOff val="5000"/>
                  </a:schemeClr>
                </a:solidFill>
              </a:rPr>
              <a:t> → </a:t>
            </a:r>
            <a:r>
              <a:rPr lang="fr-FR" sz="4200" b="1">
                <a:solidFill>
                  <a:schemeClr val="tx1">
                    <a:lumMod val="95000"/>
                    <a:lumOff val="5000"/>
                  </a:schemeClr>
                </a:solidFill>
              </a:rPr>
              <a:t>VPS</a:t>
            </a:r>
          </a:p>
        </p:txBody>
      </p:sp>
      <p:pic>
        <p:nvPicPr>
          <p:cNvPr id="5" name="Image 4" descr="Une image contenant chat, clipart, créativité, art&#10;&#10;Le contenu généré par l’IA peut être incorrect.">
            <a:extLst>
              <a:ext uri="{FF2B5EF4-FFF2-40B4-BE49-F238E27FC236}">
                <a16:creationId xmlns:a16="http://schemas.microsoft.com/office/drawing/2014/main" id="{9348194B-039A-278F-A0C8-4F8BA126AE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085" y="368630"/>
            <a:ext cx="1120535" cy="1120535"/>
          </a:xfrm>
          <a:prstGeom prst="rect">
            <a:avLst/>
          </a:prstGeom>
        </p:spPr>
      </p:pic>
      <p:sp>
        <p:nvSpPr>
          <p:cNvPr id="4" name="Espace réservé du numéro de diapositive 3">
            <a:extLst>
              <a:ext uri="{FF2B5EF4-FFF2-40B4-BE49-F238E27FC236}">
                <a16:creationId xmlns:a16="http://schemas.microsoft.com/office/drawing/2014/main" id="{5657920C-0BED-7706-0998-228C5D68EB49}"/>
              </a:ext>
            </a:extLst>
          </p:cNvPr>
          <p:cNvSpPr>
            <a:spLocks noGrp="1"/>
          </p:cNvSpPr>
          <p:nvPr>
            <p:ph type="sldNum" sz="quarter" idx="12"/>
          </p:nvPr>
        </p:nvSpPr>
        <p:spPr>
          <a:xfrm>
            <a:off x="12083907" y="8991413"/>
            <a:ext cx="717693" cy="511175"/>
          </a:xfrm>
        </p:spPr>
        <p:txBody>
          <a:bodyPr/>
          <a:lstStyle/>
          <a:p>
            <a:fld id="{69E57DC2-970A-4B3E-BB1C-7A09969E49DF}" type="slidenum">
              <a:rPr lang="en-US" sz="2800" b="1" smtClean="0">
                <a:solidFill>
                  <a:schemeClr val="tx1">
                    <a:lumMod val="95000"/>
                    <a:lumOff val="5000"/>
                  </a:schemeClr>
                </a:solidFill>
              </a:rPr>
              <a:t>24</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2072931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BC3BA7-1E15-BBDC-EC5D-AADAC33803C0}"/>
              </a:ext>
            </a:extLst>
          </p:cNvPr>
          <p:cNvSpPr>
            <a:spLocks noGrp="1"/>
          </p:cNvSpPr>
          <p:nvPr>
            <p:ph type="title"/>
          </p:nvPr>
        </p:nvSpPr>
        <p:spPr>
          <a:xfrm>
            <a:off x="626743" y="323119"/>
            <a:ext cx="11182350" cy="937260"/>
          </a:xfrm>
        </p:spPr>
        <p:txBody>
          <a:bodyPr>
            <a:normAutofit/>
          </a:bodyPr>
          <a:lstStyle/>
          <a:p>
            <a:r>
              <a:rPr lang="fr-FR" sz="4800" b="1" u="sng"/>
              <a:t>Mise en ligne :</a:t>
            </a:r>
            <a:r>
              <a:rPr lang="fr-FR" sz="4800" b="1"/>
              <a:t> </a:t>
            </a:r>
            <a:r>
              <a:rPr lang="fr-FR" sz="3600" b="1">
                <a:solidFill>
                  <a:schemeClr val="tx1">
                    <a:lumMod val="95000"/>
                    <a:lumOff val="5000"/>
                  </a:schemeClr>
                </a:solidFill>
              </a:rPr>
              <a:t>Configuration du serveur VPS</a:t>
            </a:r>
            <a:endParaRPr lang="fr-FR" sz="3200" b="1" u="sng">
              <a:solidFill>
                <a:schemeClr val="tx1">
                  <a:lumMod val="95000"/>
                  <a:lumOff val="5000"/>
                </a:schemeClr>
              </a:solidFill>
            </a:endParaRPr>
          </a:p>
        </p:txBody>
      </p:sp>
      <p:sp>
        <p:nvSpPr>
          <p:cNvPr id="3" name="Espace réservé du contenu 2">
            <a:extLst>
              <a:ext uri="{FF2B5EF4-FFF2-40B4-BE49-F238E27FC236}">
                <a16:creationId xmlns:a16="http://schemas.microsoft.com/office/drawing/2014/main" id="{6F22B809-9F5F-5ED2-0BF7-DFD442C87B30}"/>
              </a:ext>
            </a:extLst>
          </p:cNvPr>
          <p:cNvSpPr>
            <a:spLocks noGrp="1"/>
          </p:cNvSpPr>
          <p:nvPr>
            <p:ph idx="1"/>
          </p:nvPr>
        </p:nvSpPr>
        <p:spPr>
          <a:xfrm>
            <a:off x="626743" y="2814889"/>
            <a:ext cx="11457164" cy="8029574"/>
          </a:xfrm>
        </p:spPr>
        <p:txBody>
          <a:bodyPr>
            <a:normAutofit/>
          </a:bodyPr>
          <a:lstStyle/>
          <a:p>
            <a:r>
              <a:rPr lang="fr-FR" sz="4200">
                <a:solidFill>
                  <a:srgbClr val="FF0000"/>
                </a:solidFill>
              </a:rPr>
              <a:t>Préparation du serveur</a:t>
            </a:r>
          </a:p>
          <a:p>
            <a:pPr>
              <a:buFont typeface="Arial" panose="020B0604020202020204" pitchFamily="34" charset="0"/>
              <a:buChar char="•"/>
            </a:pPr>
            <a:r>
              <a:rPr lang="fr-FR" sz="4200" b="1">
                <a:solidFill>
                  <a:schemeClr val="tx1">
                    <a:lumMod val="95000"/>
                    <a:lumOff val="5000"/>
                  </a:schemeClr>
                </a:solidFill>
              </a:rPr>
              <a:t>VPS Ubuntu </a:t>
            </a:r>
            <a:r>
              <a:rPr lang="fr-FR" sz="4200">
                <a:solidFill>
                  <a:schemeClr val="tx1">
                    <a:lumMod val="95000"/>
                    <a:lumOff val="5000"/>
                  </a:schemeClr>
                </a:solidFill>
              </a:rPr>
              <a:t>(LWS) avec interface de gestion</a:t>
            </a:r>
          </a:p>
          <a:p>
            <a:pPr>
              <a:buFont typeface="Arial" panose="020B0604020202020204" pitchFamily="34" charset="0"/>
              <a:buChar char="•"/>
            </a:pPr>
            <a:r>
              <a:rPr lang="fr-FR" sz="4200">
                <a:solidFill>
                  <a:schemeClr val="tx1">
                    <a:lumMod val="95000"/>
                    <a:lumOff val="5000"/>
                  </a:schemeClr>
                </a:solidFill>
              </a:rPr>
              <a:t>Installation de </a:t>
            </a:r>
            <a:r>
              <a:rPr lang="fr-FR" sz="4200" b="1">
                <a:solidFill>
                  <a:schemeClr val="tx1">
                    <a:lumMod val="95000"/>
                    <a:lumOff val="5000"/>
                  </a:schemeClr>
                </a:solidFill>
              </a:rPr>
              <a:t>Docker</a:t>
            </a:r>
            <a:r>
              <a:rPr lang="fr-FR" sz="4200">
                <a:solidFill>
                  <a:schemeClr val="tx1">
                    <a:lumMod val="95000"/>
                    <a:lumOff val="5000"/>
                  </a:schemeClr>
                </a:solidFill>
              </a:rPr>
              <a:t>, </a:t>
            </a:r>
            <a:r>
              <a:rPr lang="fr-FR" sz="4200" b="1">
                <a:solidFill>
                  <a:schemeClr val="tx1">
                    <a:lumMod val="95000"/>
                    <a:lumOff val="5000"/>
                  </a:schemeClr>
                </a:solidFill>
              </a:rPr>
              <a:t>Java</a:t>
            </a:r>
            <a:r>
              <a:rPr lang="fr-FR" sz="4200">
                <a:solidFill>
                  <a:schemeClr val="tx1">
                    <a:lumMod val="95000"/>
                    <a:lumOff val="5000"/>
                  </a:schemeClr>
                </a:solidFill>
              </a:rPr>
              <a:t> et </a:t>
            </a:r>
            <a:r>
              <a:rPr lang="fr-FR" sz="4200" b="1">
                <a:solidFill>
                  <a:schemeClr val="tx1">
                    <a:lumMod val="95000"/>
                    <a:lumOff val="5000"/>
                  </a:schemeClr>
                </a:solidFill>
              </a:rPr>
              <a:t>Maven</a:t>
            </a:r>
          </a:p>
          <a:p>
            <a:pPr>
              <a:buFont typeface="Arial" panose="020B0604020202020204" pitchFamily="34" charset="0"/>
              <a:buChar char="•"/>
            </a:pPr>
            <a:r>
              <a:rPr lang="fr-FR" sz="4200">
                <a:solidFill>
                  <a:schemeClr val="tx1">
                    <a:lumMod val="95000"/>
                    <a:lumOff val="5000"/>
                  </a:schemeClr>
                </a:solidFill>
              </a:rPr>
              <a:t>Création d’un utilisateur dédié + configuration </a:t>
            </a:r>
            <a:r>
              <a:rPr lang="fr-FR" sz="4200" b="1">
                <a:solidFill>
                  <a:schemeClr val="tx1">
                    <a:lumMod val="95000"/>
                    <a:lumOff val="5000"/>
                  </a:schemeClr>
                </a:solidFill>
              </a:rPr>
              <a:t>SSH</a:t>
            </a:r>
          </a:p>
          <a:p>
            <a:pPr>
              <a:buFont typeface="Arial" panose="020B0604020202020204" pitchFamily="34" charset="0"/>
              <a:buChar char="•"/>
            </a:pPr>
            <a:r>
              <a:rPr lang="fr-FR" sz="4200" b="1">
                <a:solidFill>
                  <a:schemeClr val="tx1">
                    <a:lumMod val="95000"/>
                    <a:lumOff val="5000"/>
                  </a:schemeClr>
                </a:solidFill>
              </a:rPr>
              <a:t>Clés </a:t>
            </a:r>
            <a:r>
              <a:rPr lang="fr-FR" sz="4200" b="1">
                <a:solidFill>
                  <a:srgbClr val="FF0000"/>
                </a:solidFill>
              </a:rPr>
              <a:t>SSH</a:t>
            </a:r>
            <a:r>
              <a:rPr lang="fr-FR" sz="4200" b="1">
                <a:solidFill>
                  <a:schemeClr val="tx1">
                    <a:lumMod val="95000"/>
                    <a:lumOff val="5000"/>
                  </a:schemeClr>
                </a:solidFill>
              </a:rPr>
              <a:t> : - </a:t>
            </a:r>
            <a:r>
              <a:rPr lang="fr-FR" sz="4200">
                <a:solidFill>
                  <a:srgbClr val="FF0000"/>
                </a:solidFill>
              </a:rPr>
              <a:t>github-deploy-key</a:t>
            </a:r>
            <a:r>
              <a:rPr lang="fr-FR" sz="4200">
                <a:solidFill>
                  <a:schemeClr val="tx1">
                    <a:lumMod val="95000"/>
                    <a:lumOff val="5000"/>
                  </a:schemeClr>
                </a:solidFill>
              </a:rPr>
              <a:t> (</a:t>
            </a:r>
            <a:r>
              <a:rPr lang="fr-FR" sz="4200" b="1">
                <a:solidFill>
                  <a:schemeClr val="tx1">
                    <a:lumMod val="95000"/>
                    <a:lumOff val="5000"/>
                  </a:schemeClr>
                </a:solidFill>
              </a:rPr>
              <a:t>privée</a:t>
            </a:r>
            <a:r>
              <a:rPr lang="fr-FR" sz="4200">
                <a:solidFill>
                  <a:schemeClr val="tx1">
                    <a:lumMod val="95000"/>
                    <a:lumOff val="5000"/>
                  </a:schemeClr>
                </a:solidFill>
              </a:rPr>
              <a:t>)</a:t>
            </a:r>
          </a:p>
          <a:p>
            <a:pPr marL="0" indent="0">
              <a:buNone/>
            </a:pPr>
            <a:r>
              <a:rPr lang="fr-FR" sz="4200" b="1">
                <a:solidFill>
                  <a:schemeClr val="tx1">
                    <a:lumMod val="95000"/>
                    <a:lumOff val="5000"/>
                  </a:schemeClr>
                </a:solidFill>
              </a:rPr>
              <a:t>                    - </a:t>
            </a:r>
            <a:r>
              <a:rPr lang="fr-FR" sz="4200">
                <a:solidFill>
                  <a:srgbClr val="FF0000"/>
                </a:solidFill>
              </a:rPr>
              <a:t>github-deploy-key.pub </a:t>
            </a:r>
            <a:r>
              <a:rPr lang="fr-FR" sz="4200">
                <a:solidFill>
                  <a:schemeClr val="tx1">
                    <a:lumMod val="95000"/>
                    <a:lumOff val="5000"/>
                  </a:schemeClr>
                </a:solidFill>
              </a:rPr>
              <a:t>(</a:t>
            </a:r>
            <a:r>
              <a:rPr lang="fr-FR" sz="4200" b="1">
                <a:solidFill>
                  <a:schemeClr val="tx1">
                    <a:lumMod val="95000"/>
                    <a:lumOff val="5000"/>
                  </a:schemeClr>
                </a:solidFill>
              </a:rPr>
              <a:t>public</a:t>
            </a:r>
            <a:r>
              <a:rPr lang="fr-FR" sz="4200">
                <a:solidFill>
                  <a:schemeClr val="tx1">
                    <a:lumMod val="95000"/>
                    <a:lumOff val="5000"/>
                  </a:schemeClr>
                </a:solidFill>
              </a:rPr>
              <a:t>)</a:t>
            </a:r>
          </a:p>
        </p:txBody>
      </p:sp>
      <p:pic>
        <p:nvPicPr>
          <p:cNvPr id="5" name="Image 4">
            <a:extLst>
              <a:ext uri="{FF2B5EF4-FFF2-40B4-BE49-F238E27FC236}">
                <a16:creationId xmlns:a16="http://schemas.microsoft.com/office/drawing/2014/main" id="{CCE6E3EC-C17B-AFFF-A54F-1EDD1BF6C5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7062" y="1449643"/>
            <a:ext cx="3210785" cy="937260"/>
          </a:xfrm>
          <a:prstGeom prst="rect">
            <a:avLst/>
          </a:prstGeom>
          <a:noFill/>
        </p:spPr>
      </p:pic>
      <p:sp>
        <p:nvSpPr>
          <p:cNvPr id="4" name="Espace réservé du numéro de diapositive 3">
            <a:extLst>
              <a:ext uri="{FF2B5EF4-FFF2-40B4-BE49-F238E27FC236}">
                <a16:creationId xmlns:a16="http://schemas.microsoft.com/office/drawing/2014/main" id="{9DE6887B-BB06-603B-645E-D66A740A6EA0}"/>
              </a:ext>
            </a:extLst>
          </p:cNvPr>
          <p:cNvSpPr>
            <a:spLocks noGrp="1"/>
          </p:cNvSpPr>
          <p:nvPr>
            <p:ph type="sldNum" sz="quarter" idx="12"/>
          </p:nvPr>
        </p:nvSpPr>
        <p:spPr>
          <a:xfrm>
            <a:off x="12083907" y="9009343"/>
            <a:ext cx="717693" cy="511175"/>
          </a:xfrm>
        </p:spPr>
        <p:txBody>
          <a:bodyPr/>
          <a:lstStyle/>
          <a:p>
            <a:fld id="{69E57DC2-970A-4B3E-BB1C-7A09969E49DF}" type="slidenum">
              <a:rPr lang="en-US" sz="2800" b="1" smtClean="0">
                <a:solidFill>
                  <a:schemeClr val="tx1">
                    <a:lumMod val="95000"/>
                    <a:lumOff val="5000"/>
                  </a:schemeClr>
                </a:solidFill>
              </a:rPr>
              <a:t>25</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218910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93DE6D-54EB-5B31-64D9-BDF2B2565E8C}"/>
              </a:ext>
            </a:extLst>
          </p:cNvPr>
          <p:cNvSpPr/>
          <p:nvPr/>
        </p:nvSpPr>
        <p:spPr>
          <a:xfrm>
            <a:off x="8730343" y="-304800"/>
            <a:ext cx="4550228" cy="9906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4EE4D243-F349-167F-089D-239411F34B2E}"/>
              </a:ext>
            </a:extLst>
          </p:cNvPr>
          <p:cNvSpPr>
            <a:spLocks noGrp="1"/>
          </p:cNvSpPr>
          <p:nvPr>
            <p:ph type="title"/>
          </p:nvPr>
        </p:nvSpPr>
        <p:spPr>
          <a:xfrm>
            <a:off x="1672589" y="243840"/>
            <a:ext cx="8886798" cy="689610"/>
          </a:xfrm>
        </p:spPr>
        <p:txBody>
          <a:bodyPr>
            <a:normAutofit/>
          </a:bodyPr>
          <a:lstStyle/>
          <a:p>
            <a:r>
              <a:rPr lang="fr-FR" sz="3600" b="1">
                <a:solidFill>
                  <a:schemeClr val="tx1"/>
                </a:solidFill>
              </a:rPr>
              <a:t>Nom de domaine et sécurisation HTTPS</a:t>
            </a:r>
          </a:p>
        </p:txBody>
      </p:sp>
      <p:sp>
        <p:nvSpPr>
          <p:cNvPr id="3" name="Espace réservé du contenu 2">
            <a:extLst>
              <a:ext uri="{FF2B5EF4-FFF2-40B4-BE49-F238E27FC236}">
                <a16:creationId xmlns:a16="http://schemas.microsoft.com/office/drawing/2014/main" id="{8A6646E9-C406-28C4-785C-B8B6104D524F}"/>
              </a:ext>
            </a:extLst>
          </p:cNvPr>
          <p:cNvSpPr>
            <a:spLocks noGrp="1"/>
          </p:cNvSpPr>
          <p:nvPr>
            <p:ph idx="1"/>
          </p:nvPr>
        </p:nvSpPr>
        <p:spPr>
          <a:xfrm>
            <a:off x="418131" y="1085536"/>
            <a:ext cx="12383469" cy="8271824"/>
          </a:xfrm>
        </p:spPr>
        <p:txBody>
          <a:bodyPr>
            <a:normAutofit/>
          </a:bodyPr>
          <a:lstStyle/>
          <a:p>
            <a:r>
              <a:rPr lang="fr-FR" sz="4400" b="1">
                <a:solidFill>
                  <a:srgbClr val="FF0000"/>
                </a:solidFill>
              </a:rPr>
              <a:t>Nom de domaine et DNS</a:t>
            </a:r>
          </a:p>
          <a:p>
            <a:pPr>
              <a:buFont typeface="Arial" panose="020B0604020202020204" pitchFamily="34" charset="0"/>
              <a:buChar char="•"/>
            </a:pPr>
            <a:r>
              <a:rPr lang="fr-FR" sz="4400">
                <a:solidFill>
                  <a:schemeClr val="tx1"/>
                </a:solidFill>
              </a:rPr>
              <a:t>Domaine personnalisé : </a:t>
            </a:r>
            <a:r>
              <a:rPr lang="fr-FR" sz="4400" b="1" u="sng">
                <a:solidFill>
                  <a:srgbClr val="0070C0"/>
                </a:solidFill>
              </a:rPr>
              <a:t>stockmeatsolutions.site</a:t>
            </a:r>
          </a:p>
          <a:p>
            <a:pPr>
              <a:buFont typeface="Arial" panose="020B0604020202020204" pitchFamily="34" charset="0"/>
              <a:buChar char="•"/>
            </a:pPr>
            <a:endParaRPr lang="fr-FR" sz="4400" b="1" u="sng">
              <a:solidFill>
                <a:srgbClr val="0070C0"/>
              </a:solidFill>
            </a:endParaRPr>
          </a:p>
          <a:p>
            <a:pPr>
              <a:buFont typeface="Arial" panose="020B0604020202020204" pitchFamily="34" charset="0"/>
              <a:buChar char="•"/>
            </a:pPr>
            <a:r>
              <a:rPr lang="fr-FR" sz="4400">
                <a:solidFill>
                  <a:schemeClr val="tx1"/>
                </a:solidFill>
              </a:rPr>
              <a:t>Enregistrements </a:t>
            </a:r>
            <a:r>
              <a:rPr lang="fr-FR" sz="4400" b="1">
                <a:solidFill>
                  <a:schemeClr val="tx1"/>
                </a:solidFill>
              </a:rPr>
              <a:t>DNS</a:t>
            </a:r>
            <a:r>
              <a:rPr lang="fr-FR" sz="4400">
                <a:solidFill>
                  <a:schemeClr val="tx1"/>
                </a:solidFill>
              </a:rPr>
              <a:t> → </a:t>
            </a:r>
            <a:r>
              <a:rPr lang="fr-FR" sz="4400" b="1">
                <a:solidFill>
                  <a:schemeClr val="tx1"/>
                </a:solidFill>
              </a:rPr>
              <a:t>IP</a:t>
            </a:r>
            <a:r>
              <a:rPr lang="fr-FR" sz="4400">
                <a:solidFill>
                  <a:schemeClr val="tx1"/>
                </a:solidFill>
              </a:rPr>
              <a:t> vers le </a:t>
            </a:r>
            <a:r>
              <a:rPr lang="fr-FR" sz="4400" b="1">
                <a:solidFill>
                  <a:schemeClr val="tx1"/>
                </a:solidFill>
              </a:rPr>
              <a:t>VPS</a:t>
            </a:r>
          </a:p>
          <a:p>
            <a:pPr>
              <a:buFont typeface="Arial" panose="020B0604020202020204" pitchFamily="34" charset="0"/>
              <a:buChar char="•"/>
            </a:pPr>
            <a:endParaRPr lang="fr-FR" sz="4400">
              <a:solidFill>
                <a:schemeClr val="tx1"/>
              </a:solidFill>
            </a:endParaRPr>
          </a:p>
          <a:p>
            <a:r>
              <a:rPr lang="fr-FR" sz="4400" b="1">
                <a:solidFill>
                  <a:srgbClr val="FF0000"/>
                </a:solidFill>
              </a:rPr>
              <a:t>Sécurisation HTTPS et proxy</a:t>
            </a:r>
          </a:p>
          <a:p>
            <a:pPr>
              <a:buFont typeface="Arial" panose="020B0604020202020204" pitchFamily="34" charset="0"/>
              <a:buChar char="•"/>
            </a:pPr>
            <a:r>
              <a:rPr lang="fr-FR" sz="4400">
                <a:solidFill>
                  <a:schemeClr val="tx1"/>
                </a:solidFill>
              </a:rPr>
              <a:t>Activation du protocole </a:t>
            </a:r>
            <a:r>
              <a:rPr lang="fr-FR" sz="4400" b="1">
                <a:solidFill>
                  <a:srgbClr val="FF0000"/>
                </a:solidFill>
              </a:rPr>
              <a:t>HTTPS</a:t>
            </a:r>
            <a:r>
              <a:rPr lang="fr-FR" sz="4400">
                <a:solidFill>
                  <a:schemeClr val="tx1"/>
                </a:solidFill>
              </a:rPr>
              <a:t> via </a:t>
            </a:r>
          </a:p>
          <a:p>
            <a:pPr>
              <a:buFont typeface="Arial" panose="020B0604020202020204" pitchFamily="34" charset="0"/>
              <a:buChar char="•"/>
            </a:pPr>
            <a:r>
              <a:rPr lang="fr-FR" sz="4400" b="1">
                <a:solidFill>
                  <a:srgbClr val="FF0000"/>
                </a:solidFill>
              </a:rPr>
              <a:t>SSL </a:t>
            </a:r>
            <a:r>
              <a:rPr lang="fr-FR" sz="4400" b="1">
                <a:solidFill>
                  <a:srgbClr val="000000"/>
                </a:solidFill>
              </a:rPr>
              <a:t>(</a:t>
            </a:r>
            <a:r>
              <a:rPr lang="fr-FR" sz="4400" b="1">
                <a:solidFill>
                  <a:srgbClr val="FF0000"/>
                </a:solidFill>
              </a:rPr>
              <a:t>Sécurité</a:t>
            </a:r>
            <a:r>
              <a:rPr lang="fr-FR" sz="4400" b="1">
                <a:solidFill>
                  <a:srgbClr val="000000"/>
                </a:solidFill>
              </a:rPr>
              <a:t>)</a:t>
            </a:r>
          </a:p>
        </p:txBody>
      </p:sp>
      <p:sp>
        <p:nvSpPr>
          <p:cNvPr id="5" name="Espace réservé du numéro de diapositive 4">
            <a:extLst>
              <a:ext uri="{FF2B5EF4-FFF2-40B4-BE49-F238E27FC236}">
                <a16:creationId xmlns:a16="http://schemas.microsoft.com/office/drawing/2014/main" id="{300FAA47-8C17-FBF9-C872-599831A251B3}"/>
              </a:ext>
            </a:extLst>
          </p:cNvPr>
          <p:cNvSpPr>
            <a:spLocks noGrp="1"/>
          </p:cNvSpPr>
          <p:nvPr>
            <p:ph type="sldNum" sz="quarter" idx="12"/>
          </p:nvPr>
        </p:nvSpPr>
        <p:spPr>
          <a:xfrm>
            <a:off x="11613405" y="8712518"/>
            <a:ext cx="717693" cy="511175"/>
          </a:xfrm>
        </p:spPr>
        <p:txBody>
          <a:bodyPr/>
          <a:lstStyle/>
          <a:p>
            <a:fld id="{69E57DC2-970A-4B3E-BB1C-7A09969E49DF}" type="slidenum">
              <a:rPr lang="en-US" sz="2800" b="1" smtClean="0">
                <a:solidFill>
                  <a:schemeClr val="tx1">
                    <a:lumMod val="95000"/>
                    <a:lumOff val="5000"/>
                  </a:schemeClr>
                </a:solidFill>
              </a:rPr>
              <a:t>26</a:t>
            </a:fld>
            <a:endParaRPr lang="en-US" sz="2000" b="1">
              <a:solidFill>
                <a:schemeClr val="tx1">
                  <a:lumMod val="95000"/>
                  <a:lumOff val="5000"/>
                </a:schemeClr>
              </a:solidFill>
            </a:endParaRPr>
          </a:p>
        </p:txBody>
      </p:sp>
    </p:spTree>
    <p:extLst>
      <p:ext uri="{BB962C8B-B14F-4D97-AF65-F5344CB8AC3E}">
        <p14:creationId xmlns:p14="http://schemas.microsoft.com/office/powerpoint/2010/main" val="1496007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1B45B5-63D6-0151-9485-5B355B7BC999}"/>
              </a:ext>
            </a:extLst>
          </p:cNvPr>
          <p:cNvSpPr>
            <a:spLocks noGrp="1"/>
          </p:cNvSpPr>
          <p:nvPr>
            <p:ph type="title"/>
          </p:nvPr>
        </p:nvSpPr>
        <p:spPr>
          <a:xfrm>
            <a:off x="1275806" y="0"/>
            <a:ext cx="9795511" cy="975360"/>
          </a:xfrm>
        </p:spPr>
        <p:txBody>
          <a:bodyPr/>
          <a:lstStyle/>
          <a:p>
            <a:r>
              <a:rPr lang="fr-FR" sz="4400" b="1" u="sng"/>
              <a:t>Tests :</a:t>
            </a:r>
            <a:r>
              <a:rPr lang="fr-FR" sz="4800" b="1"/>
              <a:t> </a:t>
            </a:r>
            <a:r>
              <a:rPr lang="fr-FR" sz="3600" b="1">
                <a:solidFill>
                  <a:schemeClr val="tx1"/>
                </a:solidFill>
              </a:rPr>
              <a:t>Validation du bon fonctionnement</a:t>
            </a:r>
          </a:p>
        </p:txBody>
      </p:sp>
      <p:graphicFrame>
        <p:nvGraphicFramePr>
          <p:cNvPr id="4" name="Tableau 3">
            <a:extLst>
              <a:ext uri="{FF2B5EF4-FFF2-40B4-BE49-F238E27FC236}">
                <a16:creationId xmlns:a16="http://schemas.microsoft.com/office/drawing/2014/main" id="{91DF677D-F65F-B67F-B087-0E30E4C33F89}"/>
              </a:ext>
            </a:extLst>
          </p:cNvPr>
          <p:cNvGraphicFramePr>
            <a:graphicFrameLocks noGrp="1"/>
          </p:cNvGraphicFramePr>
          <p:nvPr>
            <p:extLst>
              <p:ext uri="{D42A27DB-BD31-4B8C-83A1-F6EECF244321}">
                <p14:modId xmlns:p14="http://schemas.microsoft.com/office/powerpoint/2010/main" val="3343322962"/>
              </p:ext>
            </p:extLst>
          </p:nvPr>
        </p:nvGraphicFramePr>
        <p:xfrm>
          <a:off x="285750" y="1866724"/>
          <a:ext cx="12230100" cy="1965418"/>
        </p:xfrm>
        <a:graphic>
          <a:graphicData uri="http://schemas.openxmlformats.org/drawingml/2006/table">
            <a:tbl>
              <a:tblPr firstRow="1" bandRow="1">
                <a:tableStyleId>{5C22544A-7EE6-4342-B048-85BDC9FD1C3A}</a:tableStyleId>
              </a:tblPr>
              <a:tblGrid>
                <a:gridCol w="4076700">
                  <a:extLst>
                    <a:ext uri="{9D8B030D-6E8A-4147-A177-3AD203B41FA5}">
                      <a16:colId xmlns:a16="http://schemas.microsoft.com/office/drawing/2014/main" val="4065387795"/>
                    </a:ext>
                  </a:extLst>
                </a:gridCol>
                <a:gridCol w="5123175">
                  <a:extLst>
                    <a:ext uri="{9D8B030D-6E8A-4147-A177-3AD203B41FA5}">
                      <a16:colId xmlns:a16="http://schemas.microsoft.com/office/drawing/2014/main" val="3067517312"/>
                    </a:ext>
                  </a:extLst>
                </a:gridCol>
                <a:gridCol w="3030225">
                  <a:extLst>
                    <a:ext uri="{9D8B030D-6E8A-4147-A177-3AD203B41FA5}">
                      <a16:colId xmlns:a16="http://schemas.microsoft.com/office/drawing/2014/main" val="2474905331"/>
                    </a:ext>
                  </a:extLst>
                </a:gridCol>
              </a:tblGrid>
              <a:tr h="439325">
                <a:tc>
                  <a:txBody>
                    <a:bodyPr/>
                    <a:lstStyle/>
                    <a:p>
                      <a:pPr algn="ctr"/>
                      <a:r>
                        <a:rPr lang="fr-FR"/>
                        <a:t>Type</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fr-FR"/>
                        <a:t>Objectif</a:t>
                      </a:r>
                    </a:p>
                  </a:txBody>
                  <a:tcPr>
                    <a:lnT w="12700" cap="flat" cmpd="sng" algn="ctr">
                      <a:solidFill>
                        <a:schemeClr val="tx1"/>
                      </a:solidFill>
                      <a:prstDash val="solid"/>
                      <a:round/>
                      <a:headEnd type="none" w="med" len="med"/>
                      <a:tailEnd type="none" w="med" len="med"/>
                    </a:lnT>
                  </a:tcPr>
                </a:tc>
                <a:tc>
                  <a:txBody>
                    <a:bodyPr/>
                    <a:lstStyle/>
                    <a:p>
                      <a:pPr algn="ctr"/>
                      <a:r>
                        <a:rPr lang="fr-FR"/>
                        <a:t>Outils utilisés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79023477"/>
                  </a:ext>
                </a:extLst>
              </a:tr>
              <a:tr h="630394">
                <a:tc>
                  <a:txBody>
                    <a:bodyPr/>
                    <a:lstStyle/>
                    <a:p>
                      <a:r>
                        <a:rPr lang="fr-FR"/>
                        <a:t>Unitaires</a:t>
                      </a:r>
                    </a:p>
                  </a:txBody>
                  <a:tcPr>
                    <a:lnL w="12700" cap="flat" cmpd="sng" algn="ctr">
                      <a:solidFill>
                        <a:schemeClr val="tx1"/>
                      </a:solidFill>
                      <a:prstDash val="solid"/>
                      <a:round/>
                      <a:headEnd type="none" w="med" len="med"/>
                      <a:tailEnd type="none" w="med" len="med"/>
                    </a:lnL>
                  </a:tcPr>
                </a:tc>
                <a:tc>
                  <a:txBody>
                    <a:bodyPr/>
                    <a:lstStyle/>
                    <a:p>
                      <a:pPr algn="ctr"/>
                      <a:r>
                        <a:rPr lang="fr-FR"/>
                        <a:t>Test du code isolé</a:t>
                      </a:r>
                    </a:p>
                  </a:txBody>
                  <a:tcPr/>
                </a:tc>
                <a:tc>
                  <a:txBody>
                    <a:bodyPr/>
                    <a:lstStyle/>
                    <a:p>
                      <a:pPr algn="ctr"/>
                      <a:r>
                        <a:rPr lang="fr-FR"/>
                        <a:t>JUnit 5, Mockito</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94229336"/>
                  </a:ext>
                </a:extLst>
              </a:tr>
              <a:tr h="746380">
                <a:tc>
                  <a:txBody>
                    <a:bodyPr/>
                    <a:lstStyle/>
                    <a:p>
                      <a:r>
                        <a:rPr lang="fr-FR"/>
                        <a:t>Intégration</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fr-FR"/>
                        <a:t>Test l’interaction entre plusieurs blocs</a:t>
                      </a:r>
                    </a:p>
                  </a:txBody>
                  <a:tcPr>
                    <a:lnB w="12700" cap="flat" cmpd="sng" algn="ctr">
                      <a:solidFill>
                        <a:schemeClr val="tx1"/>
                      </a:solidFill>
                      <a:prstDash val="solid"/>
                      <a:round/>
                      <a:headEnd type="none" w="med" len="med"/>
                      <a:tailEnd type="none" w="med" len="med"/>
                    </a:lnB>
                  </a:tcPr>
                </a:tc>
                <a:tc>
                  <a:txBody>
                    <a:bodyPr/>
                    <a:lstStyle/>
                    <a:p>
                      <a:pPr algn="ctr"/>
                      <a:r>
                        <a:rPr lang="fr-FR"/>
                        <a:t>JUnit 5, MockMvc, H2</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150470"/>
                  </a:ext>
                </a:extLst>
              </a:tr>
            </a:tbl>
          </a:graphicData>
        </a:graphic>
      </p:graphicFrame>
      <p:sp>
        <p:nvSpPr>
          <p:cNvPr id="6" name="Rectangle 5">
            <a:extLst>
              <a:ext uri="{FF2B5EF4-FFF2-40B4-BE49-F238E27FC236}">
                <a16:creationId xmlns:a16="http://schemas.microsoft.com/office/drawing/2014/main" id="{6E39A62D-2CAF-0A66-0E91-3707705B0E2E}"/>
              </a:ext>
            </a:extLst>
          </p:cNvPr>
          <p:cNvSpPr/>
          <p:nvPr/>
        </p:nvSpPr>
        <p:spPr>
          <a:xfrm rot="21000142">
            <a:off x="-438150" y="5871253"/>
            <a:ext cx="876300" cy="428940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D400412D-3FF6-57AA-FBDC-003ADB0C4207}"/>
              </a:ext>
            </a:extLst>
          </p:cNvPr>
          <p:cNvSpPr>
            <a:spLocks noGrp="1"/>
          </p:cNvSpPr>
          <p:nvPr>
            <p:ph idx="1"/>
          </p:nvPr>
        </p:nvSpPr>
        <p:spPr>
          <a:xfrm>
            <a:off x="19050" y="975360"/>
            <a:ext cx="12782550" cy="8625840"/>
          </a:xfrm>
        </p:spPr>
        <p:txBody>
          <a:bodyPr>
            <a:noAutofit/>
          </a:bodyPr>
          <a:lstStyle/>
          <a:p>
            <a:r>
              <a:rPr lang="fr-FR" sz="3000" b="1">
                <a:solidFill>
                  <a:srgbClr val="FF0000"/>
                </a:solidFill>
              </a:rPr>
              <a:t>Types de tests</a:t>
            </a:r>
          </a:p>
          <a:p>
            <a:endParaRPr lang="fr-FR" sz="3000" b="1">
              <a:solidFill>
                <a:srgbClr val="FF0000"/>
              </a:solidFill>
            </a:endParaRPr>
          </a:p>
          <a:p>
            <a:endParaRPr lang="fr-FR" sz="3000" b="1">
              <a:solidFill>
                <a:srgbClr val="FF0000"/>
              </a:solidFill>
            </a:endParaRPr>
          </a:p>
          <a:p>
            <a:endParaRPr lang="fr-FR" sz="3000" b="1">
              <a:solidFill>
                <a:srgbClr val="FF0000"/>
              </a:solidFill>
            </a:endParaRPr>
          </a:p>
          <a:p>
            <a:endParaRPr lang="fr-FR" sz="3000" b="1">
              <a:solidFill>
                <a:srgbClr val="FF0000"/>
              </a:solidFill>
            </a:endParaRPr>
          </a:p>
          <a:p>
            <a:pPr>
              <a:buFont typeface="Arial" panose="020B0604020202020204" pitchFamily="34" charset="0"/>
              <a:buChar char="•"/>
            </a:pPr>
            <a:r>
              <a:rPr lang="fr-FR" sz="3000">
                <a:solidFill>
                  <a:schemeClr val="tx1">
                    <a:lumMod val="95000"/>
                    <a:lumOff val="5000"/>
                  </a:schemeClr>
                </a:solidFill>
              </a:rPr>
              <a:t>Fichier </a:t>
            </a:r>
            <a:r>
              <a:rPr lang="fr-FR" sz="3000">
                <a:solidFill>
                  <a:srgbClr val="FF0000"/>
                </a:solidFill>
              </a:rPr>
              <a:t>application-test.properties </a:t>
            </a:r>
            <a:r>
              <a:rPr lang="fr-FR" sz="3000">
                <a:solidFill>
                  <a:schemeClr val="tx1">
                    <a:lumMod val="95000"/>
                    <a:lumOff val="5000"/>
                  </a:schemeClr>
                </a:solidFill>
              </a:rPr>
              <a:t>→ configuration pour les </a:t>
            </a:r>
            <a:r>
              <a:rPr lang="fr-FR" sz="3000" b="1">
                <a:solidFill>
                  <a:schemeClr val="tx1">
                    <a:lumMod val="95000"/>
                    <a:lumOff val="5000"/>
                  </a:schemeClr>
                </a:solidFill>
              </a:rPr>
              <a:t>tests </a:t>
            </a:r>
            <a:r>
              <a:rPr lang="fr-FR" sz="3000">
                <a:solidFill>
                  <a:schemeClr val="tx1">
                    <a:lumMod val="95000"/>
                    <a:lumOff val="5000"/>
                  </a:schemeClr>
                </a:solidFill>
              </a:rPr>
              <a:t>d’</a:t>
            </a:r>
            <a:r>
              <a:rPr lang="fr-FR" sz="3000" b="1">
                <a:solidFill>
                  <a:schemeClr val="tx1">
                    <a:lumMod val="95000"/>
                    <a:lumOff val="5000"/>
                  </a:schemeClr>
                </a:solidFill>
              </a:rPr>
              <a:t>intégration</a:t>
            </a:r>
          </a:p>
          <a:p>
            <a:pPr>
              <a:buFont typeface="Arial" panose="020B0604020202020204" pitchFamily="34" charset="0"/>
              <a:buChar char="•"/>
            </a:pPr>
            <a:r>
              <a:rPr lang="fr-FR" sz="3000">
                <a:solidFill>
                  <a:srgbClr val="FF0000"/>
                </a:solidFill>
              </a:rPr>
              <a:t>Base H2 </a:t>
            </a:r>
            <a:r>
              <a:rPr lang="fr-FR" sz="3000">
                <a:solidFill>
                  <a:schemeClr val="tx1">
                    <a:lumMod val="95000"/>
                    <a:lumOff val="5000"/>
                  </a:schemeClr>
                </a:solidFill>
              </a:rPr>
              <a:t>en mémoire → sans impact sur la vraie base</a:t>
            </a:r>
          </a:p>
          <a:p>
            <a:pPr>
              <a:buFont typeface="Arial" panose="020B0604020202020204" pitchFamily="34" charset="0"/>
              <a:buChar char="•"/>
            </a:pPr>
            <a:endParaRPr lang="fr-FR" sz="3000">
              <a:solidFill>
                <a:schemeClr val="tx1">
                  <a:lumMod val="95000"/>
                  <a:lumOff val="5000"/>
                </a:schemeClr>
              </a:solidFill>
            </a:endParaRPr>
          </a:p>
          <a:p>
            <a:pPr>
              <a:buFont typeface="Wingdings 3" panose="05040102010807070707" pitchFamily="18" charset="2"/>
              <a:buChar char="u"/>
            </a:pPr>
            <a:r>
              <a:rPr lang="fr-FR" sz="3000">
                <a:solidFill>
                  <a:srgbClr val="FF0000"/>
                </a:solidFill>
              </a:rPr>
              <a:t>Rapports de couverture</a:t>
            </a:r>
          </a:p>
          <a:p>
            <a:pPr>
              <a:buFont typeface="Arial" panose="020B0604020202020204" pitchFamily="34" charset="0"/>
              <a:buChar char="•"/>
            </a:pPr>
            <a:r>
              <a:rPr lang="fr-FR" sz="3000" b="1">
                <a:solidFill>
                  <a:schemeClr val="tx1">
                    <a:lumMod val="95000"/>
                    <a:lumOff val="5000"/>
                  </a:schemeClr>
                </a:solidFill>
              </a:rPr>
              <a:t>JaCoCo</a:t>
            </a:r>
            <a:r>
              <a:rPr lang="fr-FR" sz="3000">
                <a:solidFill>
                  <a:schemeClr val="tx1">
                    <a:lumMod val="95000"/>
                    <a:lumOff val="5000"/>
                  </a:schemeClr>
                </a:solidFill>
              </a:rPr>
              <a:t> → taux de couverture du code</a:t>
            </a:r>
          </a:p>
          <a:p>
            <a:pPr>
              <a:buFont typeface="Arial" panose="020B0604020202020204" pitchFamily="34" charset="0"/>
              <a:buChar char="•"/>
            </a:pPr>
            <a:r>
              <a:rPr lang="fr-FR" sz="3000" b="1">
                <a:solidFill>
                  <a:schemeClr val="tx1">
                    <a:lumMod val="95000"/>
                    <a:lumOff val="5000"/>
                  </a:schemeClr>
                </a:solidFill>
              </a:rPr>
              <a:t>Surefire </a:t>
            </a:r>
            <a:r>
              <a:rPr lang="fr-FR" sz="3000">
                <a:solidFill>
                  <a:schemeClr val="tx1">
                    <a:lumMod val="95000"/>
                    <a:lumOff val="5000"/>
                  </a:schemeClr>
                </a:solidFill>
              </a:rPr>
              <a:t>→ résumé des résultats (succès, erreurs, durée)</a:t>
            </a:r>
          </a:p>
          <a:p>
            <a:pPr>
              <a:buFont typeface="Arial" panose="020B0604020202020204" pitchFamily="34" charset="0"/>
              <a:buChar char="•"/>
            </a:pPr>
            <a:r>
              <a:rPr lang="fr-FR" sz="3000">
                <a:solidFill>
                  <a:schemeClr val="tx1">
                    <a:lumMod val="95000"/>
                    <a:lumOff val="5000"/>
                  </a:schemeClr>
                </a:solidFill>
              </a:rPr>
              <a:t>Résultat : ✅ </a:t>
            </a:r>
            <a:r>
              <a:rPr lang="fr-FR" sz="3000" b="1">
                <a:solidFill>
                  <a:srgbClr val="00A249"/>
                </a:solidFill>
              </a:rPr>
              <a:t>100% </a:t>
            </a:r>
            <a:r>
              <a:rPr lang="fr-FR" sz="3000">
                <a:solidFill>
                  <a:schemeClr val="tx1">
                    <a:lumMod val="95000"/>
                    <a:lumOff val="5000"/>
                  </a:schemeClr>
                </a:solidFill>
              </a:rPr>
              <a:t>de réussite,  </a:t>
            </a:r>
            <a:r>
              <a:rPr lang="fr-FR" sz="3000" b="1">
                <a:solidFill>
                  <a:srgbClr val="0070C0"/>
                </a:solidFill>
              </a:rPr>
              <a:t>&gt;80% </a:t>
            </a:r>
            <a:r>
              <a:rPr lang="fr-FR" sz="3000">
                <a:solidFill>
                  <a:schemeClr val="tx1">
                    <a:lumMod val="95000"/>
                    <a:lumOff val="5000"/>
                  </a:schemeClr>
                </a:solidFill>
              </a:rPr>
              <a:t>de couverture</a:t>
            </a:r>
          </a:p>
          <a:p>
            <a:endParaRPr lang="fr-FR" sz="3000" b="1">
              <a:solidFill>
                <a:srgbClr val="FF0000"/>
              </a:solidFill>
            </a:endParaRPr>
          </a:p>
        </p:txBody>
      </p:sp>
      <p:sp>
        <p:nvSpPr>
          <p:cNvPr id="5" name="Espace réservé du numéro de diapositive 4">
            <a:extLst>
              <a:ext uri="{FF2B5EF4-FFF2-40B4-BE49-F238E27FC236}">
                <a16:creationId xmlns:a16="http://schemas.microsoft.com/office/drawing/2014/main" id="{DC76BA61-4E43-ECFD-05A3-B9F5CD1AB55F}"/>
              </a:ext>
            </a:extLst>
          </p:cNvPr>
          <p:cNvSpPr>
            <a:spLocks noGrp="1"/>
          </p:cNvSpPr>
          <p:nvPr>
            <p:ph type="sldNum" sz="quarter" idx="12"/>
          </p:nvPr>
        </p:nvSpPr>
        <p:spPr>
          <a:xfrm>
            <a:off x="11798157" y="8625840"/>
            <a:ext cx="717693" cy="511175"/>
          </a:xfrm>
        </p:spPr>
        <p:txBody>
          <a:bodyPr/>
          <a:lstStyle/>
          <a:p>
            <a:fld id="{69E57DC2-970A-4B3E-BB1C-7A09969E49DF}" type="slidenum">
              <a:rPr lang="en-US" sz="2800" b="1" smtClean="0">
                <a:solidFill>
                  <a:schemeClr val="tx1">
                    <a:lumMod val="95000"/>
                    <a:lumOff val="5000"/>
                  </a:schemeClr>
                </a:solidFill>
              </a:rPr>
              <a:t>27</a:t>
            </a:fld>
            <a:endParaRPr lang="en-US" b="1">
              <a:solidFill>
                <a:schemeClr val="tx1">
                  <a:lumMod val="95000"/>
                  <a:lumOff val="5000"/>
                </a:schemeClr>
              </a:solidFill>
            </a:endParaRPr>
          </a:p>
        </p:txBody>
      </p:sp>
    </p:spTree>
    <p:extLst>
      <p:ext uri="{BB962C8B-B14F-4D97-AF65-F5344CB8AC3E}">
        <p14:creationId xmlns:p14="http://schemas.microsoft.com/office/powerpoint/2010/main" val="199125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2EF72A-B4E0-E1A5-ACAF-90E38F3F0619}"/>
              </a:ext>
            </a:extLst>
          </p:cNvPr>
          <p:cNvSpPr>
            <a:spLocks noGrp="1"/>
          </p:cNvSpPr>
          <p:nvPr>
            <p:ph type="title"/>
          </p:nvPr>
        </p:nvSpPr>
        <p:spPr>
          <a:xfrm>
            <a:off x="2750818" y="1805940"/>
            <a:ext cx="7299961" cy="1127760"/>
          </a:xfrm>
        </p:spPr>
        <p:txBody>
          <a:bodyPr>
            <a:normAutofit/>
          </a:bodyPr>
          <a:lstStyle/>
          <a:p>
            <a:r>
              <a:rPr lang="fr-FR" sz="5400" b="1" u="sng"/>
              <a:t>Démo de l’application</a:t>
            </a:r>
          </a:p>
        </p:txBody>
      </p:sp>
      <p:pic>
        <p:nvPicPr>
          <p:cNvPr id="5" name="Image 4" descr="Une image contenant clipart, dessin humoristique, conception&#10;&#10;Le contenu généré par l’IA peut être incorrect.">
            <a:extLst>
              <a:ext uri="{FF2B5EF4-FFF2-40B4-BE49-F238E27FC236}">
                <a16:creationId xmlns:a16="http://schemas.microsoft.com/office/drawing/2014/main" id="{AA6739A6-E308-1859-6A54-92772EDA101E}"/>
              </a:ext>
            </a:extLst>
          </p:cNvPr>
          <p:cNvPicPr>
            <a:picLocks noChangeAspect="1"/>
          </p:cNvPicPr>
          <p:nvPr/>
        </p:nvPicPr>
        <p:blipFill>
          <a:blip r:embed="rId3"/>
          <a:stretch>
            <a:fillRect/>
          </a:stretch>
        </p:blipFill>
        <p:spPr>
          <a:xfrm>
            <a:off x="3800472" y="3371850"/>
            <a:ext cx="5200652" cy="5200652"/>
          </a:xfrm>
          <a:prstGeom prst="rect">
            <a:avLst/>
          </a:prstGeom>
        </p:spPr>
      </p:pic>
      <p:sp>
        <p:nvSpPr>
          <p:cNvPr id="3" name="Espace réservé du numéro de diapositive 2">
            <a:extLst>
              <a:ext uri="{FF2B5EF4-FFF2-40B4-BE49-F238E27FC236}">
                <a16:creationId xmlns:a16="http://schemas.microsoft.com/office/drawing/2014/main" id="{517A20F1-5B80-75A7-9F4F-4AC99CA03772}"/>
              </a:ext>
            </a:extLst>
          </p:cNvPr>
          <p:cNvSpPr>
            <a:spLocks noGrp="1"/>
          </p:cNvSpPr>
          <p:nvPr>
            <p:ph type="sldNum" sz="quarter" idx="12"/>
          </p:nvPr>
        </p:nvSpPr>
        <p:spPr>
          <a:xfrm>
            <a:off x="12083907" y="9090025"/>
            <a:ext cx="717693" cy="511175"/>
          </a:xfrm>
        </p:spPr>
        <p:txBody>
          <a:bodyPr/>
          <a:lstStyle/>
          <a:p>
            <a:fld id="{69E57DC2-970A-4B3E-BB1C-7A09969E49DF}" type="slidenum">
              <a:rPr lang="en-US" smtClean="0"/>
              <a:t>28</a:t>
            </a:fld>
            <a:endParaRPr lang="en-US"/>
          </a:p>
        </p:txBody>
      </p:sp>
    </p:spTree>
    <p:extLst>
      <p:ext uri="{BB962C8B-B14F-4D97-AF65-F5344CB8AC3E}">
        <p14:creationId xmlns:p14="http://schemas.microsoft.com/office/powerpoint/2010/main" val="81262947"/>
      </p:ext>
    </p:extLst>
  </p:cSld>
  <p:clrMapOvr>
    <a:masterClrMapping/>
  </p:clrMapOvr>
</p:sld>
</file>

<file path=ppt/theme/theme1.xml><?xml version="1.0" encoding="utf-8"?>
<a:theme xmlns:a="http://schemas.openxmlformats.org/drawingml/2006/main" name="Facette">
  <a:themeElements>
    <a:clrScheme name="Personnalisé 30">
      <a:dk1>
        <a:sysClr val="windowText" lastClr="000000"/>
      </a:dk1>
      <a:lt1>
        <a:srgbClr val="FFFFFF"/>
      </a:lt1>
      <a:dk2>
        <a:srgbClr val="FFFFFF"/>
      </a:dk2>
      <a:lt2>
        <a:srgbClr val="FFFFFF"/>
      </a:lt2>
      <a:accent1>
        <a:srgbClr val="B82300"/>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15057</TotalTime>
  <Words>4628</Words>
  <Application>Microsoft Office PowerPoint</Application>
  <PresentationFormat>A3 (297 x 420 mm)</PresentationFormat>
  <Paragraphs>552</Paragraphs>
  <Slides>28</Slides>
  <Notes>28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28</vt:i4>
      </vt:variant>
    </vt:vector>
  </HeadingPairs>
  <TitlesOfParts>
    <vt:vector size="35" baseType="lpstr">
      <vt:lpstr>Aptos</vt:lpstr>
      <vt:lpstr>Arial</vt:lpstr>
      <vt:lpstr>Calibri</vt:lpstr>
      <vt:lpstr>Consolas</vt:lpstr>
      <vt:lpstr>Trebuchet MS</vt:lpstr>
      <vt:lpstr>Wingdings 3</vt:lpstr>
      <vt:lpstr>Facette</vt:lpstr>
      <vt:lpstr>Présentation PowerPoint</vt:lpstr>
      <vt:lpstr>Présentation PowerPoint</vt:lpstr>
      <vt:lpstr>Contexte personnel:  Entreprise de découpe de viande</vt:lpstr>
      <vt:lpstr>Objectif de l’application:   Gestion des produits alimentaires (viandes transformées et non transformées) </vt:lpstr>
      <vt:lpstr>Fonctionnalités principales</vt:lpstr>
      <vt:lpstr>Technologies utiliseés</vt:lpstr>
      <vt:lpstr>Tableau Kanban &amp; User Stories  Suivi du projet avec Kanban </vt:lpstr>
      <vt:lpstr>Modélisation de la BDD 1) Identification des entités </vt:lpstr>
      <vt:lpstr>MPD (Modele physique de données)</vt:lpstr>
      <vt:lpstr>Création des tables &amp; configuration MySQL</vt:lpstr>
      <vt:lpstr>Architecture MVC</vt:lpstr>
      <vt:lpstr>Authentification : Spring Security</vt:lpstr>
      <vt:lpstr>Réinitialisation du mot de passe </vt:lpstr>
      <vt:lpstr>Gestion des produits  </vt:lpstr>
      <vt:lpstr>Scan et traçabilité : Vue d’ensemble </vt:lpstr>
      <vt:lpstr>Scanner physique</vt:lpstr>
      <vt:lpstr>Code-barres</vt:lpstr>
      <vt:lpstr>Configuration du scanner :  Logicielle</vt:lpstr>
      <vt:lpstr>Configuration du scanner :   Physique</vt:lpstr>
      <vt:lpstr>Fonctionnement côté interface web</vt:lpstr>
      <vt:lpstr>Gestion du paiement</vt:lpstr>
      <vt:lpstr>Génération de la facture PDF</vt:lpstr>
      <vt:lpstr>Déploiement: Conteneurisation avec Docker</vt:lpstr>
      <vt:lpstr>Automatisation CI/CD avec GitHub Actions</vt:lpstr>
      <vt:lpstr>Mise en ligne : Configuration du serveur VPS</vt:lpstr>
      <vt:lpstr>Nom de domaine et sécurisation HTTPS</vt:lpstr>
      <vt:lpstr>Tests : Validation du bon fonctionnement</vt:lpstr>
      <vt:lpstr>Démo de l’application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laurent AGOUROU</dc:creator>
  <cp:lastModifiedBy>laurent AGOUROU</cp:lastModifiedBy>
  <cp:revision>203</cp:revision>
  <dcterms:created xsi:type="dcterms:W3CDTF">2025-05-11T17:45:06Z</dcterms:created>
  <dcterms:modified xsi:type="dcterms:W3CDTF">2025-10-08T15:13:46Z</dcterms:modified>
</cp:coreProperties>
</file>